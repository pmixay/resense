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olors1.xml" ContentType="application/vnd.ms-office.chartcolorstyle+xml"/>
  <Override PartName="/ppt/charts/colors2.xml" ContentType="application/vnd.ms-office.chartcolorstyle+xml"/>
  <Override PartName="/ppt/charts/style1.xml" ContentType="application/vnd.ms-office.chartstyle+xml"/>
  <Override PartName="/ppt/charts/style2.xml" ContentType="application/vnd.ms-office.chartstyle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7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9"/>
  </p:notesMasterIdLst>
  <p:handoutMasterIdLst>
    <p:handoutMasterId r:id="rId40"/>
  </p:handoutMasterIdLst>
  <p:sldIdLst>
    <p:sldId id="365" r:id="rId8"/>
    <p:sldId id="366" r:id="rId9"/>
    <p:sldId id="362" r:id="rId10"/>
    <p:sldId id="364" r:id="rId11"/>
    <p:sldId id="375" r:id="rId12"/>
    <p:sldId id="268" r:id="rId25"/>
    <p:sldId id="369" r:id="rId13"/>
    <p:sldId id="267" r:id="rId26"/>
    <p:sldId id="372" r:id="rId14"/>
    <p:sldId id="270" r:id="rId28"/>
    <p:sldId id="262" r:id="rId21"/>
    <p:sldId id="266" r:id="rId23"/>
    <p:sldId id="263" r:id="rId22"/>
    <p:sldId id="371" r:id="rId17"/>
    <p:sldId id="370" r:id="rId16"/>
    <p:sldId id="374" r:id="rId18"/>
  </p:sldIdLst>
  <p:sldSz cx="12192000" cy="6858000"/>
  <p:notesSz cx="6858000" cy="9144000"/>
  <p:defaultTextStyle>
    <a:defPPr>
      <a:defRPr lang="ru-RU"/>
    </a:defPPr>
    <a:lvl1pPr marL="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Информация" id="{9FA27940-A45B-471D-96EC-3FCE80AE8A9B}">
          <p14:sldIdLst>
            <p14:sldId id="333"/>
            <p14:sldId id="326"/>
            <p14:sldId id="327"/>
            <p14:sldId id="367"/>
            <p14:sldId id="325"/>
            <p14:sldId id="355"/>
          </p14:sldIdLst>
        </p14:section>
        <p14:section name="Обязательные слайды" id="{248E5CD8-1028-4246-90C7-3263F7F286D3}">
          <p14:sldIdLst>
            <p14:sldId id="365"/>
            <p14:sldId id="366"/>
            <p14:sldId id="362"/>
            <p14:sldId id="364"/>
            <p14:sldId id="375"/>
          </p14:sldIdLst>
        </p14:section>
        <p14:section name="Шаблоны слайдов" id="{24401F80-F81B-49C3-8D55-70A14F0BF8FF}">
          <p14:sldIdLst>
            <p14:sldId id="369"/>
            <p14:sldId id="372"/>
            <p14:sldId id="373"/>
            <p14:sldId id="370"/>
            <p14:sldId id="371"/>
            <p14:sldId id="374"/>
            <p14:sldId id="260"/>
            <p14:sldId id="261"/>
            <p14:sldId id="262"/>
            <p14:sldId id="263"/>
            <p14:sldId id="266"/>
            <p14:sldId id="264"/>
            <p14:sldId id="268"/>
            <p14:sldId id="267"/>
            <p14:sldId id="269"/>
            <p14:sldId id="270"/>
            <p14:sldId id="271"/>
            <p14:sldId id="272"/>
          </p14:sldIdLst>
        </p14:section>
        <p14:section name="Материалы" id="{0F84D0DE-CEB1-417E-B269-8B3EB04B5FA6}">
          <p14:sldIdLst>
            <p14:sldId id="338"/>
            <p14:sldId id="368"/>
            <p14:sldId id="341"/>
            <p14:sldId id="342"/>
            <p14:sldId id="343"/>
            <p14:sldId id="344"/>
            <p14:sldId id="346"/>
            <p14:sldId id="357"/>
          </p14:sldIdLst>
        </p14:section>
      </p14:sectionLst>
    </p:ext>
    <p:ext uri="{EFAFB233-063F-42B5-8137-9DF3F51BA10A}">
      <p15:sldGuideLst xmlns:p15="http://schemas.microsoft.com/office/powerpoint/2012/main">
        <p15:guide id="2" pos="597" userDrawn="1">
          <p15:clr>
            <a:srgbClr val="A4A3A4"/>
          </p15:clr>
        </p15:guide>
        <p15:guide id="3" pos="3591" userDrawn="1">
          <p15:clr>
            <a:srgbClr val="A4A3A4"/>
          </p15:clr>
        </p15:guide>
        <p15:guide id="4" pos="5496" userDrawn="1">
          <p15:clr>
            <a:srgbClr val="A4A3A4"/>
          </p15:clr>
        </p15:guide>
        <p15:guide id="5" pos="4112" userDrawn="1">
          <p15:clr>
            <a:srgbClr val="A4A3A4"/>
          </p15:clr>
        </p15:guide>
        <p15:guide id="6" pos="393" userDrawn="1">
          <p15:clr>
            <a:srgbClr val="A4A3A4"/>
          </p15:clr>
        </p15:guide>
        <p15:guide id="7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CEE4"/>
    <a:srgbClr val="FFD6E3"/>
    <a:srgbClr val="FFFFFF"/>
    <a:srgbClr val="753A93"/>
    <a:srgbClr val="976BAE"/>
    <a:srgbClr val="F92571"/>
    <a:srgbClr val="8226E3"/>
    <a:srgbClr val="2D1451"/>
    <a:srgbClr val="222A35"/>
    <a:srgbClr val="55D4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83" autoAdjust="0"/>
    <p:restoredTop sz="95839"/>
  </p:normalViewPr>
  <p:slideViewPr>
    <p:cSldViewPr snapToGrid="0" showGuides="1">
      <p:cViewPr varScale="1">
        <p:scale>
          <a:sx n="112" d="100"/>
          <a:sy n="112" d="100"/>
        </p:scale>
        <p:origin x="200" y="360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928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8" Type="http://schemas.openxmlformats.org/officeDocument/2006/relationships/slide" Target="slides/slide27.xml"/><Relationship Id="rId39" Type="http://schemas.openxmlformats.org/officeDocument/2006/relationships/notesMaster" Target="notesMasters/notesMaster1.xml"/><Relationship Id="rId40" Type="http://schemas.openxmlformats.org/officeDocument/2006/relationships/handoutMaster" Target="handoutMasters/handout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package" Target="../embeddings/_____Microsoft_Excel.xlsx"/></Relationships>
</file>

<file path=ppt/charts/_rels/chart2.xml.rels><?xml version='1.0' encoding='UTF-8' standalone='yes'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<Relationship Id="rId3" Type="http://schemas.openxmlformats.org/officeDocument/2006/relationships/package" Target="../embeddings/_____Microsoft_Excel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первый STOP, м</c:v>
                </c:pt>
              </c:strCache>
            </c:strRef>
          </c:tx>
          <c:spPr>
            <a:solidFill>
              <a:schemeClr val="accent1"/>
            </a:solidFill>
            <a:ln w="63500">
              <a:noFill/>
            </a:ln>
            <a:effectLst/>
          </c:spPr>
          <c:invertIfNegative val="0"/>
          <c:dPt>
            <c:idx val="0"/>
            <c:spPr>
              <a:solidFill>
                <a:srgbClr val="FF0053"/>
              </a:solidFill>
            </c:spPr>
          </c:dPt>
          <c:dPt>
            <c:idx val="1"/>
            <c:spPr>
              <a:solidFill>
                <a:srgbClr val="8A83D1"/>
              </a:solidFill>
            </c:spPr>
          </c:dPt>
          <c:dPt>
            <c:idx val="2"/>
            <c:spPr>
              <a:solidFill>
                <a:srgbClr val="8A83D1"/>
              </a:solidFill>
            </c:spPr>
          </c:dPt>
          <c:dPt>
            <c:idx val="3"/>
            <c:spPr>
              <a:solidFill>
                <a:srgbClr val="FF0053"/>
              </a:solidFill>
            </c:spPr>
          </c:dPt>
          <c:dPt>
            <c:idx val="4"/>
            <c:spPr>
              <a:solidFill>
                <a:srgbClr val="FF0053"/>
              </a:solidFill>
            </c:spPr>
          </c:dPt>
          <c:dPt>
            <c:idx val="5"/>
            <c:spPr>
              <a:solidFill>
                <a:srgbClr val="FF0053"/>
              </a:solidFill>
            </c:spPr>
          </c:dPt>
          <c:dPt>
            <c:idx val="6"/>
            <c:spPr>
              <a:solidFill>
                <a:srgbClr val="FF0053"/>
              </a:solidFill>
            </c:spPr>
          </c:dPt>
          <c:dPt>
            <c:idx val="7"/>
            <c:spPr>
              <a:solidFill>
                <a:srgbClr val="FF0053"/>
              </a:solidFill>
            </c:spPr>
          </c:dPt>
          <c:dLbls>
            <c:numFmt formatCode="0&quot; м&quot;" sourceLinked="0"/>
            <c:txPr>
              <a:bodyPr/>
              <a:lstStyle/>
              <a:p>
                <a:pPr>
                  <a:defRPr sz="1100" b="1">
                    <a:solidFill>
                      <a:srgbClr val="FFFFFF"/>
                    </a:solidFill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висящий предмет 5 см</c:v>
                </c:pt>
                <c:pt idx="1">
                  <c:v>ящик 2 × 2 м у края</c:v>
                </c:pt>
                <c:pt idx="2">
                  <c:v>куб 0,3 м у края</c:v>
                </c:pt>
                <c:pt idx="3">
                  <c:v>куб 0,3 м в воздухе</c:v>
                </c:pt>
                <c:pt idx="4">
                  <c:v>куб 0,3 м на рельсе</c:v>
                </c:pt>
                <c:pt idx="5">
                  <c:v>доска поперёк рельсов</c:v>
                </c:pt>
                <c:pt idx="6">
                  <c:v>ящик 2 × 2 м в центре</c:v>
                </c:pt>
                <c:pt idx="7">
                  <c:v>ящик 2 × 2 м, верх габарита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30</c:v>
                </c:pt>
                <c:pt idx="1">
                  <c:v>10</c:v>
                </c:pt>
                <c:pt idx="2">
                  <c:v>5</c:v>
                </c:pt>
                <c:pt idx="3">
                  <c:v>53</c:v>
                </c:pt>
                <c:pt idx="4">
                  <c:v>43</c:v>
                </c:pt>
                <c:pt idx="5">
                  <c:v>82</c:v>
                </c:pt>
                <c:pt idx="6">
                  <c:v>98</c:v>
                </c:pt>
                <c:pt idx="7">
                  <c:v>101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E86-41F6-8A85-7879D9C60F88}"/>
            </c:ext>
          </c:extLst>
        </c:ser>
        <c:dLbls>
          <c:numFmt formatCode="0&quot; м&quot;" sourceLinked="0"/>
          <c:txPr>
            <a:bodyPr/>
            <a:lstStyle/>
            <a:p>
              <a:pPr>
                <a:defRPr sz="1100" b="1">
                  <a:solidFill>
                    <a:srgbClr val="FFFFFF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1688540351"/>
        <c:axId val="1173587135"/>
      </c:barChart>
      <c:catAx>
        <c:axId val="168854035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tickLblSkip val="1"/>
        <c:noMultiLvlLbl val="0"/>
      </c:catAx>
      <c:valAx>
        <c:axId val="1173587135"/>
        <c:scaling>
          <c:orientation val="minMax"/>
          <c:max val="150.0"/>
          <c:min val="0.0"/>
        </c:scaling>
        <c:delete val="0"/>
        <c:axPos val="b"/>
        <c:majorGridlines>
          <c:spPr>
            <a:ln w="9525" cap="flat" cmpd="sng" algn="ctr">
              <a:solidFill>
                <a:schemeClr val="bg1">
                  <a:alpha val="50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688540351"/>
        <c:crosses val="autoZero"/>
        <c:crossBetween val="between"/>
        <c:majorUnit val="50.0"/>
      </c:valAx>
      <c:spPr>
        <a:noFill/>
        <a:ln w="25400"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>
          <a:solidFill>
            <a:schemeClr val="bg1"/>
          </a:solidFill>
        </a:defRPr>
      </a:pPr>
      <a:endParaRPr lang="ru-RU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1"/>
          <c:order val="0"/>
          <c:tx>
            <c:strRef>
              <c:f>Sheet1!$B$1</c:f>
              <c:strCache>
                <c:ptCount val="1"/>
                <c:pt idx="0">
                  <c:v>первое подтверждение, м</c:v>
                </c:pt>
              </c:strCache>
            </c:strRef>
          </c:tx>
          <c:spPr>
            <a:solidFill>
              <a:schemeClr val="accent2"/>
            </a:solidFill>
            <a:ln w="63500">
              <a:solidFill>
                <a:schemeClr val="accent2"/>
              </a:solidFill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FC3777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92C0-E743-BC6B-AB142BB83263}"/>
              </c:ext>
            </c:extLst>
          </c:dPt>
          <c:dPt>
            <c:idx val="1"/>
            <c:invertIfNegative val="0"/>
            <c:bubble3D val="0"/>
            <c:spPr>
              <a:solidFill>
                <a:srgbClr val="FFD6E4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B35E-4C45-8CA2-C11611997942}"/>
              </c:ext>
            </c:extLst>
          </c:dPt>
          <c:dPt>
            <c:idx val="2"/>
            <c:invertIfNegative val="0"/>
            <c:bubble3D val="0"/>
            <c:spPr>
              <a:solidFill>
                <a:srgbClr val="8A83D1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B35E-4C45-8CA2-C11611997942}"/>
              </c:ext>
            </c:extLst>
          </c:dPt>
          <c:dPt>
            <c:idx val="3"/>
            <c:invertIfNegative val="0"/>
            <c:bubble3D val="0"/>
            <c:spPr>
              <a:solidFill>
                <a:srgbClr val="520978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B35E-4C45-8CA2-C11611997942}"/>
              </c:ext>
            </c:extLst>
          </c:dPt>
          <c:dPt>
            <c:idx val="4"/>
            <c:spPr>
              <a:solidFill>
                <a:srgbClr val="310F53"/>
              </a:solidFill>
            </c:spPr>
          </c:dPt>
          <c:dPt>
            <c:idx val="5"/>
            <c:spPr>
              <a:solidFill>
                <a:srgbClr val="FC3777"/>
              </a:solidFill>
            </c:spPr>
          </c:dPt>
          <c:dPt>
            <c:idx val="6"/>
            <c:spPr>
              <a:solidFill>
                <a:srgbClr val="FF0053"/>
              </a:solidFill>
            </c:spPr>
          </c:dPt>
          <c:dLbls>
            <c:numFmt formatCode="0&quot; м&quot;" sourceLinked="0"/>
            <c:txPr>
              <a:bodyPr/>
              <a:lstStyle/>
              <a:p>
                <a:pPr>
                  <a:defRPr sz="1200" b="1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предмет поперёк рельса</c:v>
                </c:pt>
                <c:pt idx="1">
                  <c:v>ящик 30 см на рельсе</c:v>
                </c:pt>
                <c:pt idx="2">
                  <c:v>висящий кабель 3 см</c:v>
                </c:pt>
                <c:pt idx="3">
                  <c:v>ящик 1 м</c:v>
                </c:pt>
                <c:pt idx="4">
                  <c:v>тележка</c:v>
                </c:pt>
                <c:pt idx="5">
                  <c:v>человек 1,7 м</c:v>
                </c:pt>
                <c:pt idx="6">
                  <c:v>человек 1,7 м · от рельсов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46</c:v>
                </c:pt>
                <c:pt idx="1">
                  <c:v>49</c:v>
                </c:pt>
                <c:pt idx="2">
                  <c:v>95</c:v>
                </c:pt>
                <c:pt idx="3">
                  <c:v>111</c:v>
                </c:pt>
                <c:pt idx="4">
                  <c:v>144</c:v>
                </c:pt>
                <c:pt idx="5">
                  <c:v>148</c:v>
                </c:pt>
                <c:pt idx="6">
                  <c:v>154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35E-4C45-8CA2-C11611997942}"/>
            </c:ext>
          </c:extLst>
        </c:ser>
        <c:dLbls>
          <c:numFmt formatCode="0&quot; м&quot;" sourceLinked="0"/>
          <c:txPr>
            <a:bodyPr/>
            <a:lstStyle/>
            <a:p>
              <a:pPr>
                <a:defRPr sz="12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00"/>
        <c:axId val="1688540351"/>
        <c:axId val="1173587135"/>
      </c:barChart>
      <c:catAx>
        <c:axId val="168854035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tickLblSkip val="1"/>
        <c:noMultiLvlLbl val="0"/>
      </c:catAx>
      <c:valAx>
        <c:axId val="1173587135"/>
        <c:scaling>
          <c:orientation val="minMax"/>
          <c:max val="200.0"/>
          <c:min val="0.0"/>
        </c:scaling>
        <c:delete val="0"/>
        <c:axPos val="b"/>
        <c:majorGridlines>
          <c:spPr>
            <a:ln w="9525" cap="flat" cmpd="sng" algn="ctr">
              <a:solidFill>
                <a:schemeClr val="tx1">
                  <a:alpha val="50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688540351"/>
        <c:crosses val="autoZero"/>
        <c:crossBetween val="between"/>
        <c:majorUnit val="50.0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>
          <a:solidFill>
            <a:schemeClr val="tx1"/>
          </a:solidFill>
        </a:defRPr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1C361405-0046-9D03-26A4-D7ED10EA70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6CD2AD-A19E-4074-721F-6DBCBE680A4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30D66-5BAA-C245-AD36-181B8EC875DB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1947EE2-63DA-C2A1-5495-30E370423A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752603B-A0BC-AAAA-B5D6-B44F54E18A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7201F-1F39-2140-9B4A-3BC1B61B40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6286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A401BA-3150-4FF7-8D13-C8A64268AC63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5F3B14-7AC8-406F-A299-37D374056E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6445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CF317-460F-D66A-6ACF-27061C9DF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D066F97-A6A0-B747-71F9-577306DB2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0F9F05F-4377-CED9-7FF7-AADFCC58E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Роли: капитан — ROS 2, Docker и интеграция; визуализация и презентация; компьютерное зрение — модель пути и трекинг; данные, синтетика, метрики и тесты. Каждый отвечал за свою часть, код общий.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18DC8F5-67F2-F257-7833-1FEA7A6F23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53272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69046-74A9-6BC0-030F-AF9856808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235548D-D889-0AAA-F16C-FBBD8FABB9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2BED857-8CFB-C4D0-8AA7-4E459CD5CA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Почему эта задача: метро — наша ежедневная дорога, а препятствий в данных почти нет, поэтому мы не учим сеть на объектах, а описываем нормальный тоннель. Главные трудности — ложные остановки на станциях и разные записи; обе решены в самой системе.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80FF5E7-0C77-0F13-CEBC-1525084DF8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285682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— команда «Молоток», четверо друзей из одного лицея; на конкурсы всегда выходим этим составом. Наше решение называется ReSense. Одной фразой: описываем нормальный тоннель и сообщаем всё, что попадает в габарит поезда.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Одной фразой: описываем нормальный тоннель и сообщаем всё, что попадает в габарит поезда. Работает в ROS 2 и Docker, без обучения на объектах. GPU мы оценили и не используем: выигрыш — десятки миллисекунд, а контейнер с запросом GPU не стартует на машине без nvidia-container-toolkit.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Почему не нейросеть: реальных препятствий в данных почти нет, а на 100+ м у объекта единицы точек. Геометрия среды переносится между тоннелями, внешний вид объектов — нет.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Все числа дальше — на всех 13 759 кадрах организаторов. Каждая запись обрывается на 209–210 м: дальше в тоннеле нет ни одного отражения, и это предел для любого алгоритма на этих данных.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Пять шагов на каждый кадр, 42–64 мс в среднем на одном ядре; необязательные ядра на C++ сокращают время детектора на 38–57 % с тем же выходом бит в бит. Калибровка крепления — сама, по рельсам; кривизна — по стенам, поэтому коридор осмыслен и там, где рельсов уже не видно.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Вот тоннель — двухпутный, поезд стоит, лидар на кабине. Вот облако: 350 тысяч точек за 0,1 с. Зелёным — габарит поезда, который алгоритм сам протянул вдоль оси пути по рельсам и стенам. Жёлтым — всё, что попало в коридор. И вот человек, который переходит путь: красная рамка, 55,8 метра, решение STOP. Справа — его точки крупно. Когда человек уходит, на рельсе остаётся предмет 45 × 60 × 30 см — его алгоритм тоже держит.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Цепочка организаторов прогнана в Docker на реальных записях: узел в одном контейнере, bag play из другого, от обычного пользователя. Решение — топик /resense/decision: GO, CAUTION, STOP, FAULT. Слева — наш дашборд: вид из кабины по статусу того же узла.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Человек на пути — 58 из 61 кадра, предмет на рельсе — 125 из 126. Ложных событий в 20-минутной поездке — 3,5 на км, почти вдвое меньше, чем в v0.6.1. На объектах самих организаторов большой ящик — с 98 м, кубы 30 см — только с 43–53 м; STOP у всех восьми, но у края — лишь 2 и 6 кадров, о них — через слайд.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Первое подтверждение человека — 148 м, медиана шести подходов. В пяти парных подходах — 150 м, а если ставить его по ближним рельсам, а не по нашей же дальней оси, — 154 м: дальность на прямой не зависит от оси детектора. Со скоростью поезда — 167 м; свою скорость мы меряем по лидару с ошибкой 0,07 м/с, но раньше STOP она не даёт, поэтому это опция. Дальше 210 м отражений нет. Всё это синтетика в реальных кадрах поездки.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единственная внешняя проверка — объекты, которые вставили сами организаторы, поезд едет к ним до 20 м/с. Большой ящик — с первого появления, 98 м; доска поперёк рельсов — с 82 м. Кубы 30 см — только с 43–53 м: на 60–115 м от них 2–4 точки в кадре. Висящий предмет 5 см — с 30 м; ящик у верха габарита — непрерывно с 101 м; у края — STOP лишь в 2 и 6 кадрах: объекты ставили от оси лидара, а наш габарит идёт по рельсам.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Надёжность: сами находим крепление и вход, при проблемах с данными говорим FAULT, а не молчим.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 не сработало и почему: полотно полно железа, станции — главный источник ложных остановок, мелкие объекты организаторов видим поздно, тонкие — только вблизи, у края — лишь в нескольких кадрах.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Итог: работающий модуль, честные цифры, понятные следующие шаги — мелкие объекты раньше, скорость от одометрии и замер на 8-ядерной машине.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4323440"/>
            <a:ext cx="8930641" cy="827011"/>
          </a:xfr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НАЗВАНИЕ КОМАНДЫ</a:t>
            </a:r>
          </a:p>
        </p:txBody>
      </p:sp>
      <p:sp>
        <p:nvSpPr>
          <p:cNvPr id="42" name="Рисунок 41">
            <a:extLst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5149851"/>
            <a:ext cx="8930641" cy="757174"/>
          </a:xfr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r>
              <a:rPr lang="ru-RU" sz="1600" b="0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34976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</p:spTree>
    <p:extLst>
      <p:ext uri="{BB962C8B-B14F-4D97-AF65-F5344CB8AC3E}">
        <p14:creationId xmlns:p14="http://schemas.microsoft.com/office/powerpoint/2010/main" val="1662950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67EB9651-F031-4963-AFE9-33BCC0E88757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5" name="Заголовок 1">
            <a:extLst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  <p:sp>
        <p:nvSpPr>
          <p:cNvPr id="47" name="Текст 35">
            <a:extLst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49" name="Текст 35">
            <a:extLst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51" name="Текст 35">
            <a:extLst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53" name="Текст 35">
            <a:extLst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55" name="Текст 35">
            <a:extLst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187435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Дата 3">
            <a:extLst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1021F813-DBA1-42EC-A748-A9CC16659E6B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4">
            <a:extLst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6432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Текст 2">
            <a:extLst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/>
            <a:r>
              <a:rPr lang="ru-RU" dirty="0"/>
              <a:t/>
            </a:r>
          </a:p>
          <a:p>
            <a:pPr lvl="1"/>
            <a:r>
              <a:rPr lang="ru-RU" dirty="0"/>
              <a:t/>
            </a:r>
          </a:p>
          <a:p>
            <a:pPr lvl="2"/>
            <a:r>
              <a:rPr lang="ru-RU" dirty="0"/>
              <a:t/>
            </a:r>
          </a:p>
          <a:p>
            <a:pPr lvl="3"/>
            <a:r>
              <a:rPr lang="ru-RU" dirty="0"/>
              <a:t/>
            </a:r>
          </a:p>
          <a:p>
            <a:pPr lvl="4"/>
            <a:r>
              <a:rPr lang="ru-RU" dirty="0"/>
              <a:t/>
            </a:r>
          </a:p>
        </p:txBody>
      </p:sp>
      <p:sp>
        <p:nvSpPr>
          <p:cNvPr id="21" name="Дата 3">
            <a:extLst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E2642A-6018-4CC1-81AB-5FD8D2782D4F}" type="datetime1">
              <a:rPr lang="ru-RU" smtClean="0"/>
              <a:t>14.09.2026</a:t>
            </a:fld>
            <a:endParaRPr lang="ru-RU"/>
          </a:p>
        </p:txBody>
      </p:sp>
      <p:sp>
        <p:nvSpPr>
          <p:cNvPr id="22" name="Нижний колонтитул 4">
            <a:extLst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3" name="Номер слайда 5">
            <a:extLst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4" name="Заголовок 1">
            <a:extLst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46889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5387" y="1016001"/>
            <a:ext cx="5704418" cy="518477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6" y="1016001"/>
            <a:ext cx="5670473" cy="5184774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4" name="Дата 3">
            <a:extLst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3014BBE-C503-4380-A869-5EE8294FE947}" type="datetime1">
              <a:rPr lang="ru-RU" smtClean="0"/>
              <a:t>14.09.2026</a:t>
            </a:fld>
            <a:endParaRPr lang="ru-RU"/>
          </a:p>
        </p:txBody>
      </p:sp>
      <p:sp>
        <p:nvSpPr>
          <p:cNvPr id="15" name="Нижний колонтитул 4">
            <a:extLst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15869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9334" y="1598615"/>
            <a:ext cx="5648250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1598615"/>
            <a:ext cx="5670473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2" name="Дата 3">
            <a:extLst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D568497-304A-497F-ADAE-97D3CF462C1C}" type="datetime1">
              <a:rPr lang="ru-RU" smtClean="0"/>
              <a:t>14.09.2026</a:t>
            </a:fld>
            <a:endParaRPr lang="ru-RU"/>
          </a:p>
        </p:txBody>
      </p:sp>
      <p:sp>
        <p:nvSpPr>
          <p:cNvPr id="13" name="Нижний колонтитул 4">
            <a:extLst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4" name="Номер слайда 5">
            <a:extLst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49471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2CB240C-04A3-49D4-83F9-87A9C6C414DC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55138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73"/>
            </a:lvl1pPr>
            <a:lvl2pPr>
              <a:defRPr sz="1520"/>
            </a:lvl2pPr>
            <a:lvl3pPr>
              <a:defRPr sz="1266"/>
            </a:lvl3pPr>
            <a:lvl4pPr>
              <a:defRPr sz="1141"/>
            </a:lvl4pPr>
            <a:lvl5pPr>
              <a:defRPr sz="1141"/>
            </a:lvl5pPr>
            <a:lvl6pPr>
              <a:defRPr sz="1266"/>
            </a:lvl6pPr>
            <a:lvl7pPr>
              <a:defRPr sz="1266"/>
            </a:lvl7pPr>
            <a:lvl8pPr>
              <a:defRPr sz="1266"/>
            </a:lvl8pPr>
            <a:lvl9pPr>
              <a:defRPr sz="1266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Дата 3">
            <a:extLst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E74468B-3512-454B-AB51-7AE95604D39E}" type="datetime1">
              <a:rPr lang="ru-RU" smtClean="0"/>
              <a:t>14.09.2026</a:t>
            </a:fld>
            <a:endParaRPr lang="ru-RU"/>
          </a:p>
        </p:txBody>
      </p:sp>
      <p:sp>
        <p:nvSpPr>
          <p:cNvPr id="9" name="Нижний колонтитул 4">
            <a:extLst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55850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>
            <a:extLst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B2196-A440-4E25-B9FF-D0ADB01B1A1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8" name="Номер слайда 5">
            <a:extLst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571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7BAE699-64F9-49EF-B784-2DEF2B22195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" name="Текст 9">
            <a:extLst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15" name="Текст 6">
            <a:extLst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0" name="Текст 6">
            <a:extLst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2" name="Текст 6">
            <a:extLst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Текст 6">
            <a:extLst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8493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8" name="Текст 6">
            <a:extLst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9" name="Текст 6">
            <a:extLst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30" name="Текст 6">
            <a:extLst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31" name="Текст 6">
            <a:extLst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32" name="Текст 6">
            <a:extLst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41888580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AFA80CC-940E-479C-90C0-76DA923785E9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Рисунок 7">
            <a:extLst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40147" y="1016001"/>
            <a:ext cx="4405777" cy="3078479"/>
          </a:xfrm>
        </p:spPr>
        <p:txBody>
          <a:bodyPr/>
          <a:lstStyle/>
          <a:p>
            <a:endParaRPr lang="ru-RU"/>
          </a:p>
        </p:txBody>
      </p:sp>
      <p:sp>
        <p:nvSpPr>
          <p:cNvPr id="28" name="Рисунок 9">
            <a:extLst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440149" y="4389108"/>
            <a:ext cx="4405775" cy="181166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29" name="Рисунок 11">
            <a:extLst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46075" y="3223948"/>
            <a:ext cx="6806142" cy="2976827"/>
          </a:xfrm>
        </p:spPr>
        <p:txBody>
          <a:bodyPr/>
          <a:lstStyle/>
          <a:p>
            <a:endParaRPr lang="ru-RU"/>
          </a:p>
        </p:txBody>
      </p:sp>
      <p:sp>
        <p:nvSpPr>
          <p:cNvPr id="30" name="Текст 15">
            <a:extLst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5360169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82A4DA7B-A7D8-4443-AD1C-4C7CDC678488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3" name="Текст 101">
            <a:extLst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 dirty="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5" name="Текст 74">
            <a:extLst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62924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6" name="Текст 74">
            <a:extLst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62924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7" name="Текст 74">
            <a:extLst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62924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8" name="Текст 74">
            <a:extLst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62924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9" name="Текст 74">
            <a:extLst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662924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3761097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4E505DF-C567-47F2-9374-60838F80010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26867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807582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4584029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6699485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2938A0C3-5C2F-47B8-B008-79A49A1195B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016386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BF4F29EB-DFD0-428E-8E89-ED117A3553E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338058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52F0272-0FEA-44CE-966E-3D169B2F53D4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8" name="Текст 35">
            <a:extLst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9" name="Текст 35">
            <a:extLst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2" name="Текст 35">
            <a:extLst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3" name="Текст 35">
            <a:extLst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4" name="Текст 35">
            <a:extLst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5" name="Текст 35">
            <a:extLst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6" name="Текст 35">
            <a:extLst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7" name="Текст 35">
            <a:extLst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8" name="Текст 35">
            <a:extLst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9" name="Текст 35">
            <a:extLst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5591179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62B0DBE-B5A9-470E-85A9-7CC062D5339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3" name="Текст 35">
            <a:extLst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89" name="Текст 35">
            <a:extLst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90" name="Текст 35">
            <a:extLst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91" name="Текст 35">
            <a:extLst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8752738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62940" y="1264478"/>
            <a:ext cx="3866121" cy="2436377"/>
          </a:xfrm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D396B86-640F-4AD1-BBB2-E085B6CD877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6075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40502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1" name="Текст 7">
            <a:extLst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30203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4699120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3AF0E63-1EB1-47F5-B09E-CA3E5DE528F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10643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857950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210642" y="1577998"/>
            <a:ext cx="4121688" cy="2283975"/>
          </a:xfrm>
        </p:spPr>
        <p:txBody>
          <a:bodyPr/>
          <a:p/>
        </p:txBody>
      </p:sp>
      <p:sp>
        <p:nvSpPr>
          <p:cNvPr id="123" name="Picture Placeholder 1">
            <a:extLst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855540" y="1577998"/>
            <a:ext cx="4121688" cy="2283975"/>
          </a:xfrm>
        </p:spPr>
        <p:txBody>
          <a:bodyPr/>
          <a:p/>
        </p:txBody>
      </p:sp>
    </p:spTree>
    <p:extLst>
      <p:ext uri="{BB962C8B-B14F-4D97-AF65-F5344CB8AC3E}">
        <p14:creationId xmlns:p14="http://schemas.microsoft.com/office/powerpoint/2010/main" val="228239539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56349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6" name="Текст 35">
            <a:extLst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7" name="Текст 35">
            <a:extLst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040021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8" name="Текст 35">
            <a:extLst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040021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9" name="Текст 35">
            <a:extLst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56349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0" name="Текст 35">
            <a:extLst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1" name="Текст 35">
            <a:extLst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040021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040021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cxnSp>
        <p:nvCxnSpPr>
          <p:cNvPr id="168" name="Google Shape;2799;p94">
            <a:extLst>
              <a:ext uri="{FF2B5EF4-FFF2-40B4-BE49-F238E27FC236}">
                <a16:creationId xmlns:a16="http://schemas.microsoft.com/office/drawing/2014/main" id="{FA0271FA-A51F-4387-9143-29364B78BFC3}"/>
              </a:ext>
            </a:extLst>
          </p:cNvPr>
          <p:cNvCxnSpPr>
            <a:cxnSpLocks/>
          </p:cNvCxnSpPr>
          <p:nvPr userDrawn="1"/>
        </p:nvCxnSpPr>
        <p:spPr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2799;p94">
            <a:extLst>
              <a:ext uri="{FF2B5EF4-FFF2-40B4-BE49-F238E27FC236}">
                <a16:creationId xmlns:a16="http://schemas.microsoft.com/office/drawing/2014/main" id="{83B50154-F03F-4297-B4A8-C77D1687B8DA}"/>
              </a:ext>
            </a:extLst>
          </p:cNvPr>
          <p:cNvCxnSpPr>
            <a:cxnSpLocks/>
          </p:cNvCxnSpPr>
          <p:nvPr userDrawn="1"/>
        </p:nvCxnSpPr>
        <p:spPr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2799;p94">
            <a:extLst>
              <a:ext uri="{FF2B5EF4-FFF2-40B4-BE49-F238E27FC236}">
                <a16:creationId xmlns:a16="http://schemas.microsoft.com/office/drawing/2014/main" id="{89D0D73E-B609-4208-BFA6-94ED3BC232A9}"/>
              </a:ext>
            </a:extLst>
          </p:cNvPr>
          <p:cNvCxnSpPr>
            <a:cxnSpLocks/>
          </p:cNvCxnSpPr>
          <p:nvPr userDrawn="1"/>
        </p:nvCxnSpPr>
        <p:spPr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2799;p94">
            <a:extLst>
              <a:ext uri="{FF2B5EF4-FFF2-40B4-BE49-F238E27FC236}">
                <a16:creationId xmlns:a16="http://schemas.microsoft.com/office/drawing/2014/main" id="{1DD03E5E-FCF0-4EC5-BA97-518950F7A41C}"/>
              </a:ext>
            </a:extLst>
          </p:cNvPr>
          <p:cNvCxnSpPr>
            <a:cxnSpLocks/>
          </p:cNvCxnSpPr>
          <p:nvPr userDrawn="1"/>
        </p:nvCxnSpPr>
        <p:spPr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9" name="Дата 8">
            <a:extLst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9">
            <a:extLst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197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001460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" name="Picture Placeholder 1">
            <a:extLst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2" name="Picture Placeholder 1">
            <a:extLst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71" name="Picture Placeholder 1">
            <a:extLst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C8C16AD-D907-4463-BE30-FCBB33ACAE3F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97" name="Текст 7">
            <a:extLst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46076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8" name="Текст 7">
            <a:extLst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69562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9" name="Текст 7">
            <a:extLst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93048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00" name="Текст 7">
            <a:extLst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186458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76950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Номер слайда 5">
            <a:extLst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2615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4" r:id="rId2"/>
    <p:sldLayoutId id="2147483694" r:id="rId3"/>
    <p:sldLayoutId id="2147483688" r:id="rId4"/>
    <p:sldLayoutId id="2147483662" r:id="rId5"/>
    <p:sldLayoutId id="2147483663" r:id="rId6"/>
    <p:sldLayoutId id="2147483664" r:id="rId7"/>
    <p:sldLayoutId id="2147483666" r:id="rId8"/>
    <p:sldLayoutId id="2147483667" r:id="rId9"/>
    <p:sldLayoutId id="2147483668" r:id="rId10"/>
    <p:sldLayoutId id="2147483689" r:id="rId11"/>
    <p:sldLayoutId id="2147483690" r:id="rId12"/>
    <p:sldLayoutId id="2147483702" r:id="rId13"/>
    <p:sldLayoutId id="2147483691" r:id="rId14"/>
    <p:sldLayoutId id="2147483692" r:id="rId15"/>
    <p:sldLayoutId id="2147483693" r:id="rId16"/>
    <p:sldLayoutId id="2147483696" r:id="rId17"/>
    <p:sldLayoutId id="2147483697" r:id="rId18"/>
    <p:sldLayoutId id="2147483698" r:id="rId19"/>
    <p:sldLayoutId id="2147483699" r:id="rId20"/>
    <p:sldLayoutId id="2147483700" r:id="rId21"/>
    <p:sldLayoutId id="2147483701" r:id="rId22"/>
    <p:sldLayoutId id="2147483703" r:id="rId23"/>
  </p:sldLayoutIdLst>
  <p:hf hdr="0" ftr="0" dt="0"/>
  <p:txStyles>
    <p:titleStyle>
      <a:lvl1pPr algn="l" defTabSz="578755" rtl="0" eaLnBrk="1" latinLnBrk="0" hangingPunct="1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ea"/>
          <a:cs typeface="Amatic SC" panose="00000500000000000000" pitchFamily="2" charset="-79"/>
        </a:defRPr>
      </a:lvl1pPr>
    </p:titleStyle>
    <p:bodyStyle>
      <a:lvl1pPr marL="144688" indent="-144688" algn="l" defTabSz="578755" rtl="0" eaLnBrk="1" latinLnBrk="0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6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val="F26B43"/>
          </p15:clr>
        </p15:guide>
        <p15:guide id="20" orient="horz" pos="482">
          <p15:clr>
            <a:srgbClr val="F26B43"/>
          </p15:clr>
        </p15:guide>
        <p15:guide id="21" pos="218">
          <p15:clr>
            <a:srgbClr val="F26B43"/>
          </p15:clr>
        </p15:guide>
        <p15:guide id="22" pos="7469">
          <p15:clr>
            <a:srgbClr val="F26B43"/>
          </p15:clr>
        </p15:guide>
        <p15:guide id="23" orient="horz" pos="249">
          <p15:clr>
            <a:srgbClr val="F26B43"/>
          </p15:clr>
        </p15:guide>
        <p15:guide id="24" orient="horz" pos="4042">
          <p15:clr>
            <a:srgbClr val="F26B43"/>
          </p15:clr>
        </p15:guide>
        <p15:guide id="25" orient="horz" pos="3906">
          <p15:clr>
            <a:srgbClr val="F26B43"/>
          </p15:clr>
        </p15:guide>
        <p15:guide id="26" orient="horz" pos="640">
          <p15:clr>
            <a:srgbClr val="F26B43"/>
          </p15:clr>
        </p15:guide>
        <p15:guide id="27" pos="3840">
          <p15:clr>
            <a:srgbClr val="F26B43"/>
          </p15:clr>
        </p15:guide>
      </p15:sldGuideLst>
    </p:ext>
  </p:extLst>
</p:sldMaster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26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Relationship Id="rId3" Type="http://schemas.openxmlformats.org/officeDocument/2006/relationships/image" Target="../media/image827.jpg"/><Relationship Id="rId4" Type="http://schemas.openxmlformats.org/officeDocument/2006/relationships/notesSlide" Target="../notesSlides/notesSlide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.png"/><Relationship Id="rId3" Type="http://schemas.openxmlformats.org/officeDocument/2006/relationships/chart" Target="../charts/chart1.xml"/><Relationship Id="rId4" Type="http://schemas.openxmlformats.org/officeDocument/2006/relationships/notesSlide" Target="../notesSlides/notesSlide1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image" Target="../media/image30.png"/><Relationship Id="rId3" Type="http://schemas.openxmlformats.org/officeDocument/2006/relationships/chart" Target="../charts/chart2.xml"/><Relationship Id="rId4" Type="http://schemas.openxmlformats.org/officeDocument/2006/relationships/notesSlide" Target="../notesSlides/notesSlide1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image" Target="../media/image4.png"/><Relationship Id="rId3" Type="http://schemas.openxmlformats.org/officeDocument/2006/relationships/image" Target="../media/image828.png"/><Relationship Id="rId4" Type="http://schemas.openxmlformats.org/officeDocument/2006/relationships/image" Target="../media/image829.jpg"/><Relationship Id="rId5" Type="http://schemas.openxmlformats.org/officeDocument/2006/relationships/notesSlide" Target="../notesSlides/notesSlide10.xml"/></Relationships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3894513"/>
            <a:ext cx="6271845" cy="1706743"/>
          </a:xfrm>
        </p:spPr>
        <p:txBody>
          <a:bodyPr/>
          <a:lstStyle/>
          <a:p>
            <a:pPr marL="268288" indent="0"/>
            <a:r>
              <a:rPr lang="ru-RU" sz="4800"/>
              <a:t>Молоток</a:t>
            </a:r>
          </a:p>
        </p:txBody>
      </p:sp>
      <p:pic>
        <p:nvPicPr>
          <p:cNvPr id="4" name="Рисунок 3" descr="image.png"/>
          <p:cNvPicPr>
            <a:picLocks noGrp="1" noChangeAspect="1"/>
          </p:cNvPicPr>
          <p:nvPr>
            <p:ph type="pic" sz="quarter" idx="11"/>
          </p:nvPr>
        </p:nvPicPr>
        <p:blipFill>
          <a:blip r:embed="rId2"/>
          <a:srcRect/>
          <a:stretch>
            <a:fillRect/>
          </a:stretch>
        </p:blipFill>
        <p:spPr>
          <a:xfrm>
            <a:off x="305186" y="535493"/>
            <a:ext cx="2455420" cy="671205"/>
          </a:xfrm>
        </p:spPr>
      </p:pic>
      <p:sp>
        <p:nvSpPr>
          <p:cNvPr id="5" name="Текст 4">
            <a:extLst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5659501"/>
            <a:ext cx="8930641" cy="757174"/>
          </a:xfrm>
        </p:spPr>
        <p:txBody>
          <a:bodyPr anchor="ctr"/>
          <a:lstStyle/>
          <a:p>
            <a:pPr indent="0" marL="268288"/>
            <a:r>
              <a:rPr lang="ru-RU" sz="1500"/>
              <a:t>Кейс 05 · решение ReSense</a:t>
            </a:r>
          </a:p>
          <a:p>
            <a:pPr indent="0" marL="268288"/>
            <a:r>
              <a:rPr lang="ru-RU" sz="1500"/>
              <a:t>Обнаружение посторонних объектов в тоннеле метро по данным 3D-лидара</a:t>
            </a: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/>
          <p:nvPr/>
        </p:nvSpPr>
        <p:spPr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06660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/>
          <p:nvPr/>
        </p:nvSpPr>
        <p:spPr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dirty="0"/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C7F1B208-7478-7BDA-1FDE-22C1555254C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335267"/>
            <a:ext cx="6456363" cy="2971784"/>
          </a:xfrm>
        </p:spPr>
      </p:sp>
      <p:sp>
        <p:nvSpPr>
          <p:cNvPr id="6" name="Текст 8">
            <a:extLst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 txBox="1">
            <a:spLocks/>
          </p:cNvSpPr>
          <p:nvPr/>
        </p:nvSpPr>
        <p:spPr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Краткое описание решения:</a:t>
            </a:r>
          </a:p>
        </p:txBody>
      </p:sp>
      <p:sp>
        <p:nvSpPr>
          <p:cNvPr id="8" name="Текст 8">
            <a:extLst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 txBox="1">
            <a:spLocks/>
          </p:cNvSpPr>
          <p:nvPr/>
        </p:nvSpPr>
        <p:spPr>
          <a:xfrm>
            <a:off x="6836606" y="4876070"/>
            <a:ext cx="4945565" cy="135000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sz="1200">
                <a:solidFill>
                  <a:schemeClr val="tx1"/>
                </a:solidFill>
              </a:rPr>
              <a:t>Описываем среду, а не объекты: крепление лидара и ось пути калибруются по рельсам в каждом кадре, кривизна — по стенам и рядам колонн, поэтому коридор осмыслен и там, где рельсов уже не видно. Вместо молчания — «проверенно свободная» дистанция. Настройка и оценка — на препятствиях, вставленных трассировкой лучей в реальные кадры.</a:t>
            </a:r>
          </a:p>
        </p:txBody>
      </p:sp>
      <p:sp>
        <p:nvSpPr>
          <p:cNvPr id="14" name="Текст 8">
            <a:extLst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 txBox="1">
            <a:spLocks/>
          </p:cNvSpPr>
          <p:nvPr/>
        </p:nvSpPr>
        <p:spPr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>
                <a:solidFill>
                  <a:schemeClr val="tx1"/>
                </a:solidFill>
              </a:rPr>
              <a:t>Капитан:</a:t>
            </a:r>
            <a:r>
              <a:rPr lang="ru-RU">
                <a:solidFill>
                  <a:schemeClr val="tx1"/>
                </a:solidFill>
              </a:rPr>
              <a:t xml:space="preserve"> &lt;ФИО&gt;, &lt;специальность&gt;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>
                <a:solidFill>
                  <a:schemeClr val="tx1"/>
                </a:solidFill>
              </a:rPr>
              <a:t>Кол-во участников:</a:t>
            </a:r>
            <a:r>
              <a:rPr lang="ru-RU">
                <a:solidFill>
                  <a:schemeClr val="tx1"/>
                </a:solidFill>
              </a:rPr>
              <a:t xml:space="preserve"> 4 человека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>
                <a:solidFill>
                  <a:schemeClr val="tx1"/>
                </a:solidFill>
              </a:rPr>
              <a:t>Краткое описание:</a:t>
            </a:r>
          </a:p>
          <a:p>
            <a:pPr rtl="0" marL="289376" indent="-144688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/>
              <a:buChar char="–"/>
            </a:pPr>
            <a:r>
              <a:rPr lang="ru-RU">
                <a:solidFill>
                  <a:schemeClr val="tx1"/>
                </a:solidFill>
              </a:rPr>
              <a:t>&lt;как образовалась команда&gt;</a:t>
            </a:r>
          </a:p>
          <a:p>
            <a:pPr rtl="0" marL="289376" indent="-144688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/>
              <a:buChar char="–"/>
            </a:pPr>
            <a:r>
              <a:rPr lang="ru-RU">
                <a:solidFill>
                  <a:schemeClr val="tx1"/>
                </a:solidFill>
              </a:rPr>
              <a:t>место учёбы: &lt;место учёбы / работы&gt;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>
                <a:solidFill>
                  <a:schemeClr val="tx1"/>
                </a:solidFill>
              </a:rPr>
              <a:t>Город и регион:</a:t>
            </a:r>
            <a:r>
              <a:rPr lang="ru-RU">
                <a:solidFill>
                  <a:schemeClr val="tx1"/>
                </a:solidFill>
              </a:rPr>
              <a:t xml:space="preserve"> &lt;город&gt;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 txBox="1">
            <a:spLocks/>
          </p:cNvSpPr>
          <p:nvPr/>
        </p:nvSpPr>
        <p:spPr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О команде</a:t>
            </a:r>
          </a:p>
        </p:txBody>
      </p:sp>
      <p:sp>
        <p:nvSpPr>
          <p:cNvPr id="18" name="Заголовок 6">
            <a:extLst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9903" y="1039236"/>
            <a:ext cx="3636703" cy="1015128"/>
          </a:xfrm>
        </p:spPr>
        <p:txBody>
          <a:bodyPr/>
          <a:lstStyle/>
          <a:p>
            <a:pPr/>
            <a:r>
              <a:rPr lang="ru-RU" sz="2400">
                <a:solidFill>
                  <a:schemeClr val="accent5"/>
                </a:solidFill>
                <a:latin typeface="+mn-lt"/>
              </a:rPr>
              <a:t>КОМАНДА «Молоток»</a:t>
            </a:r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7C7CCC6C-58F8-0E63-53E4-87AE6D59DD62}"/>
              </a:ext>
            </a:extLst>
          </p:cNvPr>
          <p:cNvCxnSpPr>
            <a:cxnSpLocks/>
          </p:cNvCxnSpPr>
          <p:nvPr/>
        </p:nvCxnSpPr>
        <p:spPr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1B3B23E2-26F4-92D2-2DA4-7A9B6B8237E1}"/>
              </a:ext>
            </a:extLst>
          </p:cNvPr>
          <p:cNvCxnSpPr>
            <a:cxnSpLocks/>
          </p:cNvCxnSpPr>
          <p:nvPr/>
        </p:nvCxnSpPr>
        <p:spPr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0C8347DC-DEA9-7C56-5C73-FA89FB55D49D}"/>
              </a:ext>
            </a:extLst>
          </p:cNvPr>
          <p:cNvCxnSpPr>
            <a:cxnSpLocks/>
          </p:cNvCxnSpPr>
          <p:nvPr/>
        </p:nvCxnSpPr>
        <p:spPr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Текст 8">
            <a:extLst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 txBox="1">
            <a:spLocks/>
          </p:cNvSpPr>
          <p:nvPr/>
        </p:nvSpPr>
        <p:spPr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Уникальность решения:</a:t>
            </a:r>
          </a:p>
        </p:txBody>
      </p:sp>
      <p:sp>
        <p:nvSpPr>
          <p:cNvPr id="5" name="Текст 8">
            <a:extLst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 txBox="1">
            <a:spLocks/>
          </p:cNvSpPr>
          <p:nvPr/>
        </p:nvSpPr>
        <p:spPr>
          <a:xfrm>
            <a:off x="6808027" y="2619903"/>
            <a:ext cx="4945565" cy="178000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sz="1200">
                <a:solidFill>
                  <a:schemeClr val="tx1"/>
                </a:solidFill>
              </a:rPr>
              <a:t>ROS 2-модуль: по потоку 3D-лидара 10 раз в секунду строит модель «нормального тоннеля» — полотно, рельсы, ось пути с кривизной по стенам, — проверяет габарит поезда 2,1 × 3,0 м и отвечает GO / CAUTION / STOP / FAULT с расстоянием до препятствия. Без обучения на объектах, без GPU, в Docker.</a:t>
            </a:r>
          </a:p>
        </p:txBody>
      </p:sp>
      <p:sp>
        <p:nvSpPr>
          <p:cNvPr id="10" name="Номер слайда 35">
            <a:extLst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 txBox="1">
            <a:spLocks/>
          </p:cNvSpPr>
          <p:nvPr/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52DCC5B9-D646-4B76-891F-6FF4E74E9CB4}" type="slidenum">
              <a:rPr lang="ru-RU" sz="1200" smtClean="0">
                <a:solidFill>
                  <a:schemeClr val="accent5"/>
                </a:solidFill>
              </a:rPr>
              <a:pPr algn="ctr"/>
              <a:t>8</a:t>
            </a:fld>
            <a:endParaRPr lang="ru-RU" sz="1200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97789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AC977F-019F-1EBC-A1EC-CEAA645B5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Скругленный прямоугольник 55">
            <a:extLst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/>
          <p:nvPr/>
        </p:nvSpPr>
        <p:spPr>
          <a:xfrm>
            <a:off x="3846984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 txBox="1">
            <a:spLocks/>
          </p:cNvSpPr>
          <p:nvPr/>
        </p:nvSpPr>
        <p:spPr>
          <a:xfrm>
            <a:off x="4019268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Визуализация, демо, презентация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&lt;@ник&gt;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&lt;место учёбы / работы&gt;</a:t>
            </a:r>
          </a:p>
        </p:txBody>
      </p:sp>
      <p:sp>
        <p:nvSpPr>
          <p:cNvPr id="58" name="Текст 8">
            <a:extLst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 txBox="1">
            <a:spLocks/>
          </p:cNvSpPr>
          <p:nvPr/>
        </p:nvSpPr>
        <p:spPr>
          <a:xfrm>
            <a:off x="4019267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>
                <a:solidFill>
                  <a:schemeClr val="accent5"/>
                </a:solidFill>
              </a:rPr>
              <a:t>&lt;Имя Фамилия&gt;</a:t>
            </a:r>
          </a:p>
        </p:txBody>
      </p:sp>
      <p:sp>
        <p:nvSpPr>
          <p:cNvPr id="59" name="Скругленный прямоугольник 58">
            <a:extLst>
              <a:ext uri="{FF2B5EF4-FFF2-40B4-BE49-F238E27FC236}">
                <a16:creationId xmlns:a16="http://schemas.microsoft.com/office/drawing/2014/main" id="{0F406257-4D6A-D88A-21D7-91882F262CF5}"/>
              </a:ext>
            </a:extLst>
          </p:cNvPr>
          <p:cNvSpPr/>
          <p:nvPr/>
        </p:nvSpPr>
        <p:spPr>
          <a:xfrm>
            <a:off x="6152302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0" name="Текст 8">
            <a:extLst>
              <a:ext uri="{FF2B5EF4-FFF2-40B4-BE49-F238E27FC236}">
                <a16:creationId xmlns:a16="http://schemas.microsoft.com/office/drawing/2014/main" id="{44C1868D-BA5E-04C0-2882-2494450EF9D6}"/>
              </a:ext>
            </a:extLst>
          </p:cNvPr>
          <p:cNvSpPr txBox="1">
            <a:spLocks/>
          </p:cNvSpPr>
          <p:nvPr/>
        </p:nvSpPr>
        <p:spPr>
          <a:xfrm>
            <a:off x="6324586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Компьютерное зрение: модель пути, трекинг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&lt;@ник&gt;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&lt;место учёбы / работы&gt;</a:t>
            </a:r>
          </a:p>
        </p:txBody>
      </p:sp>
      <p:sp>
        <p:nvSpPr>
          <p:cNvPr id="61" name="Текст 8">
            <a:extLst>
              <a:ext uri="{FF2B5EF4-FFF2-40B4-BE49-F238E27FC236}">
                <a16:creationId xmlns:a16="http://schemas.microsoft.com/office/drawing/2014/main" id="{1A52C52A-3120-DA42-507D-5AE477E99E60}"/>
              </a:ext>
            </a:extLst>
          </p:cNvPr>
          <p:cNvSpPr txBox="1">
            <a:spLocks/>
          </p:cNvSpPr>
          <p:nvPr/>
        </p:nvSpPr>
        <p:spPr>
          <a:xfrm>
            <a:off x="6324585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>
                <a:solidFill>
                  <a:schemeClr val="accent5"/>
                </a:solidFill>
              </a:rPr>
              <a:t>&lt;Имя Фамилия&gt;</a:t>
            </a:r>
          </a:p>
        </p:txBody>
      </p:sp>
      <p:sp>
        <p:nvSpPr>
          <p:cNvPr id="62" name="Скругленный прямоугольник 61">
            <a:extLst>
              <a:ext uri="{FF2B5EF4-FFF2-40B4-BE49-F238E27FC236}">
                <a16:creationId xmlns:a16="http://schemas.microsoft.com/office/drawing/2014/main" id="{D1FBCE3B-1D71-DB46-9E48-C63F3ADD4968}"/>
              </a:ext>
            </a:extLst>
          </p:cNvPr>
          <p:cNvSpPr/>
          <p:nvPr/>
        </p:nvSpPr>
        <p:spPr>
          <a:xfrm>
            <a:off x="8457621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3" name="Текст 8">
            <a:extLst>
              <a:ext uri="{FF2B5EF4-FFF2-40B4-BE49-F238E27FC236}">
                <a16:creationId xmlns:a16="http://schemas.microsoft.com/office/drawing/2014/main" id="{CB4F394B-14E6-36F0-A4B2-EFA5843E9DB6}"/>
              </a:ext>
            </a:extLst>
          </p:cNvPr>
          <p:cNvSpPr txBox="1">
            <a:spLocks/>
          </p:cNvSpPr>
          <p:nvPr/>
        </p:nvSpPr>
        <p:spPr>
          <a:xfrm>
            <a:off x="8629905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Данные, синтетика, метрики, тесты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&lt;@ник&gt;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&lt;место учёбы / работы&gt;</a:t>
            </a:r>
          </a:p>
        </p:txBody>
      </p:sp>
      <p:sp>
        <p:nvSpPr>
          <p:cNvPr id="64" name="Текст 8">
            <a:extLst>
              <a:ext uri="{FF2B5EF4-FFF2-40B4-BE49-F238E27FC236}">
                <a16:creationId xmlns:a16="http://schemas.microsoft.com/office/drawing/2014/main" id="{FF91B8FA-A68A-4E4D-B286-02AF30BFB771}"/>
              </a:ext>
            </a:extLst>
          </p:cNvPr>
          <p:cNvSpPr txBox="1">
            <a:spLocks/>
          </p:cNvSpPr>
          <p:nvPr/>
        </p:nvSpPr>
        <p:spPr>
          <a:xfrm>
            <a:off x="8629904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>
                <a:solidFill>
                  <a:schemeClr val="accent5"/>
                </a:solidFill>
              </a:rPr>
              <a:t>&lt;Имя Фамилия&gt;</a:t>
            </a: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FC0035EA-559C-020F-D4A8-B4146A26E8E5}"/>
              </a:ext>
            </a:extLst>
          </p:cNvPr>
          <p:cNvSpPr/>
          <p:nvPr/>
        </p:nvSpPr>
        <p:spPr>
          <a:xfrm>
            <a:off x="1541666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9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4C94D4FF-301C-477D-8018-73C5CC99D4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1776987" y="1816054"/>
            <a:ext cx="1722566" cy="1552901"/>
          </a:xfrm>
        </p:spPr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855F75D9-2AE8-476E-3BFF-E3DD59A60081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4082057" y="1826554"/>
            <a:ext cx="1722566" cy="1542401"/>
          </a:xfrm>
        </p:spPr>
      </p:sp>
      <p:sp>
        <p:nvSpPr>
          <p:cNvPr id="4" name="Рисунок 3">
            <a:extLst>
              <a:ext uri="{FF2B5EF4-FFF2-40B4-BE49-F238E27FC236}">
                <a16:creationId xmlns:a16="http://schemas.microsoft.com/office/drawing/2014/main" id="{767E99FD-70C0-A2B6-EA8E-C07EBA0B37E0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6387374" y="1809238"/>
            <a:ext cx="1722567" cy="1559717"/>
          </a:xfrm>
        </p:spPr>
      </p:sp>
      <p:sp>
        <p:nvSpPr>
          <p:cNvPr id="5" name="Рисунок 4">
            <a:extLst>
              <a:ext uri="{FF2B5EF4-FFF2-40B4-BE49-F238E27FC236}">
                <a16:creationId xmlns:a16="http://schemas.microsoft.com/office/drawing/2014/main" id="{D6C4749F-7C67-9CD8-7C7C-023BB23DC622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8715798" y="1809238"/>
            <a:ext cx="1722567" cy="1559717"/>
          </a:xfrm>
        </p:spPr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59" y="449787"/>
            <a:ext cx="9862734" cy="376138"/>
          </a:xfrm>
        </p:spPr>
        <p:txBody>
          <a:bodyPr/>
          <a:lstStyle/>
          <a:p>
            <a:pPr/>
            <a:r>
              <a:rPr lang="ru-RU">
                <a:latin typeface="+mn-lt"/>
              </a:rPr>
              <a:t>КОМАНДА «Молоток»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392728C-0D28-63FE-46DB-BBDA5226DAE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1713950" y="4250028"/>
            <a:ext cx="1894354" cy="1624612"/>
          </a:xfrm>
        </p:spPr>
        <p:txBody>
          <a:bodyPr>
            <a:normAutofit/>
          </a:bodyPr>
          <a:lstStyle/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Капитан · ROS 2, Docker, интеграция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&lt;@ник&gt;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&lt;место учёбы / работы&gt;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34A1767C-75B2-E3D4-5057-DD85E6AB1440}"/>
              </a:ext>
            </a:extLst>
          </p:cNvPr>
          <p:cNvSpPr txBox="1">
            <a:spLocks/>
          </p:cNvSpPr>
          <p:nvPr/>
        </p:nvSpPr>
        <p:spPr>
          <a:xfrm>
            <a:off x="171394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>
                <a:solidFill>
                  <a:schemeClr val="accent5"/>
                </a:solidFill>
              </a:rPr>
              <a:t>&lt;Имя Фамилия&gt;</a:t>
            </a:r>
          </a:p>
        </p:txBody>
      </p:sp>
    </p:spTree>
    <p:extLst>
      <p:ext uri="{BB962C8B-B14F-4D97-AF65-F5344CB8AC3E}">
        <p14:creationId xmlns:p14="http://schemas.microsoft.com/office/powerpoint/2010/main" val="9221470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12D283-FCC2-40D9-9CEA-EF1BD3595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849" y="449787"/>
            <a:ext cx="9862734" cy="376138"/>
          </a:xfrm>
        </p:spPr>
        <p:txBody>
          <a:bodyPr/>
          <a:lstStyle/>
          <a:p>
            <a:pPr/>
            <a:r>
              <a:rPr lang="ru-RU">
                <a:latin typeface="+mn-lt"/>
              </a:rPr>
              <a:t>ИСТОРИЯ КОМАНДЫ</a:t>
            </a:r>
          </a:p>
        </p:txBody>
      </p:sp>
      <p:sp>
        <p:nvSpPr>
          <p:cNvPr id="37" name="Текст 8">
            <a:extLst>
              <a:ext uri="{FF2B5EF4-FFF2-40B4-BE49-F238E27FC236}">
                <a16:creationId xmlns:a16="http://schemas.microsoft.com/office/drawing/2014/main" id="{C7B87D78-5037-F48A-F05C-8E80D4A5A4D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sz="1200">
                <a:solidFill>
                  <a:schemeClr val="tx1"/>
                </a:solidFill>
              </a:rPr>
              <a:t>Мы друзья и на конкурсы всегда выходим вчетвером: ROS 2 и интеграция, визуализация, компьютерное зрение, данные и тесты. Каждый день ездим на учёбу на метро — захотелось, чтобы поезд однажды сам видел, что у него впереди.</a:t>
            </a:r>
          </a:p>
        </p:txBody>
      </p:sp>
      <p:sp>
        <p:nvSpPr>
          <p:cNvPr id="38" name="Текст 8">
            <a:extLst>
              <a:ext uri="{FF2B5EF4-FFF2-40B4-BE49-F238E27FC236}">
                <a16:creationId xmlns:a16="http://schemas.microsoft.com/office/drawing/2014/main" id="{BAD76A99-219B-023F-35AA-74EDFF6A51FC}"/>
              </a:ext>
            </a:extLst>
          </p:cNvPr>
          <p:cNvSpPr txBox="1">
            <a:spLocks/>
          </p:cNvSpPr>
          <p:nvPr/>
        </p:nvSpPr>
        <p:spPr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Краткая история команды:</a:t>
            </a:r>
          </a:p>
        </p:txBody>
      </p:sp>
      <p:sp>
        <p:nvSpPr>
          <p:cNvPr id="40" name="Текст 8">
            <a:extLst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 txBox="1">
            <a:spLocks/>
          </p:cNvSpPr>
          <p:nvPr/>
        </p:nvSpPr>
        <p:spPr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200">
                <a:solidFill>
                  <a:schemeClr val="tx1"/>
                </a:solidFill>
              </a:rPr>
              <a:t>Препятствий в записях почти нет — «ставили» людей и ящики в реальные кадры трассировкой лучей лидара. Станции и стрелки давали ложные остановки — помогли ось по стенам, зона доверия и подтверждение 0,5 с. Записи разные (два топика, 120° и 360°, наклон крепления 3°) — узел сам находит вход и калибруется по рельсам. И всё это — параллельно с учёбой.</a:t>
            </a:r>
          </a:p>
        </p:txBody>
      </p:sp>
      <p:sp>
        <p:nvSpPr>
          <p:cNvPr id="41" name="Текст 8">
            <a:extLst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 txBox="1">
            <a:spLocks/>
          </p:cNvSpPr>
          <p:nvPr/>
        </p:nvSpPr>
        <p:spPr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вы столкнулись и как их преодолели?</a:t>
            </a:r>
          </a:p>
        </p:txBody>
      </p:sp>
      <p:sp>
        <p:nvSpPr>
          <p:cNvPr id="43" name="Текст 8">
            <a:extLst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 txBox="1">
            <a:spLocks/>
          </p:cNvSpPr>
          <p:nvPr/>
        </p:nvSpPr>
        <p:spPr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200">
                <a:solidFill>
                  <a:schemeClr val="tx1"/>
                </a:solidFill>
              </a:rPr>
              <a:t>Метро — наша ежедневная дорога, а беспилотный поезд — задача, где ошибка стоит дорого. Препятствий в данных почти нет, поэтому описываем «нормальный тоннель» и ловим всё, что в него не вписывается.</a:t>
            </a:r>
          </a:p>
        </p:txBody>
      </p:sp>
      <p:sp>
        <p:nvSpPr>
          <p:cNvPr id="44" name="Текст 8">
            <a:extLst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 txBox="1">
            <a:spLocks/>
          </p:cNvSpPr>
          <p:nvPr/>
        </p:nvSpPr>
        <p:spPr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из предложенных на хакатоне?</a:t>
            </a:r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8462540F-CBE5-F86F-AD60-3D1A03F73EED}"/>
              </a:ext>
            </a:extLst>
          </p:cNvPr>
          <p:cNvCxnSpPr>
            <a:cxnSpLocks/>
          </p:cNvCxnSpPr>
          <p:nvPr/>
        </p:nvCxnSpPr>
        <p:spPr>
          <a:xfrm>
            <a:off x="623888" y="2745691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43B6B201-8F98-911C-C812-B6DD350A7909}"/>
              </a:ext>
            </a:extLst>
          </p:cNvPr>
          <p:cNvCxnSpPr>
            <a:cxnSpLocks/>
          </p:cNvCxnSpPr>
          <p:nvPr/>
        </p:nvCxnSpPr>
        <p:spPr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935A7CAA-85B0-3D33-9D92-74AF00456FDE}"/>
              </a:ext>
            </a:extLst>
          </p:cNvPr>
          <p:cNvCxnSpPr>
            <a:cxnSpLocks/>
          </p:cNvCxnSpPr>
          <p:nvPr/>
        </p:nvCxnSpPr>
        <p:spPr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Текст 8">
            <a:extLst>
              <a:ext uri="{FF2B5EF4-FFF2-40B4-BE49-F238E27FC236}">
                <a16:creationId xmlns:a16="http://schemas.microsoft.com/office/drawing/2014/main" id="{DE3DBF43-8386-18C6-2DBB-93FBC617A211}"/>
              </a:ext>
            </a:extLst>
          </p:cNvPr>
          <p:cNvSpPr txBox="1">
            <a:spLocks/>
          </p:cNvSpPr>
          <p:nvPr/>
        </p:nvSpPr>
        <p:spPr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ru-RU" b="1" dirty="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1" name="Текст 8">
            <a:extLst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 txBox="1">
            <a:spLocks/>
          </p:cNvSpPr>
          <p:nvPr/>
        </p:nvSpPr>
        <p:spPr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2" name="Текст 8">
            <a:extLst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 txBox="1">
            <a:spLocks/>
          </p:cNvSpPr>
          <p:nvPr/>
        </p:nvSpPr>
        <p:spPr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75091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11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89493" y="1920927"/>
            <a:ext cx="4929861" cy="3868581"/>
          </a:xfrm>
        </p:spPr>
        <p:txBody>
          <a:bodyPr>
            <a:normAutofit/>
          </a:bodyPr>
          <a:lstStyle/>
          <a:p>
            <a:pPr>
              <a:spcBef>
                <a:spcPts val="400"/>
              </a:spcBef>
            </a:pPr>
            <a:r>
              <a:rPr lang="ru-RU" sz="1200">
                <a:solidFill>
                  <a:schemeClr val="tx1"/>
                </a:solidFill>
              </a:rPr>
              <a:t>ROS 2 Humble-узел на Python (numpy / scipy / scikit-learn) и необязательные ядра на C++</a:t>
            </a:r>
          </a:p>
          <a:p>
            <a:pPr>
              <a:spcBef>
                <a:spcPts val="400"/>
              </a:spcBef>
            </a:pPr>
            <a:r>
              <a:rPr lang="ru-RU" sz="1200">
                <a:solidFill>
                  <a:schemeClr val="tx1"/>
                </a:solidFill>
              </a:rPr>
              <a:t>Вход — PointCloud2 любого из двух наборов топик / frame_id; выход — решение GO / CAUTION / STOP / FAULT, дистанция до препятствия и «проверенно свободная» дистанция, Detection3DArray, маркеры RViz, JSON-статус</a:t>
            </a:r>
          </a:p>
          <a:p>
            <a:pPr>
              <a:spcBef>
                <a:spcPts val="400"/>
              </a:spcBef>
            </a:pPr>
            <a:r>
              <a:rPr lang="ru-RU" sz="1200">
                <a:solidFill>
                  <a:schemeClr val="tx1"/>
                </a:solidFill>
              </a:rPr>
              <a:t>В каждом кадре: автокалибровка крепления → модель пути (полотно, рельсы, ось, кривизна по стенам) → габарит 2,1 × 3,0 м + низкие объекты на рельсах → кластеры → фильтры инфраструктуры → подтверждение 0,5 с</a:t>
            </a:r>
          </a:p>
          <a:p>
            <a:pPr>
              <a:spcBef>
                <a:spcPts val="400"/>
              </a:spcBef>
            </a:pPr>
            <a:r>
              <a:rPr lang="ru-RU" sz="1200">
                <a:solidFill>
                  <a:schemeClr val="tx1"/>
                </a:solidFill>
              </a:rPr>
              <a:t>42–64 мс на кадр (p95 ≤ 78 мс) на одном ядре; ядра на C++ сокращают время детектора на 38–57 %, выход тот же</a:t>
            </a:r>
          </a:p>
          <a:p>
            <a:pPr>
              <a:spcBef>
                <a:spcPts val="400"/>
              </a:spcBef>
            </a:pPr>
            <a:r>
              <a:rPr lang="ru-RU" sz="1200">
                <a:solidFill>
                  <a:schemeClr val="tx1"/>
                </a:solidFill>
              </a:rPr>
              <a:t>Все 13 759 реальных кадров: человек на пути найден в 58 из 61 кадров, 3,5 ложных события на км поездки</a:t>
            </a:r>
          </a:p>
          <a:p>
            <a:pPr>
              <a:spcBef>
                <a:spcPts val="400"/>
              </a:spcBef>
            </a:pPr>
            <a:r>
              <a:rPr lang="ru-RU" sz="1200">
                <a:solidFill>
                  <a:schemeClr val="tx1"/>
                </a:solidFill>
              </a:rPr>
              <a:t>Только CPU: GPU оценили и не берём — выигрыш ≤ 30–45 мс на кадр, а контейнер с GPU не стартует без nvidia-container-toolkit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513513" y="1920927"/>
            <a:ext cx="4957144" cy="3876445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buNone/>
            </a:pPr>
            <a:r>
              <a:rPr lang="ru-RU" sz="1200" b="1">
                <a:solidFill>
                  <a:schemeClr val="tx1"/>
                </a:solidFill>
              </a:rPr>
              <a:t>Применение:</a:t>
            </a:r>
            <a:r>
              <a:rPr lang="ru-RU" sz="1200">
                <a:solidFill>
                  <a:schemeClr val="tx1"/>
                </a:solidFill>
              </a:rPr>
              <a:t xml:space="preserve"> «взгляд вперёд» для беспилотного поезда (GoA3/4) и хозяйственных поездов; контроль габарита при обкатке линий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ru-RU" sz="1200" b="1">
                <a:solidFill>
                  <a:schemeClr val="tx1"/>
                </a:solidFill>
              </a:rPr>
              <a:t>Развитие:</a:t>
            </a:r>
            <a:r>
              <a:rPr lang="ru-RU" sz="1200">
                <a:solidFill>
                  <a:schemeClr val="tx1"/>
                </a:solidFill>
              </a:rPr>
              <a:t xml:space="preserve"> скорость поезда от одометрии — узел её уже принимает (своя оценка по лидару: ошибка 0,07 м/с, пока опция); опора высоты по своду тоннеля — мелкие объекты дальше 100 м; «второе мнение» на реальных препятствиях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ru-RU" sz="1200" b="1">
                <a:solidFill>
                  <a:schemeClr val="tx1"/>
                </a:solidFill>
              </a:rPr>
              <a:t>Внедрение:</a:t>
            </a:r>
            <a:r>
              <a:rPr lang="ru-RU" sz="1200">
                <a:solidFill>
                  <a:schemeClr val="tx1"/>
                </a:solidFill>
              </a:rPr>
              <a:t xml:space="preserve"> docker load → docker run → ros2 bag play; один файл параметров; стандартные сообщения ROS 2 — стыкуется с системой торможения без переделки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56851"/>
            <a:ext cx="9862734" cy="376138"/>
          </a:xfrm>
        </p:spPr>
        <p:txBody>
          <a:bodyPr/>
          <a:lstStyle/>
          <a:p>
            <a:r>
              <a:rPr lang="ru-RU" dirty="0"/>
              <a:t>КОРОТКО О РЕШЕНИИ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Техническая суть решения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Маркетинговая суть решения</a:t>
            </a:r>
          </a:p>
          <a:p>
            <a:pPr>
              <a:lnSpc>
                <a:spcPct val="100000"/>
              </a:lnSpc>
            </a:pPr>
            <a:endParaRPr lang="ru-RU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41B6129-4E5A-20E2-763B-F5010C6110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8974761F-D4F8-560C-B069-01DF6B0C0103}"/>
              </a:ext>
            </a:extLst>
          </p:cNvPr>
          <p:cNvSpPr/>
          <p:nvPr/>
        </p:nvSpPr>
        <p:spPr>
          <a:xfrm>
            <a:off x="0" y="0"/>
            <a:ext cx="6456363" cy="68580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9" name="Объект 28">
            <a:extLst>
              <a:ext uri="{FF2B5EF4-FFF2-40B4-BE49-F238E27FC236}">
                <a16:creationId xmlns:a16="http://schemas.microsoft.com/office/drawing/2014/main" id="{02AA36D4-0DFA-1A2E-6B29-8BA1BF5F96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133" y="1263123"/>
            <a:ext cx="5574868" cy="4937652"/>
          </a:xfrm>
        </p:spPr>
        <p:txBody>
          <a:bodyPr/>
          <a:lstStyle/>
          <a:p>
            <a:pPr>
              <a:spcBef>
                <a:spcPts val="800"/>
              </a:spcBef>
            </a:pPr>
            <a:r>
              <a:rPr lang="ru-RU" b="1" sz="1300">
                <a:solidFill>
                  <a:schemeClr val="tx1"/>
                </a:solidFill>
              </a:rPr>
              <a:t>13 759 кадров</a:t>
            </a:r>
            <a:r>
              <a:rPr lang="ru-RU" sz="1300">
                <a:solidFill>
                  <a:schemeClr val="tx1"/>
                </a:solidFill>
              </a:rPr>
              <a:t xml:space="preserve"> — 6 записей (2 488) и 20-минутная поездка (11 271 кадр, 13 км, 7 остановок, кривые до R ≈ 350 м)</a:t>
            </a:r>
          </a:p>
          <a:p>
            <a:pPr>
              <a:spcBef>
                <a:spcPts val="800"/>
              </a:spcBef>
            </a:pPr>
            <a:r>
              <a:rPr lang="ru-RU" b="1" sz="1300">
                <a:solidFill>
                  <a:schemeClr val="tx1"/>
                </a:solidFill>
              </a:rPr>
              <a:t>Hesai Pandar128</a:t>
            </a:r>
            <a:r>
              <a:rPr lang="ru-RU" sz="1300">
                <a:solidFill>
                  <a:schemeClr val="tx1"/>
                </a:solidFill>
              </a:rPr>
              <a:t>, 10 Гц, ~190 тыс. точек в кадре: стены видны на 150–200 м, полотно — до ~100 м</a:t>
            </a:r>
          </a:p>
          <a:p>
            <a:pPr>
              <a:spcBef>
                <a:spcPts val="800"/>
              </a:spcBef>
            </a:pPr>
            <a:r>
              <a:rPr lang="ru-RU" b="1" sz="1300">
                <a:solidFill>
                  <a:schemeClr val="tx1"/>
                </a:solidFill>
              </a:rPr>
              <a:t>~210 м — предел отражений в тоннеле:</a:t>
            </a:r>
            <a:r>
              <a:rPr lang="ru-RU" sz="1300">
                <a:solidFill>
                  <a:schemeClr val="tx1"/>
                </a:solidFill>
              </a:rPr>
              <a:t xml:space="preserve"> каждая запись обрывается на 209–210 м, дальше нет ни одной точки (паспорт: 200 м при 10 % отражения)</a:t>
            </a:r>
          </a:p>
          <a:p>
            <a:pPr>
              <a:spcBef>
                <a:spcPts val="800"/>
              </a:spcBef>
            </a:pPr>
            <a:r>
              <a:rPr lang="ru-RU" sz="1300">
                <a:solidFill>
                  <a:schemeClr val="tx1"/>
                </a:solidFill>
              </a:rPr>
              <a:t>Объект 0,5 м даёт ~7 точек на 100 м и 1–2 точки на 200 м</a:t>
            </a:r>
          </a:p>
          <a:p>
            <a:pPr>
              <a:spcBef>
                <a:spcPts val="800"/>
              </a:spcBef>
            </a:pPr>
            <a:r>
              <a:rPr lang="ru-RU" sz="1300">
                <a:solidFill>
                  <a:schemeClr val="tx1"/>
                </a:solidFill>
              </a:rPr>
              <a:t>Реальные препятствия: человек и предмет на рельсе в записи doubleT_obstacle; всё остальное — синтетика в реальных кадрах, каждое число помечено</a:t>
            </a: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4CAD271A-25D6-5986-96AF-8705ED30C1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12</a:t>
            </a:fld>
            <a:endParaRPr lang="ru-RU" dirty="0"/>
          </a:p>
        </p:txBody>
      </p:sp>
      <p:sp>
        <p:nvSpPr>
          <p:cNvPr id="28" name="Заголовок 27">
            <a:extLst>
              <a:ext uri="{FF2B5EF4-FFF2-40B4-BE49-F238E27FC236}">
                <a16:creationId xmlns:a16="http://schemas.microsoft.com/office/drawing/2014/main" id="{EA3A5BFD-C872-ACEC-AC6D-6D57CA4340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7444" y="395288"/>
            <a:ext cx="5574868" cy="425729"/>
          </a:xfrm>
        </p:spPr>
        <p:txBody>
          <a:bodyPr/>
          <a:lstStyle/>
          <a:p>
            <a:pPr/>
            <a:r>
              <a:rPr lang="ru-RU" sz="2000">
                <a:solidFill>
                  <a:schemeClr val="accent5"/>
                </a:solidFill>
              </a:rPr>
              <a:t>ДАННЫЕ И СЕНСОР</a:t>
            </a:r>
          </a:p>
        </p:txBody>
      </p:sp>
    </p:spTree>
    <p:extLst>
      <p:ext uri="{BB962C8B-B14F-4D97-AF65-F5344CB8AC3E}">
        <p14:creationId xmlns:p14="http://schemas.microsoft.com/office/powerpoint/2010/main" val="18307153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AE39BFA-C414-3731-3F05-E28FB015D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6080F467-69D9-0742-2978-0590E2BF440F}"/>
              </a:ext>
            </a:extLst>
          </p:cNvPr>
          <p:cNvSpPr/>
          <p:nvPr/>
        </p:nvSpPr>
        <p:spPr>
          <a:xfrm>
            <a:off x="325170" y="1304256"/>
            <a:ext cx="11541659" cy="5052102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D48EA9B5-E41A-C397-3CFE-F967E98FC7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13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F975DC-7FFC-8C16-7A6D-78D26FCBD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104" y="414049"/>
            <a:ext cx="5994696" cy="552061"/>
          </a:xfrm>
        </p:spPr>
        <p:txBody>
          <a:bodyPr/>
          <a:lstStyle/>
          <a:p>
            <a:pPr/>
            <a:r>
              <a:rPr lang="ru-RU" sz="3600">
                <a:solidFill>
                  <a:schemeClr val="bg1"/>
                </a:solidFill>
              </a:rPr>
              <a:t>ГЛАВНЫЙ КАДР</a:t>
            </a:r>
          </a:p>
        </p:txBody>
      </p:sp>
      <p:pic>
        <p:nvPicPr>
          <p:cNvPr id="22" name="Picture 21" descr="image.jpg"/>
          <p:cNvPicPr>
            <a:picLocks noChangeAspect="1"/>
          </p:cNvPicPr>
          <p:nvPr/>
        </p:nvPicPr>
        <p:blipFill>
          <a:blip r:embed="rId3"/>
          <a:srcRect l="0" r="0"/>
          <a:stretch>
            <a:fillRect/>
          </a:stretch>
        </p:blipFill>
        <p:spPr>
          <a:xfrm>
            <a:off x="495170" y="1474256"/>
            <a:ext cx="8377070" cy="471210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072240" y="1474256"/>
            <a:ext cx="2624589" cy="471210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lang="ru-RU" b="1" sz="1400">
                <a:solidFill>
                  <a:srgbClr val="520978"/>
                </a:solidFill>
              </a:rPr>
              <a:t>Реальная запись организаторов</a:t>
            </a:r>
          </a:p>
          <a:p>
            <a:pPr>
              <a:spcBef>
                <a:spcPts val="1000"/>
              </a:spcBef>
            </a:pPr>
            <a:r>
              <a:rPr lang="ru-RU" sz="1200">
                <a:solidFill>
                  <a:srgbClr val="1C1D22"/>
                </a:solidFill>
              </a:rPr>
              <a:t>Человек переходит путь на 55–57 м</a:t>
            </a:r>
          </a:p>
          <a:p>
            <a:pPr>
              <a:spcBef>
                <a:spcPts val="800"/>
              </a:spcBef>
            </a:pPr>
            <a:r>
              <a:rPr lang="ru-RU" sz="1200">
                <a:solidFill>
                  <a:srgbClr val="1C1D22"/>
                </a:solidFill>
              </a:rPr>
              <a:t xml:space="preserve">Найден в </a:t>
            </a:r>
            <a:r>
              <a:rPr lang="ru-RU" b="1" sz="1200">
                <a:solidFill>
                  <a:srgbClr val="1C1D22"/>
                </a:solidFill>
              </a:rPr>
              <a:t>58 из 61</a:t>
            </a:r>
            <a:r>
              <a:rPr lang="ru-RU" sz="1200">
                <a:solidFill>
                  <a:srgbClr val="1C1D22"/>
                </a:solidFill>
              </a:rPr>
              <a:t xml:space="preserve"> кадров внутри габарита</a:t>
            </a:r>
          </a:p>
          <a:p>
            <a:pPr>
              <a:spcBef>
                <a:spcPts val="800"/>
              </a:spcBef>
            </a:pPr>
            <a:r>
              <a:rPr lang="ru-RU" sz="1200">
                <a:solidFill>
                  <a:srgbClr val="1C1D22"/>
                </a:solidFill>
              </a:rPr>
              <a:t>Тревога через 0,3 с после входа в габарит</a:t>
            </a:r>
          </a:p>
          <a:p>
            <a:pPr>
              <a:spcBef>
                <a:spcPts val="800"/>
              </a:spcBef>
            </a:pPr>
            <a:r>
              <a:rPr lang="ru-RU" sz="1200">
                <a:solidFill>
                  <a:srgbClr val="1C1D22"/>
                </a:solidFill>
              </a:rPr>
              <a:t>Ошибка дальности ≤ 0,23 м</a:t>
            </a:r>
          </a:p>
          <a:p>
            <a:pPr>
              <a:spcBef>
                <a:spcPts val="800"/>
              </a:spcBef>
            </a:pPr>
            <a:r>
              <a:rPr lang="ru-RU" sz="1200">
                <a:solidFill>
                  <a:srgbClr val="1C1D22"/>
                </a:solidFill>
              </a:rPr>
              <a:t xml:space="preserve">Предмет на рельсе — в </a:t>
            </a:r>
            <a:r>
              <a:rPr lang="ru-RU" b="1" sz="1200">
                <a:solidFill>
                  <a:srgbClr val="1C1D22"/>
                </a:solidFill>
              </a:rPr>
              <a:t>125 из 126</a:t>
            </a:r>
            <a:r>
              <a:rPr lang="ru-RU" sz="1200">
                <a:solidFill>
                  <a:srgbClr val="1C1D22"/>
                </a:solidFill>
              </a:rPr>
              <a:t xml:space="preserve"> кадров после ухода человека</a:t>
            </a:r>
          </a:p>
        </p:txBody>
      </p:sp>
    </p:spTree>
    <p:extLst>
      <p:ext uri="{BB962C8B-B14F-4D97-AF65-F5344CB8AC3E}">
        <p14:creationId xmlns:p14="http://schemas.microsoft.com/office/powerpoint/2010/main" val="23204032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A0664B9-F30D-B51A-EC08-2389E212D2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5">
            <a:extLst>
              <a:ext uri="{FF2B5EF4-FFF2-40B4-BE49-F238E27FC236}">
                <a16:creationId xmlns:a16="http://schemas.microsoft.com/office/drawing/2014/main" id="{80060758-64A6-F41E-1825-51ECED521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90" y="370426"/>
            <a:ext cx="5562510" cy="442374"/>
          </a:xfrm>
        </p:spPr>
        <p:txBody>
          <a:bodyPr/>
          <a:lstStyle/>
          <a:p>
            <a:pPr/>
            <a:r>
              <a:rPr lang="ru-RU" sz="2000">
                <a:solidFill>
                  <a:schemeClr val="accent5"/>
                </a:solidFill>
              </a:rPr>
              <a:t>СЛОЖНЫЕ СЛУЧАИ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52DB1C19-1756-5691-5F80-177F3A79D35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21133" y="1695025"/>
            <a:ext cx="11200000" cy="712587"/>
          </a:xfrm>
        </p:spPr>
        <p:txBody>
          <a:bodyPr/>
          <a:lstStyle/>
          <a:p>
            <a:pPr marL="0" indent="0">
              <a:buNone/>
            </a:pPr>
            <a:r>
              <a:rPr lang="ru-RU" b="1" sz="1300">
                <a:solidFill>
                  <a:schemeClr val="tx1"/>
                </a:solidFill>
              </a:rPr>
              <a:t>Полотно полно предметов.</a:t>
            </a:r>
            <a:r>
              <a:rPr lang="ru-RU" sz="1300">
                <a:solidFill>
                  <a:schemeClr val="tx1"/>
                </a:solidFill>
              </a:rPr>
              <a:t xml:space="preserve"> «Всё выше полотна» — 1 482 ложных события за 20 мин; порог «≥ 3 см над головкой рельса + 0,5 с» — единицы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40CC1337-8037-C8D6-4F63-245C2AF4E7A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21133" y="2552035"/>
            <a:ext cx="11200000" cy="712587"/>
          </a:xfrm>
        </p:spPr>
        <p:txBody>
          <a:bodyPr/>
          <a:lstStyle/>
          <a:p>
            <a:pPr marL="0" indent="0">
              <a:buNone/>
            </a:pPr>
            <a:r>
              <a:rPr lang="ru-RU" b="1" sz="1300">
                <a:solidFill>
                  <a:schemeClr val="tx1"/>
                </a:solidFill>
              </a:rPr>
              <a:t>Предмет на рельсе делился на две ступени.</a:t>
            </a:r>
            <a:r>
              <a:rPr lang="ru-RU" sz="1300">
                <a:solidFill>
                  <a:schemeClr val="tx1"/>
                </a:solidFill>
              </a:rPr>
              <a:t xml:space="preserve"> Верх на 0,10–0,15 м — между ступенью низких объектов и габаритом; кластеризуем его целиком: 2 → 125 из 126 кадров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35A27D79-7CA2-000D-5EC5-DB6887DB4E4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21133" y="3409044"/>
            <a:ext cx="11200000" cy="712587"/>
          </a:xfrm>
        </p:spPr>
        <p:txBody>
          <a:bodyPr/>
          <a:lstStyle/>
          <a:p>
            <a:pPr marL="0" indent="0">
              <a:buNone/>
            </a:pPr>
            <a:r>
              <a:rPr lang="ru-RU" b="1" sz="1300">
                <a:solidFill>
                  <a:schemeClr val="tx1"/>
                </a:solidFill>
              </a:rPr>
              <a:t>Станции и стрелки.</a:t>
            </a:r>
            <a:r>
              <a:rPr lang="ru-RU" sz="1300">
                <a:solidFill>
                  <a:schemeClr val="tx1"/>
                </a:solidFill>
              </a:rPr>
              <a:t xml:space="preserve"> Край платформы и конструкции у торца — главный источник ложных остановок; без рельсов в ближней зоне дальше 40 м — только предупреждение</a:t>
            </a: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49701722-A703-6CF6-2014-059F040DC58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21133" y="4266053"/>
            <a:ext cx="11200000" cy="712587"/>
          </a:xfrm>
        </p:spPr>
        <p:txBody>
          <a:bodyPr/>
          <a:lstStyle/>
          <a:p>
            <a:pPr marL="0" indent="0">
              <a:buNone/>
            </a:pPr>
            <a:r>
              <a:rPr lang="ru-RU" b="1" sz="1300">
                <a:solidFill>
                  <a:schemeClr val="tx1"/>
                </a:solidFill>
              </a:rPr>
              <a:t>Дальше 100 м — 1–5 точек на объект.</a:t>
            </a:r>
            <a:r>
              <a:rPr lang="ru-RU" sz="1300">
                <a:solidFill>
                  <a:schemeClr val="tx1"/>
                </a:solidFill>
              </a:rPr>
              <a:t xml:space="preserve"> Высокие объекты — по дальнему правилу до ~150 м; мелкие (&lt; 0,6 м) — ближе: кубы 0,3 м организаторов — только с 43–53 м (на 60–115 м — 2–4 точки)</a:t>
            </a:r>
          </a:p>
        </p:txBody>
      </p:sp>
      <p:sp>
        <p:nvSpPr>
          <p:cNvPr id="12" name="Текст 11">
            <a:extLst>
              <a:ext uri="{FF2B5EF4-FFF2-40B4-BE49-F238E27FC236}">
                <a16:creationId xmlns:a16="http://schemas.microsoft.com/office/drawing/2014/main" id="{DE50EEA6-DEC5-5666-7D6D-27F8E37664B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21133" y="5123063"/>
            <a:ext cx="11200000" cy="712587"/>
          </a:xfrm>
        </p:spPr>
        <p:txBody>
          <a:bodyPr/>
          <a:lstStyle/>
          <a:p>
            <a:pPr marL="0" indent="0">
              <a:buNone/>
            </a:pPr>
            <a:r>
              <a:rPr lang="ru-RU" b="1" sz="1300">
                <a:solidFill>
                  <a:schemeClr val="tx1"/>
                </a:solidFill>
              </a:rPr>
              <a:t>Объекты организаторов у края и тонкие.</a:t>
            </a:r>
            <a:r>
              <a:rPr lang="ru-RU" sz="1300">
                <a:solidFill>
                  <a:schemeClr val="tx1"/>
                </a:solidFill>
              </a:rPr>
              <a:t xml:space="preserve"> Ящик 2 × 2 м у края — STOP лишь с 10 м (6 кадров): их объекты стоят от оси лидара (−0,24° к рельсам), наш габарит — от рельсов; висящий предмет 5 см — STOP только с 30 м</a:t>
            </a: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311126D8-C4EA-ED36-FA09-D0ED6388C8B6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441475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15</a:t>
            </a:fld>
            <a:endParaRPr lang="ru-RU" dirty="0">
              <a:solidFill>
                <a:schemeClr val="accent5"/>
              </a:solidFill>
            </a:endParaRPr>
          </a:p>
        </p:txBody>
      </p:sp>
      <p:cxnSp>
        <p:nvCxnSpPr>
          <p:cNvPr id="2" name="Прямая соединительная линия 1">
            <a:extLst>
              <a:ext uri="{FF2B5EF4-FFF2-40B4-BE49-F238E27FC236}">
                <a16:creationId xmlns:a16="http://schemas.microsoft.com/office/drawing/2014/main" id="{C40756DD-053E-22C9-6492-BAE6C92C555E}"/>
              </a:ext>
            </a:extLst>
          </p:cNvPr>
          <p:cNvCxnSpPr>
            <a:cxnSpLocks/>
          </p:cNvCxnSpPr>
          <p:nvPr/>
        </p:nvCxnSpPr>
        <p:spPr>
          <a:xfrm>
            <a:off x="521133" y="1604660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00DEE536-8C7E-5FF9-89E1-82A9988D844D}"/>
              </a:ext>
            </a:extLst>
          </p:cNvPr>
          <p:cNvCxnSpPr>
            <a:cxnSpLocks/>
          </p:cNvCxnSpPr>
          <p:nvPr/>
        </p:nvCxnSpPr>
        <p:spPr>
          <a:xfrm>
            <a:off x="521133" y="246553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3" name="Прямая соединительная линия 12">
            <a:extLst>
              <a:ext uri="{FF2B5EF4-FFF2-40B4-BE49-F238E27FC236}">
                <a16:creationId xmlns:a16="http://schemas.microsoft.com/office/drawing/2014/main" id="{7E52340B-BDE2-4108-BF09-DF1807F1208F}"/>
              </a:ext>
            </a:extLst>
          </p:cNvPr>
          <p:cNvCxnSpPr>
            <a:cxnSpLocks/>
          </p:cNvCxnSpPr>
          <p:nvPr/>
        </p:nvCxnSpPr>
        <p:spPr>
          <a:xfrm>
            <a:off x="521133" y="334286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" name="Прямая соединительная линия 13">
            <a:extLst>
              <a:ext uri="{FF2B5EF4-FFF2-40B4-BE49-F238E27FC236}">
                <a16:creationId xmlns:a16="http://schemas.microsoft.com/office/drawing/2014/main" id="{9D24F87D-A790-746E-F6AE-485B863A9B3E}"/>
              </a:ext>
            </a:extLst>
          </p:cNvPr>
          <p:cNvCxnSpPr>
            <a:cxnSpLocks/>
          </p:cNvCxnSpPr>
          <p:nvPr/>
        </p:nvCxnSpPr>
        <p:spPr>
          <a:xfrm>
            <a:off x="521133" y="418312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5" name="Прямая соединительная линия 14">
            <a:extLst>
              <a:ext uri="{FF2B5EF4-FFF2-40B4-BE49-F238E27FC236}">
                <a16:creationId xmlns:a16="http://schemas.microsoft.com/office/drawing/2014/main" id="{319081A8-2E23-9ED5-DAF3-7F8B5653DD5D}"/>
              </a:ext>
            </a:extLst>
          </p:cNvPr>
          <p:cNvCxnSpPr>
            <a:cxnSpLocks/>
          </p:cNvCxnSpPr>
          <p:nvPr/>
        </p:nvCxnSpPr>
        <p:spPr>
          <a:xfrm>
            <a:off x="521133" y="5048098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797936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8EE648F1-70BD-354A-6DAE-07E6E3044DC8}"/>
              </a:ext>
            </a:extLst>
          </p:cNvPr>
          <p:cNvSpPr/>
          <p:nvPr/>
        </p:nvSpPr>
        <p:spPr>
          <a:xfrm>
            <a:off x="3288425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5" name="Скругленный прямоугольник 24">
            <a:extLst>
              <a:ext uri="{FF2B5EF4-FFF2-40B4-BE49-F238E27FC236}">
                <a16:creationId xmlns:a16="http://schemas.microsoft.com/office/drawing/2014/main" id="{9B320FD4-0F75-8FB9-F799-AFA2CA575375}"/>
              </a:ext>
            </a:extLst>
          </p:cNvPr>
          <p:cNvSpPr/>
          <p:nvPr/>
        </p:nvSpPr>
        <p:spPr>
          <a:xfrm>
            <a:off x="9173123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0B115FEC-D79C-233C-419E-0B0BE3EB4A02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20913" y="2339783"/>
            <a:ext cx="2284071" cy="423628"/>
          </a:xfrm>
        </p:spPr>
        <p:txBody>
          <a:bodyPr/>
          <a:lstStyle/>
          <a:p>
            <a:pPr/>
            <a:r>
              <a:rPr lang="ru-RU" sz="1500">
                <a:solidFill>
                  <a:srgbClr val="F92571"/>
                </a:solidFill>
              </a:rPr>
              <a:t>Любое крепление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20913" y="3128740"/>
            <a:ext cx="2284071" cy="2797928"/>
          </a:xfrm>
        </p:spPr>
        <p:txBody>
          <a:bodyPr/>
          <a:lstStyle/>
          <a:p>
            <a:pPr/>
            <a:r>
              <a:rPr lang="ru-RU" sz="1200">
                <a:solidFill>
                  <a:schemeClr val="tx1"/>
                </a:solidFill>
              </a:rPr>
              <a:t>8 ориентаций, крен и тангаж по рельсам и полотну; проверено на повёрнутых реальных кадрах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2670742-0112-ABA9-7C47-FE6D64A30A91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3457903" y="2373557"/>
            <a:ext cx="2337416" cy="403756"/>
          </a:xfrm>
        </p:spPr>
        <p:txBody>
          <a:bodyPr/>
          <a:lstStyle/>
          <a:p>
            <a:pPr/>
            <a:r>
              <a:rPr lang="ru-RU" sz="1500">
                <a:solidFill>
                  <a:srgbClr val="F92571"/>
                </a:solidFill>
              </a:rPr>
              <a:t>Монитор исправности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A5C658C-1FD4-CD12-D517-15F6F46CFE3C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3457903" y="3134070"/>
            <a:ext cx="2337416" cy="2797928"/>
          </a:xfrm>
        </p:spPr>
        <p:txBody>
          <a:bodyPr/>
          <a:lstStyle/>
          <a:p>
            <a:pPr/>
            <a:r>
              <a:rPr lang="ru-RU" sz="1200">
                <a:solidFill>
                  <a:schemeClr val="tx1"/>
                </a:solidFill>
              </a:rPr>
              <a:t>ошибки входа → FAULT; задержка → предупреждение без смены решения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4FAFE374-953E-0336-76DE-D143BB9C6451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6456363" y="2379657"/>
            <a:ext cx="2268537" cy="403913"/>
          </a:xfrm>
        </p:spPr>
        <p:txBody>
          <a:bodyPr/>
          <a:lstStyle/>
          <a:p>
            <a:pPr/>
            <a:r>
              <a:rPr lang="ru-RU" sz="1500">
                <a:solidFill>
                  <a:srgbClr val="F92571"/>
                </a:solidFill>
              </a:rPr>
              <a:t>Любой вход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456363" y="3136604"/>
            <a:ext cx="2268537" cy="2797928"/>
          </a:xfrm>
        </p:spPr>
        <p:txBody>
          <a:bodyPr/>
          <a:lstStyle/>
          <a:p>
            <a:pPr/>
            <a:r>
              <a:rPr lang="ru-RU" sz="1200">
                <a:solidFill>
                  <a:schemeClr val="tx1"/>
                </a:solidFill>
              </a:rPr>
              <a:t>оба набора топик / frame_id, поиск топика, перезапуск на новой записи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68E32729-5FCC-21EA-16FD-CEF0C8FAABAA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9407534" y="2339783"/>
            <a:ext cx="2263553" cy="423628"/>
          </a:xfrm>
        </p:spPr>
        <p:txBody>
          <a:bodyPr/>
          <a:lstStyle/>
          <a:p>
            <a:pPr/>
            <a:r>
              <a:rPr lang="ru-RU" sz="1500">
                <a:solidFill>
                  <a:srgbClr val="F92571"/>
                </a:solidFill>
              </a:rPr>
              <a:t>Воспроизводимо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6A6BF68-6470-CE0D-3E5F-0B15EDDCA14B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9407534" y="3128739"/>
            <a:ext cx="2263553" cy="2797928"/>
          </a:xfrm>
        </p:spPr>
        <p:txBody>
          <a:bodyPr/>
          <a:lstStyle/>
          <a:p>
            <a:pPr/>
            <a:r>
              <a:rPr lang="ru-RU" sz="1200">
                <a:solidFill>
                  <a:schemeClr val="tx1"/>
                </a:solidFill>
              </a:rPr>
              <a:t>587 тестов на путях numpy и C++ (выход совпадает бит в бит); CI собирает образ и проигрывает бэги через узел; цепочка организаторов прогнана в Docker на реальных записях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НАДЁЖНОСТЬ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20913" y="1772416"/>
            <a:ext cx="771003" cy="423628"/>
          </a:xfrm>
        </p:spPr>
        <p:txBody>
          <a:bodyPr/>
          <a:lstStyle/>
          <a:p>
            <a:pPr/>
            <a:r>
              <a:rPr lang="ru-RU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DE8FDF14-E7C8-6EE3-EBD8-B5DDE4F7F60B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3449944" y="1766200"/>
            <a:ext cx="771003" cy="403756"/>
          </a:xfrm>
        </p:spPr>
        <p:txBody>
          <a:bodyPr/>
          <a:lstStyle/>
          <a:p>
            <a:pPr/>
            <a:r>
              <a:rPr lang="ru-RU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456363" y="1766043"/>
            <a:ext cx="771003" cy="403913"/>
          </a:xfrm>
        </p:spPr>
        <p:txBody>
          <a:bodyPr/>
          <a:lstStyle/>
          <a:p>
            <a:pPr/>
            <a:r>
              <a:rPr lang="ru-RU">
                <a:solidFill>
                  <a:schemeClr val="accent5"/>
                </a:solidFill>
              </a:rPr>
              <a:t>03</a:t>
            </a:r>
          </a:p>
        </p:txBody>
      </p:sp>
      <p:sp>
        <p:nvSpPr>
          <p:cNvPr id="18" name="Текст 17">
            <a:extLst>
              <a:ext uri="{FF2B5EF4-FFF2-40B4-BE49-F238E27FC236}">
                <a16:creationId xmlns:a16="http://schemas.microsoft.com/office/drawing/2014/main" id="{59F6129C-95BA-0836-7395-00F4830237D5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9407534" y="1772416"/>
            <a:ext cx="771003" cy="423628"/>
          </a:xfrm>
        </p:spPr>
        <p:txBody>
          <a:bodyPr/>
          <a:lstStyle/>
          <a:p>
            <a:pPr/>
            <a:r>
              <a:rPr lang="ru-RU">
                <a:solidFill>
                  <a:schemeClr val="accent5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73911422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62BB59-6E27-43D2-BF3A-1879F75EA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8587F3BD-E802-93BD-3D32-FDF202FEA64D}"/>
              </a:ext>
            </a:extLst>
          </p:cNvPr>
          <p:cNvSpPr/>
          <p:nvPr/>
        </p:nvSpPr>
        <p:spPr>
          <a:xfrm>
            <a:off x="4419477" y="1522006"/>
            <a:ext cx="3399397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Скругленный прямоугольник 8">
            <a:extLst>
              <a:ext uri="{FF2B5EF4-FFF2-40B4-BE49-F238E27FC236}">
                <a16:creationId xmlns:a16="http://schemas.microsoft.com/office/drawing/2014/main" id="{B6016C66-2F45-3093-7675-966377141ADD}"/>
              </a:ext>
            </a:extLst>
          </p:cNvPr>
          <p:cNvSpPr/>
          <p:nvPr/>
        </p:nvSpPr>
        <p:spPr>
          <a:xfrm>
            <a:off x="836595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A68CA47-326C-A498-C456-623193EF0FFA}"/>
              </a:ext>
            </a:extLst>
          </p:cNvPr>
          <p:cNvSpPr/>
          <p:nvPr/>
        </p:nvSpPr>
        <p:spPr>
          <a:xfrm>
            <a:off x="62388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E769D24B-D4D8-3322-BCAB-77138E0270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17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5DF4935E-10E9-5CA8-85EF-08A77383EBE6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780565" y="2493074"/>
            <a:ext cx="2965634" cy="423628"/>
          </a:xfrm>
        </p:spPr>
        <p:txBody>
          <a:bodyPr/>
          <a:lstStyle/>
          <a:p>
            <a:pPr/>
            <a:r>
              <a:rPr lang="ru-RU" sz="1600">
                <a:solidFill>
                  <a:srgbClr val="F92571"/>
                </a:solidFill>
              </a:rPr>
              <a:t>Что получилось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63156EE-B99A-3E1C-1DFF-C779A3E1B5D8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780565" y="3128740"/>
            <a:ext cx="2965633" cy="2797928"/>
          </a:xfrm>
        </p:spPr>
        <p:txBody>
          <a:bodyPr/>
          <a:lstStyle/>
          <a:p>
            <a:pPr/>
            <a:r>
              <a:rPr lang="ru-RU" sz="1300">
                <a:solidFill>
                  <a:schemeClr val="tx1"/>
                </a:solidFill>
              </a:rPr>
              <a:t>ROS 2-модуль в Docker; все 13 759 реальных кадров: человек и предмет на рельсе найдены, 3,5 ложных события на км; ящик организаторов — с 98 м; 587 тестов и CI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5C5649E-E208-17C2-F091-5482CC2FD51B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4623178" y="2493074"/>
            <a:ext cx="3034896" cy="403756"/>
          </a:xfrm>
        </p:spPr>
        <p:txBody>
          <a:bodyPr/>
          <a:lstStyle/>
          <a:p>
            <a:pPr/>
            <a:r>
              <a:rPr lang="ru-RU" sz="1600">
                <a:solidFill>
                  <a:srgbClr val="F92571"/>
                </a:solidFill>
              </a:rPr>
              <a:t>Что дальше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B6AED36-1714-5896-5E97-ECA75EAA24C5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4623178" y="3128740"/>
            <a:ext cx="3034896" cy="2797928"/>
          </a:xfrm>
        </p:spPr>
        <p:txBody>
          <a:bodyPr/>
          <a:lstStyle/>
          <a:p>
            <a:pPr/>
            <a:r>
              <a:rPr lang="ru-RU" sz="1300">
                <a:solidFill>
                  <a:schemeClr val="tx1"/>
                </a:solidFill>
              </a:rPr>
              <a:t>мелкие объекты раньше: короткие сигнатуры инфраструктуры, опора высоты по своду тоннеля; скорость от одометрии (своя по лидару — опция); «второе мнение» на реальных препятствиях; репетиция офлайн-запуска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AB578740-7F02-5606-0701-43CBE42E6173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8547959" y="2493074"/>
            <a:ext cx="2945464" cy="403913"/>
          </a:xfrm>
        </p:spPr>
        <p:txBody>
          <a:bodyPr/>
          <a:lstStyle/>
          <a:p>
            <a:pPr/>
            <a:r>
              <a:rPr lang="ru-RU" sz="1600">
                <a:solidFill>
                  <a:srgbClr val="F92571"/>
                </a:solidFill>
              </a:rPr>
              <a:t>Внедрение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3143A847-7B5C-EA94-880E-65D8582653EB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8547959" y="3128740"/>
            <a:ext cx="2945464" cy="2797928"/>
          </a:xfrm>
        </p:spPr>
        <p:txBody>
          <a:bodyPr/>
          <a:lstStyle/>
          <a:p>
            <a:pPr/>
            <a:r>
              <a:rPr lang="ru-RU" sz="1300">
                <a:solidFill>
                  <a:schemeClr val="tx1"/>
                </a:solidFill>
              </a:rPr>
              <a:t>docker load → run → ros2 bag play; один файл параметров; стандартные сообщения ROS 2 — стыкуется с системой торможения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3842A3B-9EE0-965C-0EFA-22F6D78D2F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6" y="335426"/>
            <a:ext cx="11331221" cy="376138"/>
          </a:xfrm>
        </p:spPr>
        <p:txBody>
          <a:bodyPr/>
          <a:lstStyle/>
          <a:p>
            <a:pPr/>
            <a:r>
              <a:rPr lang="ru-RU">
                <a:solidFill>
                  <a:schemeClr val="accent5"/>
                </a:solidFill>
              </a:rPr>
              <a:t>ИТОГИ И ПЛАНЫ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DAEBED94-4F5F-339A-0CCE-082BCC33E925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780565" y="1772415"/>
            <a:ext cx="1311031" cy="601141"/>
          </a:xfrm>
        </p:spPr>
        <p:txBody>
          <a:bodyPr/>
          <a:lstStyle/>
          <a:p>
            <a:pPr/>
            <a:r>
              <a:rPr lang="ru-RU" sz="440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01B288C6-447F-2720-CB9D-6F216BD0C554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4615219" y="1766200"/>
            <a:ext cx="1311031" cy="572942"/>
          </a:xfrm>
        </p:spPr>
        <p:txBody>
          <a:bodyPr/>
          <a:lstStyle/>
          <a:p>
            <a:pPr/>
            <a:r>
              <a:rPr lang="ru-RU" sz="440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78DB70E8-1110-C23C-1E37-53138E3F8F02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8547959" y="1766043"/>
            <a:ext cx="1311031" cy="573165"/>
          </a:xfrm>
        </p:spPr>
        <p:txBody>
          <a:bodyPr/>
          <a:lstStyle/>
          <a:p>
            <a:pPr/>
            <a:r>
              <a:rPr lang="ru-RU" sz="440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311221642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E0C4469B-8AAE-7B13-015A-FD424E4F9A97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294820D9-0FE7-A2CD-6EC6-B191A0CD90DC}"/>
              </a:ext>
            </a:extLst>
          </p:cNvPr>
          <p:cNvSpPr/>
          <p:nvPr/>
        </p:nvSpPr>
        <p:spPr>
          <a:xfrm>
            <a:off x="5951744" y="1366423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7AE51F4F-C2FB-09FC-6139-35E790E33BDF}"/>
              </a:ext>
            </a:extLst>
          </p:cNvPr>
          <p:cNvSpPr/>
          <p:nvPr/>
        </p:nvSpPr>
        <p:spPr>
          <a:xfrm>
            <a:off x="5951744" y="2377094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34B52819-C376-FDAF-2B5B-09C492119CCF}"/>
              </a:ext>
            </a:extLst>
          </p:cNvPr>
          <p:cNvSpPr/>
          <p:nvPr/>
        </p:nvSpPr>
        <p:spPr>
          <a:xfrm>
            <a:off x="5951744" y="3387765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6CDADF58-3FDE-0896-F558-2E50261FFD44}"/>
              </a:ext>
            </a:extLst>
          </p:cNvPr>
          <p:cNvSpPr/>
          <p:nvPr/>
        </p:nvSpPr>
        <p:spPr>
          <a:xfrm>
            <a:off x="5951744" y="4398436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CD942BE0-7170-CE73-83AB-4505964EB89D}"/>
              </a:ext>
            </a:extLst>
          </p:cNvPr>
          <p:cNvSpPr/>
          <p:nvPr/>
        </p:nvSpPr>
        <p:spPr>
          <a:xfrm>
            <a:off x="5951744" y="5409107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5" name="Скругленный прямоугольник 14">
            <a:extLst>
              <a:ext uri="{FF2B5EF4-FFF2-40B4-BE49-F238E27FC236}">
                <a16:creationId xmlns:a16="http://schemas.microsoft.com/office/drawing/2014/main" id="{BF0860DA-9B9B-19E2-49DF-A8EDAA7C2B5F}"/>
              </a:ext>
            </a:extLst>
          </p:cNvPr>
          <p:cNvSpPr/>
          <p:nvPr/>
        </p:nvSpPr>
        <p:spPr>
          <a:xfrm>
            <a:off x="346076" y="1366423"/>
            <a:ext cx="5389562" cy="4834352"/>
          </a:xfrm>
          <a:prstGeom prst="roundRect">
            <a:avLst>
              <a:gd name="adj" fmla="val 291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C3F7DC2-0D9C-407C-98AC-5F3AD231C5C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3887" y="1732103"/>
            <a:ext cx="4734175" cy="4139307"/>
          </a:xfrm>
          <a:noFill/>
          <a:ln>
            <a:noFill/>
          </a:ln>
        </p:spPr>
        <p:txBody>
          <a:bodyPr>
            <a:normAutofit/>
          </a:bodyPr>
          <a:lstStyle/>
          <a:p>
            <a:pPr algn="l" marL="0" indent="0">
              <a:buNone/>
            </a:pPr>
            <a:r>
              <a:rPr lang="ru-RU" sz="3600" b="1">
                <a:solidFill>
                  <a:srgbClr val="FF0053"/>
                </a:solidFill>
              </a:rPr>
              <a:t>13 759</a:t>
            </a:r>
          </a:p>
          <a:p>
            <a:pPr algn="l" marL="0" indent="0">
              <a:buNone/>
            </a:pPr>
            <a:r>
              <a:rPr lang="ru-RU" sz="1300">
                <a:solidFill>
                  <a:srgbClr val="1C1D22"/>
                </a:solidFill>
              </a:rPr>
              <a:t>реальных кадров прогнаны целиком</a:t>
            </a:r>
          </a:p>
          <a:p>
            <a:pPr algn="l" marL="0" indent="0">
              <a:spcBef>
                <a:spcPts val="1400"/>
              </a:spcBef>
              <a:buNone/>
            </a:pPr>
            <a:r>
              <a:rPr lang="ru-RU" sz="3600" b="1">
                <a:solidFill>
                  <a:srgbClr val="FF0053"/>
                </a:solidFill>
              </a:rPr>
              <a:t>58 из 61</a:t>
            </a:r>
          </a:p>
          <a:p>
            <a:pPr algn="l" marL="0" indent="0">
              <a:buNone/>
            </a:pPr>
            <a:r>
              <a:rPr lang="ru-RU" sz="1300">
                <a:solidFill>
                  <a:srgbClr val="1C1D22"/>
                </a:solidFill>
              </a:rPr>
              <a:t>кадров с человеком на пути — тревога</a:t>
            </a:r>
          </a:p>
          <a:p>
            <a:pPr algn="l" marL="0" indent="0">
              <a:spcBef>
                <a:spcPts val="1400"/>
              </a:spcBef>
              <a:buNone/>
            </a:pPr>
            <a:r>
              <a:rPr lang="ru-RU" sz="3600" b="1">
                <a:solidFill>
                  <a:srgbClr val="FF0053"/>
                </a:solidFill>
              </a:rPr>
              <a:t>3,5 на км</a:t>
            </a:r>
          </a:p>
          <a:p>
            <a:pPr algn="l" marL="0" indent="0">
              <a:buNone/>
            </a:pPr>
            <a:r>
              <a:rPr lang="ru-RU" sz="1300">
                <a:solidFill>
                  <a:srgbClr val="1C1D22"/>
                </a:solidFill>
              </a:rPr>
              <a:t>ложных событий в поездке (45 за 13 км)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8A2E8600-6DC7-42A4-BAB0-32ECA492CE0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172730" y="1445505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b="1" sz="1200">
                <a:solidFill>
                  <a:schemeClr val="tx1"/>
                </a:solidFill>
              </a:rPr>
              <a:t>Реальная запись:</a:t>
            </a:r>
            <a:r>
              <a:rPr lang="ru-RU" sz="1200">
                <a:solidFill>
                  <a:schemeClr val="tx1"/>
                </a:solidFill>
              </a:rPr>
              <a:t xml:space="preserve"> человек на пути — 58 из 61 кадров, тревога через 0,3 с, ошибка ≤ 0,23 м; предмет на рельсе — 125 из 126 кадров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F517FCEF-DEC9-4794-B46E-21961558A7C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172730" y="2472872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b="1" sz="1200">
                <a:solidFill>
                  <a:schemeClr val="tx1"/>
                </a:solidFill>
              </a:rPr>
              <a:t>Ложные остановки</a:t>
            </a:r>
            <a:r>
              <a:rPr lang="ru-RU" sz="1200">
                <a:solidFill>
                  <a:schemeClr val="tx1"/>
                </a:solidFill>
              </a:rPr>
              <a:t xml:space="preserve"> (реальные): поездка 13 км — 45 событий, пять пустых записей — 13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236B8339-2490-447D-B543-1CC15487D82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72730" y="3485922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b="1" sz="1200">
                <a:solidFill>
                  <a:schemeClr val="tx1"/>
                </a:solidFill>
              </a:rPr>
              <a:t>Объекты организаторов</a:t>
            </a:r>
            <a:r>
              <a:rPr lang="ru-RU" sz="1200">
                <a:solidFill>
                  <a:schemeClr val="tx1"/>
                </a:solidFill>
              </a:rPr>
              <a:t xml:space="preserve"> [их синтетика]: ящик 2 × 2 м — с 98 м, доска — с 82 м, кубы 0,3 м — с 43–53 м; висящий 5 см — с 30 м; у края — лишь 2 и 6 кадров STOP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240FC05B-8F07-40FA-BE0D-2235F9DDDAB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172730" y="4496593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b="1" sz="1200">
                <a:solidFill>
                  <a:schemeClr val="tx1"/>
                </a:solidFill>
              </a:rPr>
              <a:t>Человек на подходе</a:t>
            </a:r>
            <a:r>
              <a:rPr lang="ru-RU" sz="1200">
                <a:solidFill>
                  <a:schemeClr val="tx1"/>
                </a:solidFill>
              </a:rPr>
              <a:t xml:space="preserve"> [наша синтетика]: первое подтверждение 148 м (в 5 парах: 150 → 154 м от ближних рельсов), в каждой полосе 10 м — со 115 м; 167 м со скоростью поезда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D049C016-4655-4C58-B392-FD255E0A768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172730" y="5516924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b="1" sz="1200">
                <a:solidFill>
                  <a:schemeClr val="tx1"/>
                </a:solidFill>
              </a:rPr>
              <a:t>Задержка</a:t>
            </a:r>
            <a:r>
              <a:rPr lang="ru-RU" sz="1200">
                <a:solidFill>
                  <a:schemeClr val="tx1"/>
                </a:solidFill>
              </a:rPr>
              <a:t xml:space="preserve"> 42–64 мс на кадр (p95 ≤ 78 мс) на одном ядре; ядра на C++ сокращают время детектора на 38–57 %, выход тот же; без GPU</a:t>
            </a:r>
          </a:p>
        </p:txBody>
      </p:sp>
      <p:sp>
        <p:nvSpPr>
          <p:cNvPr id="10" name="Номер слайда 9">
            <a:extLst>
              <a:ext uri="{FF2B5EF4-FFF2-40B4-BE49-F238E27FC236}">
                <a16:creationId xmlns:a16="http://schemas.microsoft.com/office/drawing/2014/main" id="{366E9534-A66A-4DF6-B8DA-1E6D8E4438F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633200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B16985B0-3ABD-CE1B-A2A5-B042F5A019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РЕЗУЛЬТАТЫ</a:t>
            </a:r>
          </a:p>
        </p:txBody>
      </p:sp>
    </p:spTree>
    <p:extLst>
      <p:ext uri="{BB962C8B-B14F-4D97-AF65-F5344CB8AC3E}">
        <p14:creationId xmlns:p14="http://schemas.microsoft.com/office/powerpoint/2010/main" val="106989518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5DECC81F-B9A0-B672-D696-81D562A2CC6C}"/>
              </a:ext>
            </a:extLst>
          </p:cNvPr>
          <p:cNvSpPr/>
          <p:nvPr/>
        </p:nvSpPr>
        <p:spPr>
          <a:xfrm>
            <a:off x="6286500" y="4747188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17326B78-1050-D91F-CB0B-77E7C3BDEBD1}"/>
              </a:ext>
            </a:extLst>
          </p:cNvPr>
          <p:cNvSpPr/>
          <p:nvPr/>
        </p:nvSpPr>
        <p:spPr>
          <a:xfrm>
            <a:off x="6286500" y="2832356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61423B79-9F6C-052D-974E-E9A0E0B7ABDB}"/>
              </a:ext>
            </a:extLst>
          </p:cNvPr>
          <p:cNvSpPr/>
          <p:nvPr/>
        </p:nvSpPr>
        <p:spPr>
          <a:xfrm>
            <a:off x="6286500" y="917525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51D59BC6-8004-F870-CECE-1C4FFB06B7FB}"/>
              </a:ext>
            </a:extLst>
          </p:cNvPr>
          <p:cNvSpPr/>
          <p:nvPr/>
        </p:nvSpPr>
        <p:spPr>
          <a:xfrm>
            <a:off x="346075" y="324562"/>
            <a:ext cx="48250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005B0424-AA26-4EA9-832B-906AB779F2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21</a:t>
            </a:fld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DE8A120-196C-48DC-AA16-CD22F43B9119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591637" y="1049727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b="1" sz="1500">
                <a:solidFill>
                  <a:schemeClr val="tx1"/>
                </a:solidFill>
              </a:rPr>
              <a:t>STOP — 8 из 8 объектов в габарите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F5D0CB6-043A-4E83-8D3D-7E7E9E2705E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591637" y="1649793"/>
            <a:ext cx="4790314" cy="779602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ящик 2 × 2 м в центре — с 98 м, с первого появления; доска поперёк рельсов — с 82 м; кубы 0,3 м — с 43–53 м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2456D5B0-F375-49C6-A314-52E6BED10C43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591637" y="2915797"/>
            <a:ext cx="4790314" cy="563519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b="1" sz="1500">
                <a:solidFill>
                  <a:schemeClr val="tx1"/>
                </a:solidFill>
              </a:rPr>
              <a:t>Мелкое вдали — поздно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3191D1F3-2ADD-4DEE-A9D0-1FBBB993931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591637" y="3515862"/>
            <a:ext cx="4790314" cy="869021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на 60–115 м от куба 0,3 м 2–4 точки в кадре, кластеру нужно 5; ящик у верха габарита — STOP в 51 из 124 кадров — непрерывно с 101 м, дальше CAUTION или ничего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37602292-3E6F-4E28-8A49-D2719D16F852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591637" y="4871732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b="1" sz="1500">
                <a:solidFill>
                  <a:schemeClr val="tx1"/>
                </a:solidFill>
              </a:rPr>
              <a:t>Ограничения — говорим честно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AE625499-96AD-46EA-8CE7-5765B615D23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591637" y="5471798"/>
            <a:ext cx="4790314" cy="848014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краевые объекты дают лишь 2 и 6 STOP кадров; висящий предмет 5 см: STOP с 30 м; объекты ставили от оси лидара (−0,24° к рельсам), мы строим габарит по рельсам. Ложных STOP: 6 кадров у ящика снаружи, 3 — вне объектов</a:t>
            </a:r>
          </a:p>
        </p:txBody>
      </p:sp>
      <p:graphicFrame>
        <p:nvGraphicFramePr>
          <p:cNvPr id="10" name="Диаграмма 9">
            <a:extLst>
              <a:ext uri="{FF2B5EF4-FFF2-40B4-BE49-F238E27FC236}">
                <a16:creationId xmlns:a16="http://schemas.microsoft.com/office/drawing/2014/main" id="{E658358F-6A3F-4E56-8E2C-0059A594AB6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45485138"/>
              </p:ext>
            </p:extLst>
          </p:nvPr>
        </p:nvGraphicFramePr>
        <p:xfrm>
          <a:off x="346075" y="1424510"/>
          <a:ext cx="5749925" cy="41017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3" name="Заголовок 13">
            <a:extLst>
              <a:ext uri="{FF2B5EF4-FFF2-40B4-BE49-F238E27FC236}">
                <a16:creationId xmlns:a16="http://schemas.microsoft.com/office/drawing/2014/main" id="{CE48B21B-C4B8-5F03-1C12-E4E9E20357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4465516" cy="376138"/>
          </a:xfrm>
        </p:spPr>
        <p:txBody>
          <a:bodyPr/>
          <a:lstStyle/>
          <a:p>
            <a:pPr/>
            <a:r>
              <a:rPr lang="ru-RU"/>
              <a:t>ОБЪЕКТЫ ОРГАНИЗАТОРОВ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6075" y="5566258"/>
            <a:ext cx="5749925" cy="5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lang="ru-RU" sz="1000">
                <a:solidFill>
                  <a:srgbClr val="E6E1F5"/>
                </a:solidFill>
              </a:rPr>
              <a:t>первый STOP, м; сиреневым — без устойчивого STOP · cloud_with_fake_obj: 10 объектов, 1 510 кадров, поезд едет к ним 1,4–20 м/с, скорость узлу не дана · синтетика организаторов</a:t>
            </a:r>
          </a:p>
        </p:txBody>
      </p:sp>
    </p:spTree>
    <p:extLst>
      <p:ext uri="{BB962C8B-B14F-4D97-AF65-F5344CB8AC3E}">
        <p14:creationId xmlns:p14="http://schemas.microsoft.com/office/powerpoint/2010/main" val="131323139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389C504C-C673-685A-ED35-3E688A842675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2D779828-50AA-424E-9D75-E4AA39DF20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22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80582B6-28AC-45F4-BD2D-467E652DBD37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755267" y="1343263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sz="1600">
                <a:solidFill>
                  <a:schemeClr val="accent5"/>
                </a:solidFill>
              </a:rPr>
              <a:t>~210 м — предел отражений в тоннеле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AF82DF7C-A3AD-43CF-A10D-0B36529054B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755267" y="1722800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chemeClr val="accent5"/>
                </a:solidFill>
              </a:rPr>
              <a:t>дальше 210 м во всех 13 759 кадрах нет ни одной точки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7958F12B-018B-418A-A49D-1D36B842AE9F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755267" y="2611824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sz="1600">
                <a:solidFill>
                  <a:schemeClr val="accent5"/>
                </a:solidFill>
              </a:rPr>
              <a:t>Со скоростью поезда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57CEBFD9-BA50-4FE2-AEDF-186C2F4D3DA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755267" y="2991361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chemeClr val="accent5"/>
                </a:solidFill>
              </a:rPr>
              <a:t>накопление 5 кадров: человек 167 м; своя скорость по лидару (ошибка 0,07 м/с) STOP раньше не даёт — опция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932AF062-A059-495E-BB70-46D2DA99A1FB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755267" y="3880385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sz="1600">
                <a:solidFill>
                  <a:schemeClr val="accent5"/>
                </a:solidFill>
              </a:rPr>
              <a:t>Устойчиво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62FC86C2-74E3-4069-A985-340E87E70FC1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755267" y="4259922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chemeClr val="accent5"/>
                </a:solidFill>
              </a:rPr>
              <a:t>≥ 90 % кадров: человек с ~149 м, в каждых 10 м — со 115 м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1D835328-9C3F-4BAA-A363-BCF05AE9CAA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755267" y="5148947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sz="1600">
                <a:solidFill>
                  <a:schemeClr val="accent5"/>
                </a:solidFill>
              </a:rPr>
              <a:t>В кривых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EF3516B2-5C9F-4B2E-B489-4C7C76EB80F4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755267" y="5528484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chemeClr val="accent5"/>
                </a:solidFill>
              </a:rPr>
              <a:t>6 из 7 подходов, с 58–86 м — предел видимости за стеной (R ≈ 350 м)</a:t>
            </a:r>
          </a:p>
        </p:txBody>
      </p:sp>
      <p:graphicFrame>
        <p:nvGraphicFramePr>
          <p:cNvPr id="12" name="Диаграмма 11">
            <a:extLst>
              <a:ext uri="{FF2B5EF4-FFF2-40B4-BE49-F238E27FC236}">
                <a16:creationId xmlns:a16="http://schemas.microsoft.com/office/drawing/2014/main" id="{23BDA4A7-21AE-4EEC-8367-DB38D1BA312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81416834"/>
              </p:ext>
            </p:extLst>
          </p:nvPr>
        </p:nvGraphicFramePr>
        <p:xfrm>
          <a:off x="346075" y="1424510"/>
          <a:ext cx="5749925" cy="44017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5" name="Заголовок 13">
            <a:extLst>
              <a:ext uri="{FF2B5EF4-FFF2-40B4-BE49-F238E27FC236}">
                <a16:creationId xmlns:a16="http://schemas.microsoft.com/office/drawing/2014/main" id="{9CDF69C9-489B-D478-1908-E63FA3502B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ДАЛЬНОСТЬ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6075" y="5820000"/>
            <a:ext cx="580000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lang="ru-RU" sz="1000">
                <a:solidFill>
                  <a:srgbClr val="6B6B6B"/>
                </a:solidFill>
              </a:rPr>
              <a:t>первое подтверждение на прямой, медиана 6 подходов; «от рельсов» — объект поставлен по ближним рельсам, а не по дальней оси детектора (5 пар, прежняя постановка — 150 м); поезд 17–21 м/с без датчика скорости · синтетика в реальных кадрах поездки</a:t>
            </a:r>
          </a:p>
        </p:txBody>
      </p:sp>
    </p:spTree>
    <p:extLst>
      <p:ext uri="{BB962C8B-B14F-4D97-AF65-F5344CB8AC3E}">
        <p14:creationId xmlns:p14="http://schemas.microsoft.com/office/powerpoint/2010/main" val="119978626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1DEBD50A-B557-2D80-C143-F7BE92E03371}"/>
              </a:ext>
            </a:extLst>
          </p:cNvPr>
          <p:cNvSpPr/>
          <p:nvPr/>
        </p:nvSpPr>
        <p:spPr>
          <a:xfrm>
            <a:off x="429141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557A70F9-C0E6-46AE-6A65-5343A45A5968}"/>
              </a:ext>
            </a:extLst>
          </p:cNvPr>
          <p:cNvSpPr/>
          <p:nvPr/>
        </p:nvSpPr>
        <p:spPr>
          <a:xfrm>
            <a:off x="4327137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81CF4124-313D-FA73-2EF6-2D9FE2D71D5D}"/>
              </a:ext>
            </a:extLst>
          </p:cNvPr>
          <p:cNvSpPr/>
          <p:nvPr/>
        </p:nvSpPr>
        <p:spPr>
          <a:xfrm>
            <a:off x="8225133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836BC072-4CEB-1CD2-52FE-02A6094518FB}"/>
              </a:ext>
            </a:extLst>
          </p:cNvPr>
          <p:cNvSpPr/>
          <p:nvPr/>
        </p:nvSpPr>
        <p:spPr>
          <a:xfrm>
            <a:off x="346075" y="324562"/>
            <a:ext cx="40050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10651A50-CFFD-C440-F1DF-F703C14C9202}"/>
              </a:ext>
            </a:extLst>
          </p:cNvPr>
          <p:cNvSpPr/>
          <p:nvPr/>
        </p:nvSpPr>
        <p:spPr>
          <a:xfrm>
            <a:off x="5340262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id="{2E5EC51C-6A42-A386-6730-F35F8E0CF56A}"/>
              </a:ext>
            </a:extLst>
          </p:cNvPr>
          <p:cNvSpPr/>
          <p:nvPr/>
        </p:nvSpPr>
        <p:spPr>
          <a:xfrm>
            <a:off x="1541018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0C532ED-B059-4872-93FE-25291054D3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24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08DB357-2788-42D4-93E8-1AB12DB2EE48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16304" y="328681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 sz="1600">
                <a:solidFill>
                  <a:srgbClr val="FF0053"/>
                </a:solidFill>
              </a:rPr>
              <a:t>Проблема</a:t>
            </a:r>
          </a:p>
          <a:p>
            <a:pPr marL="0" indent="0">
              <a:spcBef>
                <a:spcPts val="800"/>
              </a:spcBef>
              <a:buNone/>
            </a:pPr>
            <a:r>
              <a:rPr lang="ru-RU" sz="1300">
                <a:solidFill>
                  <a:schemeClr val="tx1"/>
                </a:solidFill>
              </a:rPr>
              <a:t>Поезд без машиниста должен видеть путь: 100 м — хорошо, 200 — очень хорошо, 300 — отлично. Тормозной путь на 80 км/ч — 190–250 м. Тоннель однороден и почти всегда пуст: классов объектов для обучения нет.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6869BDE-34CE-47D5-B162-82211244B70A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4569890" y="326454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 sz="1600">
                <a:solidFill>
                  <a:srgbClr val="FF0053"/>
                </a:solidFill>
              </a:rPr>
              <a:t>Альтернативы</a:t>
            </a:r>
          </a:p>
          <a:p>
            <a:pPr marL="0" indent="0">
              <a:spcBef>
                <a:spcPts val="800"/>
              </a:spcBef>
              <a:buNone/>
            </a:pPr>
            <a:r>
              <a:rPr lang="ru-RU" sz="1300">
                <a:solidFill>
                  <a:schemeClr val="tx1"/>
                </a:solidFill>
              </a:rPr>
              <a:t>Обученный 3D-детектор (PointPillars, CenterPoint) — нужны тысячи размеченных препятствий, дальше 100 м — единицы процентов AP. Сравнение с картой — нужна сантиметровая локализация и повторный проезд.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BF91A14-DF82-4BD9-95C1-96973CFF3F64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8405081" y="3277471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 sz="1600">
                <a:solidFill>
                  <a:srgbClr val="FF0053"/>
                </a:solidFill>
              </a:rPr>
              <a:t>Наше решение</a:t>
            </a:r>
          </a:p>
          <a:p>
            <a:pPr marL="0" indent="0">
              <a:spcBef>
                <a:spcPts val="800"/>
              </a:spcBef>
              <a:buNone/>
            </a:pPr>
            <a:r>
              <a:rPr lang="ru-RU" sz="1300">
                <a:solidFill>
                  <a:schemeClr val="tx1"/>
                </a:solidFill>
              </a:rPr>
              <a:t>Описать нормальный тоннель и сообщать всё, что попадает в габарит поезда 2,1 × 3,0 м. Модель пути строится заново в каждом кадре по рельсам, полотну и стенам — без карты и без классов объектов.</a:t>
            </a:r>
          </a:p>
        </p:txBody>
      </p:sp>
      <p:cxnSp>
        <p:nvCxnSpPr>
          <p:cNvPr id="58" name="Google Shape;2799;p94">
            <a:extLst>
              <a:ext uri="{FF2B5EF4-FFF2-40B4-BE49-F238E27FC236}">
                <a16:creationId xmlns:a16="http://schemas.microsoft.com/office/drawing/2014/main" id="{567FA9A9-3099-4088-80A0-9601CEE4D42E}"/>
              </a:ext>
            </a:extLst>
          </p:cNvPr>
          <p:cNvCxnSpPr>
            <a:cxnSpLocks/>
          </p:cNvCxnSpPr>
          <p:nvPr/>
        </p:nvCxnSpPr>
        <p:spPr>
          <a:xfrm flipV="1">
            <a:off x="3041995" y="2120995"/>
            <a:ext cx="2288595" cy="1147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2" name="Google Shape;2829;p94">
            <a:extLst>
              <a:ext uri="{FF2B5EF4-FFF2-40B4-BE49-F238E27FC236}">
                <a16:creationId xmlns:a16="http://schemas.microsoft.com/office/drawing/2014/main" id="{4C77747E-B18D-4A2B-BA4F-6DC51DACDF20}"/>
              </a:ext>
            </a:extLst>
          </p:cNvPr>
          <p:cNvGrpSpPr/>
          <p:nvPr/>
        </p:nvGrpSpPr>
        <p:grpSpPr>
          <a:xfrm>
            <a:off x="1899087" y="1753233"/>
            <a:ext cx="738531" cy="687909"/>
            <a:chOff x="3385734" y="2233242"/>
            <a:chExt cx="340504" cy="319542"/>
          </a:xfrm>
        </p:grpSpPr>
        <p:sp>
          <p:nvSpPr>
            <p:cNvPr id="63" name="Google Shape;2830;p94">
              <a:extLst>
                <a:ext uri="{FF2B5EF4-FFF2-40B4-BE49-F238E27FC236}">
                  <a16:creationId xmlns:a16="http://schemas.microsoft.com/office/drawing/2014/main" id="{F538E3A9-5C7B-406B-80D1-B9EEBFF33FF0}"/>
                </a:ext>
              </a:extLst>
            </p:cNvPr>
            <p:cNvSpPr/>
            <p:nvPr/>
          </p:nvSpPr>
          <p:spPr>
            <a:xfrm>
              <a:off x="3385734" y="2233242"/>
              <a:ext cx="340504" cy="319542"/>
            </a:xfrm>
            <a:custGeom>
              <a:avLst/>
              <a:gdLst/>
              <a:ahLst/>
              <a:cxnLst/>
              <a:rect l="l" t="t" r="r" b="b"/>
              <a:pathLst>
                <a:path w="10122" h="9289" extrusionOk="0">
                  <a:moveTo>
                    <a:pt x="9574" y="310"/>
                  </a:moveTo>
                  <a:cubicBezTo>
                    <a:pt x="9717" y="310"/>
                    <a:pt x="9812" y="406"/>
                    <a:pt x="9812" y="549"/>
                  </a:cubicBezTo>
                  <a:lnTo>
                    <a:pt x="9812" y="5669"/>
                  </a:lnTo>
                  <a:lnTo>
                    <a:pt x="8622" y="5669"/>
                  </a:lnTo>
                  <a:cubicBezTo>
                    <a:pt x="8550" y="5669"/>
                    <a:pt x="8479" y="5740"/>
                    <a:pt x="8479" y="5812"/>
                  </a:cubicBezTo>
                  <a:cubicBezTo>
                    <a:pt x="8479" y="5907"/>
                    <a:pt x="8550" y="5978"/>
                    <a:pt x="8622" y="5978"/>
                  </a:cubicBezTo>
                  <a:lnTo>
                    <a:pt x="9812" y="5978"/>
                  </a:lnTo>
                  <a:lnTo>
                    <a:pt x="9812" y="6455"/>
                  </a:lnTo>
                  <a:cubicBezTo>
                    <a:pt x="9812" y="6597"/>
                    <a:pt x="9717" y="6717"/>
                    <a:pt x="9574" y="6717"/>
                  </a:cubicBezTo>
                  <a:lnTo>
                    <a:pt x="549" y="6717"/>
                  </a:lnTo>
                  <a:cubicBezTo>
                    <a:pt x="406" y="6717"/>
                    <a:pt x="287" y="6597"/>
                    <a:pt x="287" y="6455"/>
                  </a:cubicBezTo>
                  <a:lnTo>
                    <a:pt x="287" y="5978"/>
                  </a:lnTo>
                  <a:lnTo>
                    <a:pt x="7979" y="5978"/>
                  </a:lnTo>
                  <a:cubicBezTo>
                    <a:pt x="8050" y="5978"/>
                    <a:pt x="8122" y="5907"/>
                    <a:pt x="8122" y="5812"/>
                  </a:cubicBezTo>
                  <a:cubicBezTo>
                    <a:pt x="8122" y="5740"/>
                    <a:pt x="8050" y="5669"/>
                    <a:pt x="7979" y="5669"/>
                  </a:cubicBezTo>
                  <a:lnTo>
                    <a:pt x="6216" y="5669"/>
                  </a:lnTo>
                  <a:lnTo>
                    <a:pt x="6216" y="310"/>
                  </a:lnTo>
                  <a:close/>
                  <a:moveTo>
                    <a:pt x="5335" y="7002"/>
                  </a:moveTo>
                  <a:lnTo>
                    <a:pt x="5335" y="7193"/>
                  </a:lnTo>
                  <a:cubicBezTo>
                    <a:pt x="5335" y="7360"/>
                    <a:pt x="5216" y="7479"/>
                    <a:pt x="5049" y="7479"/>
                  </a:cubicBezTo>
                  <a:cubicBezTo>
                    <a:pt x="4907" y="7479"/>
                    <a:pt x="4764" y="7360"/>
                    <a:pt x="4764" y="7193"/>
                  </a:cubicBezTo>
                  <a:lnTo>
                    <a:pt x="4764" y="7002"/>
                  </a:lnTo>
                  <a:close/>
                  <a:moveTo>
                    <a:pt x="6073" y="7002"/>
                  </a:moveTo>
                  <a:lnTo>
                    <a:pt x="6169" y="8241"/>
                  </a:lnTo>
                  <a:lnTo>
                    <a:pt x="3954" y="8241"/>
                  </a:lnTo>
                  <a:lnTo>
                    <a:pt x="4049" y="7002"/>
                  </a:lnTo>
                  <a:lnTo>
                    <a:pt x="4478" y="7002"/>
                  </a:lnTo>
                  <a:lnTo>
                    <a:pt x="4478" y="7193"/>
                  </a:lnTo>
                  <a:cubicBezTo>
                    <a:pt x="4478" y="7526"/>
                    <a:pt x="4740" y="7788"/>
                    <a:pt x="5049" y="7788"/>
                  </a:cubicBezTo>
                  <a:cubicBezTo>
                    <a:pt x="5383" y="7788"/>
                    <a:pt x="5645" y="7526"/>
                    <a:pt x="5645" y="7193"/>
                  </a:cubicBezTo>
                  <a:lnTo>
                    <a:pt x="5645" y="7002"/>
                  </a:lnTo>
                  <a:close/>
                  <a:moveTo>
                    <a:pt x="6859" y="8526"/>
                  </a:moveTo>
                  <a:cubicBezTo>
                    <a:pt x="6883" y="8526"/>
                    <a:pt x="6907" y="8550"/>
                    <a:pt x="6907" y="8574"/>
                  </a:cubicBezTo>
                  <a:lnTo>
                    <a:pt x="6907" y="8955"/>
                  </a:lnTo>
                  <a:cubicBezTo>
                    <a:pt x="6907" y="8979"/>
                    <a:pt x="6883" y="9003"/>
                    <a:pt x="6859" y="9003"/>
                  </a:cubicBezTo>
                  <a:lnTo>
                    <a:pt x="3263" y="9003"/>
                  </a:lnTo>
                  <a:cubicBezTo>
                    <a:pt x="3240" y="9003"/>
                    <a:pt x="3216" y="8979"/>
                    <a:pt x="3216" y="8955"/>
                  </a:cubicBezTo>
                  <a:lnTo>
                    <a:pt x="3216" y="8574"/>
                  </a:lnTo>
                  <a:cubicBezTo>
                    <a:pt x="3216" y="8550"/>
                    <a:pt x="3240" y="8526"/>
                    <a:pt x="3263" y="8526"/>
                  </a:cubicBezTo>
                  <a:close/>
                  <a:moveTo>
                    <a:pt x="549" y="1"/>
                  </a:moveTo>
                  <a:cubicBezTo>
                    <a:pt x="239" y="1"/>
                    <a:pt x="1" y="239"/>
                    <a:pt x="1" y="549"/>
                  </a:cubicBezTo>
                  <a:lnTo>
                    <a:pt x="1" y="1477"/>
                  </a:lnTo>
                  <a:cubicBezTo>
                    <a:pt x="1" y="1573"/>
                    <a:pt x="72" y="1644"/>
                    <a:pt x="144" y="1644"/>
                  </a:cubicBezTo>
                  <a:cubicBezTo>
                    <a:pt x="215" y="1644"/>
                    <a:pt x="287" y="1573"/>
                    <a:pt x="287" y="1477"/>
                  </a:cubicBezTo>
                  <a:lnTo>
                    <a:pt x="287" y="549"/>
                  </a:lnTo>
                  <a:cubicBezTo>
                    <a:pt x="287" y="406"/>
                    <a:pt x="406" y="310"/>
                    <a:pt x="549" y="310"/>
                  </a:cubicBezTo>
                  <a:lnTo>
                    <a:pt x="5907" y="310"/>
                  </a:lnTo>
                  <a:lnTo>
                    <a:pt x="5907" y="5669"/>
                  </a:lnTo>
                  <a:lnTo>
                    <a:pt x="287" y="5669"/>
                  </a:lnTo>
                  <a:lnTo>
                    <a:pt x="287" y="2144"/>
                  </a:lnTo>
                  <a:cubicBezTo>
                    <a:pt x="287" y="2049"/>
                    <a:pt x="239" y="2001"/>
                    <a:pt x="144" y="2001"/>
                  </a:cubicBezTo>
                  <a:cubicBezTo>
                    <a:pt x="72" y="2001"/>
                    <a:pt x="1" y="2049"/>
                    <a:pt x="1" y="2144"/>
                  </a:cubicBezTo>
                  <a:lnTo>
                    <a:pt x="1" y="6455"/>
                  </a:lnTo>
                  <a:cubicBezTo>
                    <a:pt x="1" y="6764"/>
                    <a:pt x="239" y="7002"/>
                    <a:pt x="549" y="7002"/>
                  </a:cubicBezTo>
                  <a:lnTo>
                    <a:pt x="3763" y="7002"/>
                  </a:lnTo>
                  <a:lnTo>
                    <a:pt x="3644" y="8241"/>
                  </a:lnTo>
                  <a:lnTo>
                    <a:pt x="3263" y="8241"/>
                  </a:lnTo>
                  <a:cubicBezTo>
                    <a:pt x="3073" y="8241"/>
                    <a:pt x="2930" y="8384"/>
                    <a:pt x="2930" y="8574"/>
                  </a:cubicBezTo>
                  <a:lnTo>
                    <a:pt x="2930" y="8955"/>
                  </a:lnTo>
                  <a:cubicBezTo>
                    <a:pt x="2930" y="9146"/>
                    <a:pt x="3073" y="9288"/>
                    <a:pt x="3263" y="9288"/>
                  </a:cubicBezTo>
                  <a:lnTo>
                    <a:pt x="6859" y="9288"/>
                  </a:lnTo>
                  <a:cubicBezTo>
                    <a:pt x="7050" y="9288"/>
                    <a:pt x="7193" y="9146"/>
                    <a:pt x="7193" y="8955"/>
                  </a:cubicBezTo>
                  <a:lnTo>
                    <a:pt x="7193" y="8574"/>
                  </a:lnTo>
                  <a:cubicBezTo>
                    <a:pt x="7193" y="8384"/>
                    <a:pt x="7050" y="8241"/>
                    <a:pt x="6859" y="8241"/>
                  </a:cubicBezTo>
                  <a:lnTo>
                    <a:pt x="6478" y="8241"/>
                  </a:lnTo>
                  <a:lnTo>
                    <a:pt x="6359" y="7002"/>
                  </a:lnTo>
                  <a:lnTo>
                    <a:pt x="9574" y="7002"/>
                  </a:lnTo>
                  <a:cubicBezTo>
                    <a:pt x="9860" y="7002"/>
                    <a:pt x="10122" y="6764"/>
                    <a:pt x="10122" y="6455"/>
                  </a:cubicBezTo>
                  <a:lnTo>
                    <a:pt x="10122" y="549"/>
                  </a:lnTo>
                  <a:cubicBezTo>
                    <a:pt x="10122" y="239"/>
                    <a:pt x="9884" y="1"/>
                    <a:pt x="9574" y="1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4" name="Google Shape;2831;p94">
              <a:extLst>
                <a:ext uri="{FF2B5EF4-FFF2-40B4-BE49-F238E27FC236}">
                  <a16:creationId xmlns:a16="http://schemas.microsoft.com/office/drawing/2014/main" id="{6A25AEAC-89F0-49CB-B7BE-42F11987AD9D}"/>
                </a:ext>
              </a:extLst>
            </p:cNvPr>
            <p:cNvSpPr/>
            <p:nvPr/>
          </p:nvSpPr>
          <p:spPr>
            <a:xfrm>
              <a:off x="3420989" y="2296022"/>
              <a:ext cx="143441" cy="113382"/>
            </a:xfrm>
            <a:custGeom>
              <a:avLst/>
              <a:gdLst/>
              <a:ahLst/>
              <a:cxnLst/>
              <a:rect l="l" t="t" r="r" b="b"/>
              <a:pathLst>
                <a:path w="4264" h="3296" extrusionOk="0">
                  <a:moveTo>
                    <a:pt x="3897" y="0"/>
                  </a:moveTo>
                  <a:cubicBezTo>
                    <a:pt x="3848" y="0"/>
                    <a:pt x="3805" y="22"/>
                    <a:pt x="3787" y="57"/>
                  </a:cubicBezTo>
                  <a:lnTo>
                    <a:pt x="2835" y="1176"/>
                  </a:lnTo>
                  <a:lnTo>
                    <a:pt x="2596" y="986"/>
                  </a:lnTo>
                  <a:cubicBezTo>
                    <a:pt x="2573" y="962"/>
                    <a:pt x="2537" y="950"/>
                    <a:pt x="2501" y="950"/>
                  </a:cubicBezTo>
                  <a:cubicBezTo>
                    <a:pt x="2465" y="950"/>
                    <a:pt x="2430" y="962"/>
                    <a:pt x="2406" y="986"/>
                  </a:cubicBezTo>
                  <a:lnTo>
                    <a:pt x="1811" y="1629"/>
                  </a:lnTo>
                  <a:lnTo>
                    <a:pt x="1096" y="1367"/>
                  </a:lnTo>
                  <a:cubicBezTo>
                    <a:pt x="1084" y="1355"/>
                    <a:pt x="1066" y="1349"/>
                    <a:pt x="1045" y="1349"/>
                  </a:cubicBezTo>
                  <a:cubicBezTo>
                    <a:pt x="1025" y="1349"/>
                    <a:pt x="1001" y="1355"/>
                    <a:pt x="977" y="1367"/>
                  </a:cubicBezTo>
                  <a:lnTo>
                    <a:pt x="286" y="1772"/>
                  </a:lnTo>
                  <a:lnTo>
                    <a:pt x="286" y="462"/>
                  </a:lnTo>
                  <a:cubicBezTo>
                    <a:pt x="286" y="391"/>
                    <a:pt x="239" y="319"/>
                    <a:pt x="144" y="319"/>
                  </a:cubicBezTo>
                  <a:cubicBezTo>
                    <a:pt x="72" y="319"/>
                    <a:pt x="1" y="391"/>
                    <a:pt x="1" y="462"/>
                  </a:cubicBezTo>
                  <a:lnTo>
                    <a:pt x="1" y="3153"/>
                  </a:lnTo>
                  <a:cubicBezTo>
                    <a:pt x="1" y="3225"/>
                    <a:pt x="72" y="3296"/>
                    <a:pt x="144" y="3296"/>
                  </a:cubicBezTo>
                  <a:lnTo>
                    <a:pt x="4121" y="3296"/>
                  </a:lnTo>
                  <a:cubicBezTo>
                    <a:pt x="4192" y="3296"/>
                    <a:pt x="4263" y="3225"/>
                    <a:pt x="4263" y="3153"/>
                  </a:cubicBezTo>
                  <a:cubicBezTo>
                    <a:pt x="4263" y="3082"/>
                    <a:pt x="4216" y="3010"/>
                    <a:pt x="4121" y="3010"/>
                  </a:cubicBezTo>
                  <a:lnTo>
                    <a:pt x="4049" y="3010"/>
                  </a:lnTo>
                  <a:lnTo>
                    <a:pt x="4049" y="2200"/>
                  </a:lnTo>
                  <a:cubicBezTo>
                    <a:pt x="4049" y="2105"/>
                    <a:pt x="3978" y="2034"/>
                    <a:pt x="3906" y="2034"/>
                  </a:cubicBezTo>
                  <a:cubicBezTo>
                    <a:pt x="3811" y="2034"/>
                    <a:pt x="3739" y="2105"/>
                    <a:pt x="3739" y="2200"/>
                  </a:cubicBezTo>
                  <a:lnTo>
                    <a:pt x="3739" y="3010"/>
                  </a:lnTo>
                  <a:lnTo>
                    <a:pt x="3382" y="3010"/>
                  </a:lnTo>
                  <a:lnTo>
                    <a:pt x="3382" y="2891"/>
                  </a:lnTo>
                  <a:cubicBezTo>
                    <a:pt x="3382" y="2820"/>
                    <a:pt x="3311" y="2748"/>
                    <a:pt x="3239" y="2748"/>
                  </a:cubicBezTo>
                  <a:cubicBezTo>
                    <a:pt x="3144" y="2748"/>
                    <a:pt x="3073" y="2796"/>
                    <a:pt x="3073" y="2891"/>
                  </a:cubicBezTo>
                  <a:lnTo>
                    <a:pt x="3073" y="3010"/>
                  </a:lnTo>
                  <a:lnTo>
                    <a:pt x="2573" y="3010"/>
                  </a:lnTo>
                  <a:lnTo>
                    <a:pt x="2573" y="2891"/>
                  </a:lnTo>
                  <a:cubicBezTo>
                    <a:pt x="2573" y="2820"/>
                    <a:pt x="2525" y="2748"/>
                    <a:pt x="2430" y="2748"/>
                  </a:cubicBezTo>
                  <a:cubicBezTo>
                    <a:pt x="2358" y="2748"/>
                    <a:pt x="2287" y="2796"/>
                    <a:pt x="2287" y="2891"/>
                  </a:cubicBezTo>
                  <a:lnTo>
                    <a:pt x="2287" y="3010"/>
                  </a:lnTo>
                  <a:lnTo>
                    <a:pt x="1787" y="3010"/>
                  </a:lnTo>
                  <a:lnTo>
                    <a:pt x="1787" y="2891"/>
                  </a:lnTo>
                  <a:cubicBezTo>
                    <a:pt x="1787" y="2820"/>
                    <a:pt x="1715" y="2748"/>
                    <a:pt x="1644" y="2748"/>
                  </a:cubicBezTo>
                  <a:cubicBezTo>
                    <a:pt x="1549" y="2748"/>
                    <a:pt x="1501" y="2796"/>
                    <a:pt x="1501" y="2891"/>
                  </a:cubicBezTo>
                  <a:lnTo>
                    <a:pt x="1501" y="3010"/>
                  </a:lnTo>
                  <a:lnTo>
                    <a:pt x="1001" y="3010"/>
                  </a:lnTo>
                  <a:lnTo>
                    <a:pt x="1001" y="2891"/>
                  </a:lnTo>
                  <a:cubicBezTo>
                    <a:pt x="1001" y="2820"/>
                    <a:pt x="929" y="2748"/>
                    <a:pt x="834" y="2748"/>
                  </a:cubicBezTo>
                  <a:cubicBezTo>
                    <a:pt x="763" y="2748"/>
                    <a:pt x="691" y="2796"/>
                    <a:pt x="691" y="2891"/>
                  </a:cubicBezTo>
                  <a:lnTo>
                    <a:pt x="691" y="3010"/>
                  </a:lnTo>
                  <a:lnTo>
                    <a:pt x="286" y="3010"/>
                  </a:lnTo>
                  <a:lnTo>
                    <a:pt x="286" y="2105"/>
                  </a:lnTo>
                  <a:lnTo>
                    <a:pt x="1048" y="1653"/>
                  </a:lnTo>
                  <a:lnTo>
                    <a:pt x="1811" y="1962"/>
                  </a:lnTo>
                  <a:cubicBezTo>
                    <a:pt x="1823" y="1969"/>
                    <a:pt x="1838" y="1972"/>
                    <a:pt x="1853" y="1972"/>
                  </a:cubicBezTo>
                  <a:cubicBezTo>
                    <a:pt x="1893" y="1972"/>
                    <a:pt x="1936" y="1950"/>
                    <a:pt x="1953" y="1915"/>
                  </a:cubicBezTo>
                  <a:lnTo>
                    <a:pt x="2525" y="1296"/>
                  </a:lnTo>
                  <a:lnTo>
                    <a:pt x="2763" y="1486"/>
                  </a:lnTo>
                  <a:cubicBezTo>
                    <a:pt x="2795" y="1518"/>
                    <a:pt x="2828" y="1531"/>
                    <a:pt x="2860" y="1531"/>
                  </a:cubicBezTo>
                  <a:cubicBezTo>
                    <a:pt x="2899" y="1531"/>
                    <a:pt x="2938" y="1512"/>
                    <a:pt x="2977" y="1486"/>
                  </a:cubicBezTo>
                  <a:lnTo>
                    <a:pt x="3739" y="557"/>
                  </a:lnTo>
                  <a:lnTo>
                    <a:pt x="3739" y="1534"/>
                  </a:lnTo>
                  <a:cubicBezTo>
                    <a:pt x="3739" y="1629"/>
                    <a:pt x="3811" y="1677"/>
                    <a:pt x="3882" y="1677"/>
                  </a:cubicBezTo>
                  <a:cubicBezTo>
                    <a:pt x="3978" y="1677"/>
                    <a:pt x="4049" y="1629"/>
                    <a:pt x="4049" y="1534"/>
                  </a:cubicBezTo>
                  <a:lnTo>
                    <a:pt x="4049" y="152"/>
                  </a:lnTo>
                  <a:cubicBezTo>
                    <a:pt x="4049" y="81"/>
                    <a:pt x="4001" y="33"/>
                    <a:pt x="3954" y="10"/>
                  </a:cubicBezTo>
                  <a:cubicBezTo>
                    <a:pt x="3935" y="3"/>
                    <a:pt x="3916" y="0"/>
                    <a:pt x="389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5" name="Google Shape;2832;p94">
              <a:extLst>
                <a:ext uri="{FF2B5EF4-FFF2-40B4-BE49-F238E27FC236}">
                  <a16:creationId xmlns:a16="http://schemas.microsoft.com/office/drawing/2014/main" id="{3504136F-174E-465D-95D8-13EE2C34474F}"/>
                </a:ext>
              </a:extLst>
            </p:cNvPr>
            <p:cNvSpPr/>
            <p:nvPr/>
          </p:nvSpPr>
          <p:spPr>
            <a:xfrm>
              <a:off x="3451433" y="2319276"/>
              <a:ext cx="9655" cy="13966"/>
            </a:xfrm>
            <a:custGeom>
              <a:avLst/>
              <a:gdLst/>
              <a:ahLst/>
              <a:cxnLst/>
              <a:rect l="l" t="t" r="r" b="b"/>
              <a:pathLst>
                <a:path w="287" h="406" extrusionOk="0">
                  <a:moveTo>
                    <a:pt x="143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262"/>
                  </a:lnTo>
                  <a:cubicBezTo>
                    <a:pt x="1" y="358"/>
                    <a:pt x="72" y="405"/>
                    <a:pt x="143" y="405"/>
                  </a:cubicBezTo>
                  <a:cubicBezTo>
                    <a:pt x="239" y="405"/>
                    <a:pt x="286" y="358"/>
                    <a:pt x="286" y="262"/>
                  </a:cubicBezTo>
                  <a:lnTo>
                    <a:pt x="286" y="167"/>
                  </a:lnTo>
                  <a:cubicBezTo>
                    <a:pt x="286" y="72"/>
                    <a:pt x="239" y="0"/>
                    <a:pt x="14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6" name="Google Shape;2833;p94">
              <a:extLst>
                <a:ext uri="{FF2B5EF4-FFF2-40B4-BE49-F238E27FC236}">
                  <a16:creationId xmlns:a16="http://schemas.microsoft.com/office/drawing/2014/main" id="{1A03FD0C-7738-4A35-B44B-4D9C0E75CBAB}"/>
                </a:ext>
              </a:extLst>
            </p:cNvPr>
            <p:cNvSpPr/>
            <p:nvPr/>
          </p:nvSpPr>
          <p:spPr>
            <a:xfrm>
              <a:off x="3500312" y="2305344"/>
              <a:ext cx="10428" cy="13966"/>
            </a:xfrm>
            <a:custGeom>
              <a:avLst/>
              <a:gdLst/>
              <a:ahLst/>
              <a:cxnLst/>
              <a:rect l="l" t="t" r="r" b="b"/>
              <a:pathLst>
                <a:path w="310" h="406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lnTo>
                    <a:pt x="0" y="262"/>
                  </a:lnTo>
                  <a:cubicBezTo>
                    <a:pt x="0" y="334"/>
                    <a:pt x="72" y="405"/>
                    <a:pt x="143" y="405"/>
                  </a:cubicBezTo>
                  <a:cubicBezTo>
                    <a:pt x="238" y="405"/>
                    <a:pt x="310" y="334"/>
                    <a:pt x="310" y="262"/>
                  </a:cubicBezTo>
                  <a:lnTo>
                    <a:pt x="310" y="143"/>
                  </a:lnTo>
                  <a:cubicBezTo>
                    <a:pt x="310" y="72"/>
                    <a:pt x="238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7" name="Google Shape;2834;p94">
              <a:extLst>
                <a:ext uri="{FF2B5EF4-FFF2-40B4-BE49-F238E27FC236}">
                  <a16:creationId xmlns:a16="http://schemas.microsoft.com/office/drawing/2014/main" id="{66009B1B-C6FD-49B8-8022-7BA95FBA9273}"/>
                </a:ext>
              </a:extLst>
            </p:cNvPr>
            <p:cNvSpPr/>
            <p:nvPr/>
          </p:nvSpPr>
          <p:spPr>
            <a:xfrm>
              <a:off x="3546769" y="2275038"/>
              <a:ext cx="10462" cy="13966"/>
            </a:xfrm>
            <a:custGeom>
              <a:avLst/>
              <a:gdLst/>
              <a:ahLst/>
              <a:cxnLst/>
              <a:rect l="l" t="t" r="r" b="b"/>
              <a:pathLst>
                <a:path w="311" h="406" extrusionOk="0">
                  <a:moveTo>
                    <a:pt x="167" y="0"/>
                  </a:moveTo>
                  <a:cubicBezTo>
                    <a:pt x="72" y="0"/>
                    <a:pt x="0" y="48"/>
                    <a:pt x="0" y="143"/>
                  </a:cubicBezTo>
                  <a:lnTo>
                    <a:pt x="0" y="239"/>
                  </a:lnTo>
                  <a:cubicBezTo>
                    <a:pt x="0" y="334"/>
                    <a:pt x="72" y="405"/>
                    <a:pt x="167" y="405"/>
                  </a:cubicBezTo>
                  <a:cubicBezTo>
                    <a:pt x="239" y="405"/>
                    <a:pt x="310" y="334"/>
                    <a:pt x="310" y="239"/>
                  </a:cubicBezTo>
                  <a:lnTo>
                    <a:pt x="310" y="143"/>
                  </a:lnTo>
                  <a:cubicBezTo>
                    <a:pt x="310" y="48"/>
                    <a:pt x="239" y="0"/>
                    <a:pt x="16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8" name="Google Shape;2835;p94">
              <a:extLst>
                <a:ext uri="{FF2B5EF4-FFF2-40B4-BE49-F238E27FC236}">
                  <a16:creationId xmlns:a16="http://schemas.microsoft.com/office/drawing/2014/main" id="{842A40FB-E85F-45B5-A562-0F31875BC8DD}"/>
                </a:ext>
              </a:extLst>
            </p:cNvPr>
            <p:cNvSpPr/>
            <p:nvPr/>
          </p:nvSpPr>
          <p:spPr>
            <a:xfrm>
              <a:off x="3420989" y="2260280"/>
              <a:ext cx="27282" cy="9873"/>
            </a:xfrm>
            <a:custGeom>
              <a:avLst/>
              <a:gdLst/>
              <a:ahLst/>
              <a:cxnLst/>
              <a:rect l="l" t="t" r="r" b="b"/>
              <a:pathLst>
                <a:path w="811" h="287" extrusionOk="0">
                  <a:moveTo>
                    <a:pt x="144" y="1"/>
                  </a:moveTo>
                  <a:cubicBezTo>
                    <a:pt x="72" y="1"/>
                    <a:pt x="1" y="72"/>
                    <a:pt x="1" y="144"/>
                  </a:cubicBezTo>
                  <a:cubicBezTo>
                    <a:pt x="1" y="239"/>
                    <a:pt x="72" y="287"/>
                    <a:pt x="144" y="287"/>
                  </a:cubicBezTo>
                  <a:lnTo>
                    <a:pt x="667" y="287"/>
                  </a:lnTo>
                  <a:cubicBezTo>
                    <a:pt x="739" y="287"/>
                    <a:pt x="810" y="239"/>
                    <a:pt x="810" y="144"/>
                  </a:cubicBezTo>
                  <a:cubicBezTo>
                    <a:pt x="810" y="72"/>
                    <a:pt x="739" y="1"/>
                    <a:pt x="6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9" name="Google Shape;2836;p94">
              <a:extLst>
                <a:ext uri="{FF2B5EF4-FFF2-40B4-BE49-F238E27FC236}">
                  <a16:creationId xmlns:a16="http://schemas.microsoft.com/office/drawing/2014/main" id="{543973E7-B229-4280-95BA-F224FDE6583D}"/>
                </a:ext>
              </a:extLst>
            </p:cNvPr>
            <p:cNvSpPr/>
            <p:nvPr/>
          </p:nvSpPr>
          <p:spPr>
            <a:xfrm>
              <a:off x="3420989" y="2279131"/>
              <a:ext cx="47298" cy="10698"/>
            </a:xfrm>
            <a:custGeom>
              <a:avLst/>
              <a:gdLst/>
              <a:ahLst/>
              <a:cxnLst/>
              <a:rect l="l" t="t" r="r" b="b"/>
              <a:pathLst>
                <a:path w="1406" h="311" extrusionOk="0">
                  <a:moveTo>
                    <a:pt x="144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9"/>
                    <a:pt x="72" y="310"/>
                    <a:pt x="144" y="310"/>
                  </a:cubicBezTo>
                  <a:lnTo>
                    <a:pt x="1239" y="310"/>
                  </a:lnTo>
                  <a:cubicBezTo>
                    <a:pt x="1334" y="310"/>
                    <a:pt x="1406" y="239"/>
                    <a:pt x="1406" y="143"/>
                  </a:cubicBezTo>
                  <a:cubicBezTo>
                    <a:pt x="1406" y="72"/>
                    <a:pt x="1334" y="0"/>
                    <a:pt x="123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0" name="Google Shape;2837;p94">
              <a:extLst>
                <a:ext uri="{FF2B5EF4-FFF2-40B4-BE49-F238E27FC236}">
                  <a16:creationId xmlns:a16="http://schemas.microsoft.com/office/drawing/2014/main" id="{41575783-12EF-40FC-B478-EC50906BBB87}"/>
                </a:ext>
              </a:extLst>
            </p:cNvPr>
            <p:cNvSpPr/>
            <p:nvPr/>
          </p:nvSpPr>
          <p:spPr>
            <a:xfrm>
              <a:off x="3640490" y="2276689"/>
              <a:ext cx="31285" cy="54077"/>
            </a:xfrm>
            <a:custGeom>
              <a:avLst/>
              <a:gdLst/>
              <a:ahLst/>
              <a:cxnLst/>
              <a:rect l="l" t="t" r="r" b="b"/>
              <a:pathLst>
                <a:path w="930" h="1572" extrusionOk="0">
                  <a:moveTo>
                    <a:pt x="453" y="0"/>
                  </a:moveTo>
                  <a:cubicBezTo>
                    <a:pt x="382" y="0"/>
                    <a:pt x="310" y="48"/>
                    <a:pt x="310" y="143"/>
                  </a:cubicBezTo>
                  <a:lnTo>
                    <a:pt x="310" y="167"/>
                  </a:lnTo>
                  <a:cubicBezTo>
                    <a:pt x="144" y="214"/>
                    <a:pt x="1" y="357"/>
                    <a:pt x="1" y="548"/>
                  </a:cubicBezTo>
                  <a:cubicBezTo>
                    <a:pt x="1" y="762"/>
                    <a:pt x="167" y="929"/>
                    <a:pt x="382" y="929"/>
                  </a:cubicBezTo>
                  <a:lnTo>
                    <a:pt x="525" y="929"/>
                  </a:lnTo>
                  <a:cubicBezTo>
                    <a:pt x="572" y="929"/>
                    <a:pt x="620" y="976"/>
                    <a:pt x="620" y="1024"/>
                  </a:cubicBezTo>
                  <a:cubicBezTo>
                    <a:pt x="620" y="1072"/>
                    <a:pt x="572" y="1119"/>
                    <a:pt x="525" y="1119"/>
                  </a:cubicBezTo>
                  <a:lnTo>
                    <a:pt x="382" y="1119"/>
                  </a:lnTo>
                  <a:cubicBezTo>
                    <a:pt x="358" y="1119"/>
                    <a:pt x="310" y="1095"/>
                    <a:pt x="310" y="1048"/>
                  </a:cubicBezTo>
                  <a:cubicBezTo>
                    <a:pt x="293" y="994"/>
                    <a:pt x="234" y="967"/>
                    <a:pt x="176" y="967"/>
                  </a:cubicBezTo>
                  <a:cubicBezTo>
                    <a:pt x="157" y="967"/>
                    <a:pt x="138" y="970"/>
                    <a:pt x="120" y="976"/>
                  </a:cubicBezTo>
                  <a:cubicBezTo>
                    <a:pt x="48" y="1024"/>
                    <a:pt x="1" y="1095"/>
                    <a:pt x="48" y="1167"/>
                  </a:cubicBezTo>
                  <a:cubicBezTo>
                    <a:pt x="96" y="1286"/>
                    <a:pt x="191" y="1381"/>
                    <a:pt x="310" y="1405"/>
                  </a:cubicBezTo>
                  <a:cubicBezTo>
                    <a:pt x="310" y="1500"/>
                    <a:pt x="382" y="1572"/>
                    <a:pt x="453" y="1572"/>
                  </a:cubicBezTo>
                  <a:cubicBezTo>
                    <a:pt x="549" y="1572"/>
                    <a:pt x="620" y="1500"/>
                    <a:pt x="620" y="1405"/>
                  </a:cubicBezTo>
                  <a:cubicBezTo>
                    <a:pt x="787" y="1357"/>
                    <a:pt x="930" y="1215"/>
                    <a:pt x="930" y="1024"/>
                  </a:cubicBezTo>
                  <a:cubicBezTo>
                    <a:pt x="930" y="810"/>
                    <a:pt x="739" y="643"/>
                    <a:pt x="525" y="643"/>
                  </a:cubicBezTo>
                  <a:lnTo>
                    <a:pt x="382" y="643"/>
                  </a:lnTo>
                  <a:cubicBezTo>
                    <a:pt x="334" y="643"/>
                    <a:pt x="310" y="595"/>
                    <a:pt x="310" y="548"/>
                  </a:cubicBezTo>
                  <a:cubicBezTo>
                    <a:pt x="310" y="500"/>
                    <a:pt x="334" y="453"/>
                    <a:pt x="382" y="453"/>
                  </a:cubicBezTo>
                  <a:lnTo>
                    <a:pt x="525" y="453"/>
                  </a:lnTo>
                  <a:cubicBezTo>
                    <a:pt x="572" y="453"/>
                    <a:pt x="596" y="476"/>
                    <a:pt x="620" y="500"/>
                  </a:cubicBezTo>
                  <a:cubicBezTo>
                    <a:pt x="635" y="546"/>
                    <a:pt x="681" y="573"/>
                    <a:pt x="730" y="573"/>
                  </a:cubicBezTo>
                  <a:cubicBezTo>
                    <a:pt x="757" y="573"/>
                    <a:pt x="785" y="565"/>
                    <a:pt x="810" y="548"/>
                  </a:cubicBezTo>
                  <a:cubicBezTo>
                    <a:pt x="882" y="500"/>
                    <a:pt x="906" y="405"/>
                    <a:pt x="858" y="333"/>
                  </a:cubicBezTo>
                  <a:cubicBezTo>
                    <a:pt x="787" y="238"/>
                    <a:pt x="715" y="191"/>
                    <a:pt x="620" y="167"/>
                  </a:cubicBezTo>
                  <a:lnTo>
                    <a:pt x="620" y="143"/>
                  </a:lnTo>
                  <a:cubicBezTo>
                    <a:pt x="620" y="48"/>
                    <a:pt x="549" y="0"/>
                    <a:pt x="45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1" name="Google Shape;2838;p94">
              <a:extLst>
                <a:ext uri="{FF2B5EF4-FFF2-40B4-BE49-F238E27FC236}">
                  <a16:creationId xmlns:a16="http://schemas.microsoft.com/office/drawing/2014/main" id="{6F0CCC03-3E72-49CA-80F0-A626E2390658}"/>
                </a:ext>
              </a:extLst>
            </p:cNvPr>
            <p:cNvSpPr/>
            <p:nvPr/>
          </p:nvSpPr>
          <p:spPr>
            <a:xfrm>
              <a:off x="3614049" y="2260280"/>
              <a:ext cx="84167" cy="86069"/>
            </a:xfrm>
            <a:custGeom>
              <a:avLst/>
              <a:gdLst/>
              <a:ahLst/>
              <a:cxnLst/>
              <a:rect l="l" t="t" r="r" b="b"/>
              <a:pathLst>
                <a:path w="2502" h="2502" extrusionOk="0">
                  <a:moveTo>
                    <a:pt x="1239" y="287"/>
                  </a:moveTo>
                  <a:cubicBezTo>
                    <a:pt x="1763" y="287"/>
                    <a:pt x="2216" y="715"/>
                    <a:pt x="2216" y="1263"/>
                  </a:cubicBezTo>
                  <a:cubicBezTo>
                    <a:pt x="2216" y="1787"/>
                    <a:pt x="1787" y="2215"/>
                    <a:pt x="1239" y="2215"/>
                  </a:cubicBezTo>
                  <a:cubicBezTo>
                    <a:pt x="715" y="2215"/>
                    <a:pt x="287" y="1787"/>
                    <a:pt x="287" y="1263"/>
                  </a:cubicBezTo>
                  <a:cubicBezTo>
                    <a:pt x="287" y="715"/>
                    <a:pt x="715" y="287"/>
                    <a:pt x="1239" y="287"/>
                  </a:cubicBezTo>
                  <a:close/>
                  <a:moveTo>
                    <a:pt x="1239" y="1"/>
                  </a:moveTo>
                  <a:cubicBezTo>
                    <a:pt x="549" y="1"/>
                    <a:pt x="1" y="548"/>
                    <a:pt x="1" y="1239"/>
                  </a:cubicBezTo>
                  <a:cubicBezTo>
                    <a:pt x="1" y="1954"/>
                    <a:pt x="549" y="2501"/>
                    <a:pt x="1239" y="2501"/>
                  </a:cubicBezTo>
                  <a:cubicBezTo>
                    <a:pt x="1930" y="2501"/>
                    <a:pt x="2501" y="1954"/>
                    <a:pt x="2501" y="1239"/>
                  </a:cubicBezTo>
                  <a:cubicBezTo>
                    <a:pt x="2501" y="572"/>
                    <a:pt x="1930" y="1"/>
                    <a:pt x="123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2" name="Google Shape;2839;p94">
              <a:extLst>
                <a:ext uri="{FF2B5EF4-FFF2-40B4-BE49-F238E27FC236}">
                  <a16:creationId xmlns:a16="http://schemas.microsoft.com/office/drawing/2014/main" id="{18635451-A733-4CC9-B50F-300CE78CFF2E}"/>
                </a:ext>
              </a:extLst>
            </p:cNvPr>
            <p:cNvSpPr/>
            <p:nvPr/>
          </p:nvSpPr>
          <p:spPr>
            <a:xfrm>
              <a:off x="3610046" y="2358595"/>
              <a:ext cx="45717" cy="10698"/>
            </a:xfrm>
            <a:custGeom>
              <a:avLst/>
              <a:gdLst/>
              <a:ahLst/>
              <a:cxnLst/>
              <a:rect l="l" t="t" r="r" b="b"/>
              <a:pathLst>
                <a:path w="1359" h="311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1215" y="310"/>
                  </a:lnTo>
                  <a:cubicBezTo>
                    <a:pt x="1287" y="310"/>
                    <a:pt x="1358" y="239"/>
                    <a:pt x="1358" y="143"/>
                  </a:cubicBezTo>
                  <a:cubicBezTo>
                    <a:pt x="1358" y="72"/>
                    <a:pt x="1311" y="0"/>
                    <a:pt x="1215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3" name="Google Shape;2840;p94">
              <a:extLst>
                <a:ext uri="{FF2B5EF4-FFF2-40B4-BE49-F238E27FC236}">
                  <a16:creationId xmlns:a16="http://schemas.microsoft.com/office/drawing/2014/main" id="{26780036-310A-4D31-A416-A5EB695F5FF5}"/>
                </a:ext>
              </a:extLst>
            </p:cNvPr>
            <p:cNvSpPr/>
            <p:nvPr/>
          </p:nvSpPr>
          <p:spPr>
            <a:xfrm>
              <a:off x="3671742" y="2379063"/>
              <a:ext cx="25667" cy="9873"/>
            </a:xfrm>
            <a:custGeom>
              <a:avLst/>
              <a:gdLst/>
              <a:ahLst/>
              <a:cxnLst/>
              <a:rect l="l" t="t" r="r" b="b"/>
              <a:pathLst>
                <a:path w="763" h="287" extrusionOk="0">
                  <a:moveTo>
                    <a:pt x="143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3" y="287"/>
                  </a:cubicBezTo>
                  <a:lnTo>
                    <a:pt x="596" y="287"/>
                  </a:lnTo>
                  <a:cubicBezTo>
                    <a:pt x="691" y="287"/>
                    <a:pt x="763" y="215"/>
                    <a:pt x="763" y="144"/>
                  </a:cubicBezTo>
                  <a:cubicBezTo>
                    <a:pt x="763" y="72"/>
                    <a:pt x="691" y="1"/>
                    <a:pt x="59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4" name="Google Shape;2841;p94">
              <a:extLst>
                <a:ext uri="{FF2B5EF4-FFF2-40B4-BE49-F238E27FC236}">
                  <a16:creationId xmlns:a16="http://schemas.microsoft.com/office/drawing/2014/main" id="{76A8C9FE-70F9-46C6-890D-45DD60BFE8B2}"/>
                </a:ext>
              </a:extLst>
            </p:cNvPr>
            <p:cNvSpPr/>
            <p:nvPr/>
          </p:nvSpPr>
          <p:spPr>
            <a:xfrm>
              <a:off x="3610046" y="2379063"/>
              <a:ext cx="28897" cy="9873"/>
            </a:xfrm>
            <a:custGeom>
              <a:avLst/>
              <a:gdLst/>
              <a:ahLst/>
              <a:cxnLst/>
              <a:rect l="l" t="t" r="r" b="b"/>
              <a:pathLst>
                <a:path w="859" h="287" extrusionOk="0">
                  <a:moveTo>
                    <a:pt x="144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4" y="287"/>
                  </a:cubicBezTo>
                  <a:lnTo>
                    <a:pt x="715" y="287"/>
                  </a:lnTo>
                  <a:cubicBezTo>
                    <a:pt x="787" y="287"/>
                    <a:pt x="858" y="215"/>
                    <a:pt x="858" y="144"/>
                  </a:cubicBezTo>
                  <a:cubicBezTo>
                    <a:pt x="858" y="72"/>
                    <a:pt x="811" y="1"/>
                    <a:pt x="7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5" name="Google Shape;2842;p94">
              <a:extLst>
                <a:ext uri="{FF2B5EF4-FFF2-40B4-BE49-F238E27FC236}">
                  <a16:creationId xmlns:a16="http://schemas.microsoft.com/office/drawing/2014/main" id="{97FED165-3DBA-426F-92BB-B0C3DB516285}"/>
                </a:ext>
              </a:extLst>
            </p:cNvPr>
            <p:cNvSpPr/>
            <p:nvPr/>
          </p:nvSpPr>
          <p:spPr>
            <a:xfrm>
              <a:off x="3646108" y="2379063"/>
              <a:ext cx="19276" cy="9873"/>
            </a:xfrm>
            <a:custGeom>
              <a:avLst/>
              <a:gdLst/>
              <a:ahLst/>
              <a:cxnLst/>
              <a:rect l="l" t="t" r="r" b="b"/>
              <a:pathLst>
                <a:path w="573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429" y="287"/>
                  </a:lnTo>
                  <a:cubicBezTo>
                    <a:pt x="501" y="287"/>
                    <a:pt x="572" y="215"/>
                    <a:pt x="572" y="144"/>
                  </a:cubicBezTo>
                  <a:cubicBezTo>
                    <a:pt x="572" y="72"/>
                    <a:pt x="501" y="1"/>
                    <a:pt x="42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6" name="Google Shape;2843;p94">
              <a:extLst>
                <a:ext uri="{FF2B5EF4-FFF2-40B4-BE49-F238E27FC236}">
                  <a16:creationId xmlns:a16="http://schemas.microsoft.com/office/drawing/2014/main" id="{386E4A42-856C-4795-ABCB-63A7928B33C3}"/>
                </a:ext>
              </a:extLst>
            </p:cNvPr>
            <p:cNvSpPr/>
            <p:nvPr/>
          </p:nvSpPr>
          <p:spPr>
            <a:xfrm>
              <a:off x="3610046" y="2398740"/>
              <a:ext cx="86556" cy="10664"/>
            </a:xfrm>
            <a:custGeom>
              <a:avLst/>
              <a:gdLst/>
              <a:ahLst/>
              <a:cxnLst/>
              <a:rect l="l" t="t" r="r" b="b"/>
              <a:pathLst>
                <a:path w="2573" h="310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2430" y="310"/>
                  </a:lnTo>
                  <a:cubicBezTo>
                    <a:pt x="2525" y="310"/>
                    <a:pt x="2573" y="239"/>
                    <a:pt x="2573" y="143"/>
                  </a:cubicBezTo>
                  <a:cubicBezTo>
                    <a:pt x="2573" y="72"/>
                    <a:pt x="2525" y="0"/>
                    <a:pt x="2430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80" name="Google Shape;2818;p94">
            <a:extLst>
              <a:ext uri="{FF2B5EF4-FFF2-40B4-BE49-F238E27FC236}">
                <a16:creationId xmlns:a16="http://schemas.microsoft.com/office/drawing/2014/main" id="{C0241749-B161-4D51-AE4A-9F151E800A9E}"/>
              </a:ext>
            </a:extLst>
          </p:cNvPr>
          <p:cNvGrpSpPr/>
          <p:nvPr/>
        </p:nvGrpSpPr>
        <p:grpSpPr>
          <a:xfrm>
            <a:off x="5710488" y="1722647"/>
            <a:ext cx="738531" cy="731528"/>
            <a:chOff x="4078718" y="2222819"/>
            <a:chExt cx="340504" cy="339803"/>
          </a:xfrm>
        </p:grpSpPr>
        <p:sp>
          <p:nvSpPr>
            <p:cNvPr id="84" name="Google Shape;2819;p94">
              <a:extLst>
                <a:ext uri="{FF2B5EF4-FFF2-40B4-BE49-F238E27FC236}">
                  <a16:creationId xmlns:a16="http://schemas.microsoft.com/office/drawing/2014/main" id="{148574C2-EBD4-4199-9829-8DFDEA9C78B4}"/>
                </a:ext>
              </a:extLst>
            </p:cNvPr>
            <p:cNvSpPr/>
            <p:nvPr/>
          </p:nvSpPr>
          <p:spPr>
            <a:xfrm>
              <a:off x="4267775" y="2311674"/>
              <a:ext cx="17661" cy="13382"/>
            </a:xfrm>
            <a:custGeom>
              <a:avLst/>
              <a:gdLst/>
              <a:ahLst/>
              <a:cxnLst/>
              <a:rect l="l" t="t" r="r" b="b"/>
              <a:pathLst>
                <a:path w="525" h="389" extrusionOk="0">
                  <a:moveTo>
                    <a:pt x="348" y="1"/>
                  </a:moveTo>
                  <a:cubicBezTo>
                    <a:pt x="335" y="1"/>
                    <a:pt x="323" y="3"/>
                    <a:pt x="310" y="7"/>
                  </a:cubicBezTo>
                  <a:lnTo>
                    <a:pt x="96" y="102"/>
                  </a:lnTo>
                  <a:cubicBezTo>
                    <a:pt x="24" y="126"/>
                    <a:pt x="1" y="221"/>
                    <a:pt x="24" y="293"/>
                  </a:cubicBezTo>
                  <a:cubicBezTo>
                    <a:pt x="48" y="340"/>
                    <a:pt x="96" y="388"/>
                    <a:pt x="143" y="388"/>
                  </a:cubicBezTo>
                  <a:cubicBezTo>
                    <a:pt x="167" y="388"/>
                    <a:pt x="191" y="388"/>
                    <a:pt x="215" y="364"/>
                  </a:cubicBezTo>
                  <a:lnTo>
                    <a:pt x="405" y="293"/>
                  </a:lnTo>
                  <a:cubicBezTo>
                    <a:pt x="477" y="269"/>
                    <a:pt x="524" y="174"/>
                    <a:pt x="501" y="102"/>
                  </a:cubicBezTo>
                  <a:cubicBezTo>
                    <a:pt x="461" y="44"/>
                    <a:pt x="406" y="1"/>
                    <a:pt x="34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5" name="Google Shape;2820;p94">
              <a:extLst>
                <a:ext uri="{FF2B5EF4-FFF2-40B4-BE49-F238E27FC236}">
                  <a16:creationId xmlns:a16="http://schemas.microsoft.com/office/drawing/2014/main" id="{57E0AF51-B6FC-41BD-911C-FDDBED10DCD6}"/>
                </a:ext>
              </a:extLst>
            </p:cNvPr>
            <p:cNvSpPr/>
            <p:nvPr/>
          </p:nvSpPr>
          <p:spPr>
            <a:xfrm>
              <a:off x="4257347" y="2292719"/>
              <a:ext cx="16080" cy="15927"/>
            </a:xfrm>
            <a:custGeom>
              <a:avLst/>
              <a:gdLst/>
              <a:ahLst/>
              <a:cxnLst/>
              <a:rect l="l" t="t" r="r" b="b"/>
              <a:pathLst>
                <a:path w="478" h="463" extrusionOk="0">
                  <a:moveTo>
                    <a:pt x="298" y="1"/>
                  </a:moveTo>
                  <a:cubicBezTo>
                    <a:pt x="258" y="1"/>
                    <a:pt x="218" y="19"/>
                    <a:pt x="191" y="58"/>
                  </a:cubicBezTo>
                  <a:lnTo>
                    <a:pt x="49" y="225"/>
                  </a:lnTo>
                  <a:cubicBezTo>
                    <a:pt x="1" y="296"/>
                    <a:pt x="25" y="391"/>
                    <a:pt x="96" y="439"/>
                  </a:cubicBezTo>
                  <a:cubicBezTo>
                    <a:pt x="120" y="463"/>
                    <a:pt x="144" y="463"/>
                    <a:pt x="168" y="463"/>
                  </a:cubicBezTo>
                  <a:cubicBezTo>
                    <a:pt x="215" y="463"/>
                    <a:pt x="263" y="439"/>
                    <a:pt x="287" y="415"/>
                  </a:cubicBezTo>
                  <a:lnTo>
                    <a:pt x="430" y="225"/>
                  </a:lnTo>
                  <a:cubicBezTo>
                    <a:pt x="477" y="177"/>
                    <a:pt x="453" y="82"/>
                    <a:pt x="382" y="34"/>
                  </a:cubicBezTo>
                  <a:cubicBezTo>
                    <a:pt x="361" y="13"/>
                    <a:pt x="330" y="1"/>
                    <a:pt x="29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6" name="Google Shape;2821;p94">
              <a:extLst>
                <a:ext uri="{FF2B5EF4-FFF2-40B4-BE49-F238E27FC236}">
                  <a16:creationId xmlns:a16="http://schemas.microsoft.com/office/drawing/2014/main" id="{57B8954A-C826-4A9B-B657-89922358B024}"/>
                </a:ext>
              </a:extLst>
            </p:cNvPr>
            <p:cNvSpPr/>
            <p:nvPr/>
          </p:nvSpPr>
          <p:spPr>
            <a:xfrm>
              <a:off x="4271778" y="2333208"/>
              <a:ext cx="17661" cy="11490"/>
            </a:xfrm>
            <a:custGeom>
              <a:avLst/>
              <a:gdLst/>
              <a:ahLst/>
              <a:cxnLst/>
              <a:rect l="l" t="t" r="r" b="b"/>
              <a:pathLst>
                <a:path w="525" h="334" extrusionOk="0">
                  <a:moveTo>
                    <a:pt x="191" y="0"/>
                  </a:moveTo>
                  <a:cubicBezTo>
                    <a:pt x="96" y="0"/>
                    <a:pt x="24" y="48"/>
                    <a:pt x="24" y="119"/>
                  </a:cubicBezTo>
                  <a:cubicBezTo>
                    <a:pt x="1" y="215"/>
                    <a:pt x="48" y="286"/>
                    <a:pt x="143" y="286"/>
                  </a:cubicBezTo>
                  <a:lnTo>
                    <a:pt x="358" y="334"/>
                  </a:lnTo>
                  <a:lnTo>
                    <a:pt x="382" y="334"/>
                  </a:lnTo>
                  <a:cubicBezTo>
                    <a:pt x="453" y="334"/>
                    <a:pt x="501" y="286"/>
                    <a:pt x="525" y="215"/>
                  </a:cubicBezTo>
                  <a:cubicBezTo>
                    <a:pt x="525" y="119"/>
                    <a:pt x="477" y="48"/>
                    <a:pt x="405" y="48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7" name="Google Shape;2822;p94">
              <a:extLst>
                <a:ext uri="{FF2B5EF4-FFF2-40B4-BE49-F238E27FC236}">
                  <a16:creationId xmlns:a16="http://schemas.microsoft.com/office/drawing/2014/main" id="{0E034DD0-4B55-4B91-A037-3246A0A29407}"/>
                </a:ext>
              </a:extLst>
            </p:cNvPr>
            <p:cNvSpPr/>
            <p:nvPr/>
          </p:nvSpPr>
          <p:spPr>
            <a:xfrm>
              <a:off x="4078718" y="2222819"/>
              <a:ext cx="340504" cy="339803"/>
            </a:xfrm>
            <a:custGeom>
              <a:avLst/>
              <a:gdLst/>
              <a:ahLst/>
              <a:cxnLst/>
              <a:rect l="l" t="t" r="r" b="b"/>
              <a:pathLst>
                <a:path w="10122" h="9878" extrusionOk="0">
                  <a:moveTo>
                    <a:pt x="4787" y="423"/>
                  </a:moveTo>
                  <a:lnTo>
                    <a:pt x="6168" y="994"/>
                  </a:lnTo>
                  <a:lnTo>
                    <a:pt x="5240" y="1376"/>
                  </a:lnTo>
                  <a:cubicBezTo>
                    <a:pt x="5233" y="1382"/>
                    <a:pt x="5226" y="1385"/>
                    <a:pt x="5219" y="1385"/>
                  </a:cubicBezTo>
                  <a:cubicBezTo>
                    <a:pt x="5202" y="1385"/>
                    <a:pt x="5185" y="1369"/>
                    <a:pt x="5168" y="1352"/>
                  </a:cubicBezTo>
                  <a:lnTo>
                    <a:pt x="4787" y="423"/>
                  </a:lnTo>
                  <a:close/>
                  <a:moveTo>
                    <a:pt x="8216" y="2066"/>
                  </a:moveTo>
                  <a:cubicBezTo>
                    <a:pt x="8264" y="2066"/>
                    <a:pt x="8312" y="2090"/>
                    <a:pt x="8312" y="2138"/>
                  </a:cubicBezTo>
                  <a:lnTo>
                    <a:pt x="8312" y="2566"/>
                  </a:lnTo>
                  <a:cubicBezTo>
                    <a:pt x="8312" y="2614"/>
                    <a:pt x="8264" y="2661"/>
                    <a:pt x="8216" y="2661"/>
                  </a:cubicBezTo>
                  <a:lnTo>
                    <a:pt x="7407" y="2661"/>
                  </a:lnTo>
                  <a:lnTo>
                    <a:pt x="7168" y="2066"/>
                  </a:lnTo>
                  <a:close/>
                  <a:moveTo>
                    <a:pt x="8788" y="1280"/>
                  </a:moveTo>
                  <a:cubicBezTo>
                    <a:pt x="8931" y="1280"/>
                    <a:pt x="9050" y="1399"/>
                    <a:pt x="9050" y="1542"/>
                  </a:cubicBezTo>
                  <a:lnTo>
                    <a:pt x="9050" y="3924"/>
                  </a:lnTo>
                  <a:lnTo>
                    <a:pt x="7954" y="3924"/>
                  </a:lnTo>
                  <a:lnTo>
                    <a:pt x="7550" y="2947"/>
                  </a:lnTo>
                  <a:lnTo>
                    <a:pt x="8216" y="2947"/>
                  </a:lnTo>
                  <a:cubicBezTo>
                    <a:pt x="8431" y="2947"/>
                    <a:pt x="8597" y="2781"/>
                    <a:pt x="8597" y="2566"/>
                  </a:cubicBezTo>
                  <a:lnTo>
                    <a:pt x="8597" y="2138"/>
                  </a:lnTo>
                  <a:cubicBezTo>
                    <a:pt x="8597" y="1923"/>
                    <a:pt x="8431" y="1757"/>
                    <a:pt x="8216" y="1757"/>
                  </a:cubicBezTo>
                  <a:lnTo>
                    <a:pt x="7049" y="1757"/>
                  </a:lnTo>
                  <a:lnTo>
                    <a:pt x="6835" y="1280"/>
                  </a:lnTo>
                  <a:close/>
                  <a:moveTo>
                    <a:pt x="4430" y="352"/>
                  </a:moveTo>
                  <a:lnTo>
                    <a:pt x="4906" y="1471"/>
                  </a:lnTo>
                  <a:cubicBezTo>
                    <a:pt x="4954" y="1614"/>
                    <a:pt x="5073" y="1685"/>
                    <a:pt x="5216" y="1685"/>
                  </a:cubicBezTo>
                  <a:cubicBezTo>
                    <a:pt x="5263" y="1685"/>
                    <a:pt x="5311" y="1685"/>
                    <a:pt x="5359" y="1661"/>
                  </a:cubicBezTo>
                  <a:lnTo>
                    <a:pt x="6478" y="1185"/>
                  </a:lnTo>
                  <a:lnTo>
                    <a:pt x="7621" y="3947"/>
                  </a:lnTo>
                  <a:lnTo>
                    <a:pt x="6907" y="3947"/>
                  </a:lnTo>
                  <a:cubicBezTo>
                    <a:pt x="6835" y="3947"/>
                    <a:pt x="6764" y="3995"/>
                    <a:pt x="6764" y="4090"/>
                  </a:cubicBezTo>
                  <a:cubicBezTo>
                    <a:pt x="6764" y="4162"/>
                    <a:pt x="6835" y="4233"/>
                    <a:pt x="6907" y="4233"/>
                  </a:cubicBezTo>
                  <a:lnTo>
                    <a:pt x="9574" y="4233"/>
                  </a:lnTo>
                  <a:cubicBezTo>
                    <a:pt x="9717" y="4233"/>
                    <a:pt x="9812" y="4352"/>
                    <a:pt x="9812" y="4471"/>
                  </a:cubicBezTo>
                  <a:lnTo>
                    <a:pt x="9812" y="8972"/>
                  </a:lnTo>
                  <a:cubicBezTo>
                    <a:pt x="9812" y="9330"/>
                    <a:pt x="9550" y="9591"/>
                    <a:pt x="9193" y="9591"/>
                  </a:cubicBezTo>
                  <a:lnTo>
                    <a:pt x="1596" y="9591"/>
                  </a:lnTo>
                  <a:cubicBezTo>
                    <a:pt x="1739" y="9425"/>
                    <a:pt x="1834" y="9210"/>
                    <a:pt x="1834" y="8972"/>
                  </a:cubicBezTo>
                  <a:lnTo>
                    <a:pt x="1834" y="7353"/>
                  </a:lnTo>
                  <a:cubicBezTo>
                    <a:pt x="1834" y="7281"/>
                    <a:pt x="1763" y="7210"/>
                    <a:pt x="1667" y="7210"/>
                  </a:cubicBezTo>
                  <a:cubicBezTo>
                    <a:pt x="1596" y="7210"/>
                    <a:pt x="1524" y="7281"/>
                    <a:pt x="1524" y="7353"/>
                  </a:cubicBezTo>
                  <a:lnTo>
                    <a:pt x="1524" y="8972"/>
                  </a:lnTo>
                  <a:cubicBezTo>
                    <a:pt x="1524" y="9330"/>
                    <a:pt x="1262" y="9591"/>
                    <a:pt x="905" y="9591"/>
                  </a:cubicBezTo>
                  <a:cubicBezTo>
                    <a:pt x="572" y="9591"/>
                    <a:pt x="286" y="9330"/>
                    <a:pt x="286" y="8972"/>
                  </a:cubicBezTo>
                  <a:lnTo>
                    <a:pt x="286" y="2590"/>
                  </a:lnTo>
                  <a:cubicBezTo>
                    <a:pt x="286" y="2447"/>
                    <a:pt x="405" y="2328"/>
                    <a:pt x="548" y="2328"/>
                  </a:cubicBezTo>
                  <a:lnTo>
                    <a:pt x="834" y="2328"/>
                  </a:lnTo>
                  <a:lnTo>
                    <a:pt x="1120" y="3066"/>
                  </a:lnTo>
                  <a:cubicBezTo>
                    <a:pt x="1155" y="3120"/>
                    <a:pt x="1204" y="3147"/>
                    <a:pt x="1257" y="3147"/>
                  </a:cubicBezTo>
                  <a:cubicBezTo>
                    <a:pt x="1274" y="3147"/>
                    <a:pt x="1292" y="3144"/>
                    <a:pt x="1310" y="3138"/>
                  </a:cubicBezTo>
                  <a:cubicBezTo>
                    <a:pt x="1382" y="3114"/>
                    <a:pt x="1429" y="3019"/>
                    <a:pt x="1405" y="2947"/>
                  </a:cubicBezTo>
                  <a:lnTo>
                    <a:pt x="953" y="1876"/>
                  </a:lnTo>
                  <a:cubicBezTo>
                    <a:pt x="929" y="1852"/>
                    <a:pt x="953" y="1804"/>
                    <a:pt x="977" y="1804"/>
                  </a:cubicBezTo>
                  <a:lnTo>
                    <a:pt x="4430" y="352"/>
                  </a:lnTo>
                  <a:close/>
                  <a:moveTo>
                    <a:pt x="4513" y="0"/>
                  </a:moveTo>
                  <a:cubicBezTo>
                    <a:pt x="4495" y="0"/>
                    <a:pt x="4477" y="6"/>
                    <a:pt x="4454" y="18"/>
                  </a:cubicBezTo>
                  <a:lnTo>
                    <a:pt x="858" y="1518"/>
                  </a:lnTo>
                  <a:cubicBezTo>
                    <a:pt x="691" y="1590"/>
                    <a:pt x="596" y="1804"/>
                    <a:pt x="667" y="1971"/>
                  </a:cubicBezTo>
                  <a:lnTo>
                    <a:pt x="691" y="2042"/>
                  </a:lnTo>
                  <a:lnTo>
                    <a:pt x="548" y="2042"/>
                  </a:lnTo>
                  <a:cubicBezTo>
                    <a:pt x="238" y="2042"/>
                    <a:pt x="0" y="2280"/>
                    <a:pt x="0" y="2590"/>
                  </a:cubicBezTo>
                  <a:lnTo>
                    <a:pt x="0" y="8972"/>
                  </a:lnTo>
                  <a:cubicBezTo>
                    <a:pt x="0" y="9472"/>
                    <a:pt x="405" y="9877"/>
                    <a:pt x="905" y="9877"/>
                  </a:cubicBezTo>
                  <a:lnTo>
                    <a:pt x="9193" y="9877"/>
                  </a:lnTo>
                  <a:cubicBezTo>
                    <a:pt x="9717" y="9877"/>
                    <a:pt x="10121" y="9472"/>
                    <a:pt x="10121" y="8972"/>
                  </a:cubicBezTo>
                  <a:lnTo>
                    <a:pt x="10121" y="4471"/>
                  </a:lnTo>
                  <a:cubicBezTo>
                    <a:pt x="10121" y="4162"/>
                    <a:pt x="9860" y="3924"/>
                    <a:pt x="9574" y="3924"/>
                  </a:cubicBezTo>
                  <a:lnTo>
                    <a:pt x="9336" y="3924"/>
                  </a:lnTo>
                  <a:lnTo>
                    <a:pt x="9336" y="1542"/>
                  </a:lnTo>
                  <a:cubicBezTo>
                    <a:pt x="9336" y="1233"/>
                    <a:pt x="9097" y="994"/>
                    <a:pt x="8788" y="994"/>
                  </a:cubicBezTo>
                  <a:lnTo>
                    <a:pt x="6716" y="994"/>
                  </a:lnTo>
                  <a:lnTo>
                    <a:pt x="6692" y="923"/>
                  </a:lnTo>
                  <a:cubicBezTo>
                    <a:pt x="6668" y="899"/>
                    <a:pt x="6645" y="852"/>
                    <a:pt x="6621" y="852"/>
                  </a:cubicBezTo>
                  <a:lnTo>
                    <a:pt x="4573" y="18"/>
                  </a:lnTo>
                  <a:cubicBezTo>
                    <a:pt x="4549" y="6"/>
                    <a:pt x="4531" y="0"/>
                    <a:pt x="451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8" name="Google Shape;2823;p94">
              <a:extLst>
                <a:ext uri="{FF2B5EF4-FFF2-40B4-BE49-F238E27FC236}">
                  <a16:creationId xmlns:a16="http://schemas.microsoft.com/office/drawing/2014/main" id="{06B94662-6FE6-4CF5-B934-EE5CBA83D325}"/>
                </a:ext>
              </a:extLst>
            </p:cNvPr>
            <p:cNvSpPr/>
            <p:nvPr/>
          </p:nvSpPr>
          <p:spPr>
            <a:xfrm>
              <a:off x="4123561" y="2296744"/>
              <a:ext cx="170689" cy="161818"/>
            </a:xfrm>
            <a:custGeom>
              <a:avLst/>
              <a:gdLst/>
              <a:ahLst/>
              <a:cxnLst/>
              <a:rect l="l" t="t" r="r" b="b"/>
              <a:pathLst>
                <a:path w="5074" h="4704" extrusionOk="0">
                  <a:moveTo>
                    <a:pt x="2760" y="301"/>
                  </a:moveTo>
                  <a:cubicBezTo>
                    <a:pt x="2892" y="301"/>
                    <a:pt x="3021" y="325"/>
                    <a:pt x="3144" y="370"/>
                  </a:cubicBezTo>
                  <a:cubicBezTo>
                    <a:pt x="3430" y="489"/>
                    <a:pt x="3645" y="703"/>
                    <a:pt x="3740" y="965"/>
                  </a:cubicBezTo>
                  <a:cubicBezTo>
                    <a:pt x="3859" y="1227"/>
                    <a:pt x="3859" y="1513"/>
                    <a:pt x="3764" y="1775"/>
                  </a:cubicBezTo>
                  <a:lnTo>
                    <a:pt x="3287" y="1775"/>
                  </a:lnTo>
                  <a:cubicBezTo>
                    <a:pt x="3335" y="1679"/>
                    <a:pt x="3359" y="1560"/>
                    <a:pt x="3311" y="1441"/>
                  </a:cubicBezTo>
                  <a:cubicBezTo>
                    <a:pt x="3264" y="1346"/>
                    <a:pt x="3168" y="1275"/>
                    <a:pt x="3073" y="1227"/>
                  </a:cubicBezTo>
                  <a:cubicBezTo>
                    <a:pt x="3025" y="1203"/>
                    <a:pt x="2972" y="1191"/>
                    <a:pt x="2918" y="1191"/>
                  </a:cubicBezTo>
                  <a:cubicBezTo>
                    <a:pt x="2865" y="1191"/>
                    <a:pt x="2811" y="1203"/>
                    <a:pt x="2763" y="1227"/>
                  </a:cubicBezTo>
                  <a:lnTo>
                    <a:pt x="2621" y="1298"/>
                  </a:lnTo>
                  <a:cubicBezTo>
                    <a:pt x="2607" y="1303"/>
                    <a:pt x="2594" y="1305"/>
                    <a:pt x="2581" y="1305"/>
                  </a:cubicBezTo>
                  <a:cubicBezTo>
                    <a:pt x="2524" y="1305"/>
                    <a:pt x="2473" y="1266"/>
                    <a:pt x="2454" y="1227"/>
                  </a:cubicBezTo>
                  <a:cubicBezTo>
                    <a:pt x="2430" y="1155"/>
                    <a:pt x="2478" y="1108"/>
                    <a:pt x="2525" y="1084"/>
                  </a:cubicBezTo>
                  <a:lnTo>
                    <a:pt x="2668" y="1013"/>
                  </a:lnTo>
                  <a:cubicBezTo>
                    <a:pt x="2692" y="1001"/>
                    <a:pt x="2710" y="995"/>
                    <a:pt x="2728" y="995"/>
                  </a:cubicBezTo>
                  <a:cubicBezTo>
                    <a:pt x="2746" y="995"/>
                    <a:pt x="2763" y="1001"/>
                    <a:pt x="2787" y="1013"/>
                  </a:cubicBezTo>
                  <a:cubicBezTo>
                    <a:pt x="2815" y="1031"/>
                    <a:pt x="2842" y="1039"/>
                    <a:pt x="2868" y="1039"/>
                  </a:cubicBezTo>
                  <a:cubicBezTo>
                    <a:pt x="2910" y="1039"/>
                    <a:pt x="2948" y="1018"/>
                    <a:pt x="2978" y="989"/>
                  </a:cubicBezTo>
                  <a:cubicBezTo>
                    <a:pt x="3025" y="917"/>
                    <a:pt x="3002" y="822"/>
                    <a:pt x="2954" y="774"/>
                  </a:cubicBezTo>
                  <a:cubicBezTo>
                    <a:pt x="2892" y="728"/>
                    <a:pt x="2821" y="702"/>
                    <a:pt x="2746" y="702"/>
                  </a:cubicBezTo>
                  <a:cubicBezTo>
                    <a:pt x="2705" y="702"/>
                    <a:pt x="2663" y="710"/>
                    <a:pt x="2621" y="727"/>
                  </a:cubicBezTo>
                  <a:lnTo>
                    <a:pt x="2597" y="679"/>
                  </a:lnTo>
                  <a:cubicBezTo>
                    <a:pt x="2577" y="620"/>
                    <a:pt x="2509" y="578"/>
                    <a:pt x="2446" y="578"/>
                  </a:cubicBezTo>
                  <a:cubicBezTo>
                    <a:pt x="2432" y="578"/>
                    <a:pt x="2419" y="580"/>
                    <a:pt x="2406" y="584"/>
                  </a:cubicBezTo>
                  <a:cubicBezTo>
                    <a:pt x="2335" y="632"/>
                    <a:pt x="2311" y="703"/>
                    <a:pt x="2335" y="774"/>
                  </a:cubicBezTo>
                  <a:lnTo>
                    <a:pt x="2359" y="822"/>
                  </a:lnTo>
                  <a:cubicBezTo>
                    <a:pt x="2192" y="941"/>
                    <a:pt x="2120" y="1155"/>
                    <a:pt x="2192" y="1346"/>
                  </a:cubicBezTo>
                  <a:cubicBezTo>
                    <a:pt x="2264" y="1490"/>
                    <a:pt x="2418" y="1594"/>
                    <a:pt x="2582" y="1594"/>
                  </a:cubicBezTo>
                  <a:cubicBezTo>
                    <a:pt x="2635" y="1594"/>
                    <a:pt x="2688" y="1583"/>
                    <a:pt x="2740" y="1560"/>
                  </a:cubicBezTo>
                  <a:lnTo>
                    <a:pt x="2882" y="1489"/>
                  </a:lnTo>
                  <a:lnTo>
                    <a:pt x="2978" y="1489"/>
                  </a:lnTo>
                  <a:cubicBezTo>
                    <a:pt x="3002" y="1513"/>
                    <a:pt x="3025" y="1537"/>
                    <a:pt x="3025" y="1560"/>
                  </a:cubicBezTo>
                  <a:cubicBezTo>
                    <a:pt x="3049" y="1608"/>
                    <a:pt x="3025" y="1679"/>
                    <a:pt x="2978" y="1703"/>
                  </a:cubicBezTo>
                  <a:lnTo>
                    <a:pt x="2811" y="1775"/>
                  </a:lnTo>
                  <a:lnTo>
                    <a:pt x="2763" y="1775"/>
                  </a:lnTo>
                  <a:cubicBezTo>
                    <a:pt x="2740" y="1775"/>
                    <a:pt x="2716" y="1775"/>
                    <a:pt x="2692" y="1751"/>
                  </a:cubicBezTo>
                  <a:cubicBezTo>
                    <a:pt x="2668" y="1715"/>
                    <a:pt x="2632" y="1697"/>
                    <a:pt x="2594" y="1697"/>
                  </a:cubicBezTo>
                  <a:cubicBezTo>
                    <a:pt x="2555" y="1697"/>
                    <a:pt x="2513" y="1715"/>
                    <a:pt x="2478" y="1751"/>
                  </a:cubicBezTo>
                  <a:cubicBezTo>
                    <a:pt x="2478" y="1751"/>
                    <a:pt x="2478" y="1775"/>
                    <a:pt x="2454" y="1775"/>
                  </a:cubicBezTo>
                  <a:lnTo>
                    <a:pt x="1739" y="1775"/>
                  </a:lnTo>
                  <a:cubicBezTo>
                    <a:pt x="1620" y="1513"/>
                    <a:pt x="1620" y="1227"/>
                    <a:pt x="1739" y="965"/>
                  </a:cubicBezTo>
                  <a:cubicBezTo>
                    <a:pt x="1835" y="703"/>
                    <a:pt x="2049" y="489"/>
                    <a:pt x="2311" y="393"/>
                  </a:cubicBezTo>
                  <a:cubicBezTo>
                    <a:pt x="2462" y="331"/>
                    <a:pt x="2613" y="301"/>
                    <a:pt x="2760" y="301"/>
                  </a:cubicBezTo>
                  <a:close/>
                  <a:moveTo>
                    <a:pt x="2740" y="0"/>
                  </a:moveTo>
                  <a:cubicBezTo>
                    <a:pt x="2561" y="0"/>
                    <a:pt x="2382" y="36"/>
                    <a:pt x="2216" y="108"/>
                  </a:cubicBezTo>
                  <a:cubicBezTo>
                    <a:pt x="1858" y="251"/>
                    <a:pt x="1596" y="512"/>
                    <a:pt x="1454" y="846"/>
                  </a:cubicBezTo>
                  <a:cubicBezTo>
                    <a:pt x="1335" y="1155"/>
                    <a:pt x="1311" y="1489"/>
                    <a:pt x="1406" y="1775"/>
                  </a:cubicBezTo>
                  <a:lnTo>
                    <a:pt x="739" y="1775"/>
                  </a:lnTo>
                  <a:cubicBezTo>
                    <a:pt x="644" y="1775"/>
                    <a:pt x="572" y="1798"/>
                    <a:pt x="501" y="1822"/>
                  </a:cubicBezTo>
                  <a:lnTo>
                    <a:pt x="311" y="1394"/>
                  </a:lnTo>
                  <a:cubicBezTo>
                    <a:pt x="293" y="1342"/>
                    <a:pt x="239" y="1303"/>
                    <a:pt x="183" y="1303"/>
                  </a:cubicBezTo>
                  <a:cubicBezTo>
                    <a:pt x="162" y="1303"/>
                    <a:pt x="140" y="1309"/>
                    <a:pt x="120" y="1322"/>
                  </a:cubicBezTo>
                  <a:cubicBezTo>
                    <a:pt x="49" y="1346"/>
                    <a:pt x="1" y="1441"/>
                    <a:pt x="49" y="1513"/>
                  </a:cubicBezTo>
                  <a:lnTo>
                    <a:pt x="263" y="2037"/>
                  </a:lnTo>
                  <a:cubicBezTo>
                    <a:pt x="215" y="2132"/>
                    <a:pt x="191" y="2227"/>
                    <a:pt x="191" y="2322"/>
                  </a:cubicBezTo>
                  <a:lnTo>
                    <a:pt x="191" y="4537"/>
                  </a:lnTo>
                  <a:cubicBezTo>
                    <a:pt x="191" y="4632"/>
                    <a:pt x="263" y="4704"/>
                    <a:pt x="334" y="4704"/>
                  </a:cubicBezTo>
                  <a:cubicBezTo>
                    <a:pt x="430" y="4704"/>
                    <a:pt x="501" y="4632"/>
                    <a:pt x="501" y="4537"/>
                  </a:cubicBezTo>
                  <a:lnTo>
                    <a:pt x="501" y="2322"/>
                  </a:lnTo>
                  <a:cubicBezTo>
                    <a:pt x="501" y="2179"/>
                    <a:pt x="596" y="2084"/>
                    <a:pt x="739" y="2084"/>
                  </a:cubicBezTo>
                  <a:lnTo>
                    <a:pt x="4907" y="2084"/>
                  </a:lnTo>
                  <a:cubicBezTo>
                    <a:pt x="5002" y="2084"/>
                    <a:pt x="5073" y="2013"/>
                    <a:pt x="5073" y="1918"/>
                  </a:cubicBezTo>
                  <a:cubicBezTo>
                    <a:pt x="5073" y="1846"/>
                    <a:pt x="5002" y="1775"/>
                    <a:pt x="4907" y="1775"/>
                  </a:cubicBezTo>
                  <a:lnTo>
                    <a:pt x="4073" y="1775"/>
                  </a:lnTo>
                  <a:cubicBezTo>
                    <a:pt x="4168" y="1465"/>
                    <a:pt x="4145" y="1155"/>
                    <a:pt x="4026" y="846"/>
                  </a:cubicBezTo>
                  <a:cubicBezTo>
                    <a:pt x="3883" y="512"/>
                    <a:pt x="3597" y="251"/>
                    <a:pt x="3264" y="108"/>
                  </a:cubicBezTo>
                  <a:cubicBezTo>
                    <a:pt x="3097" y="36"/>
                    <a:pt x="2918" y="0"/>
                    <a:pt x="2740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9" name="Google Shape;2824;p94">
              <a:extLst>
                <a:ext uri="{FF2B5EF4-FFF2-40B4-BE49-F238E27FC236}">
                  <a16:creationId xmlns:a16="http://schemas.microsoft.com/office/drawing/2014/main" id="{02B037F2-DC45-4341-8A79-CB3209AED39D}"/>
                </a:ext>
              </a:extLst>
            </p:cNvPr>
            <p:cNvSpPr/>
            <p:nvPr/>
          </p:nvSpPr>
          <p:spPr>
            <a:xfrm>
              <a:off x="4130793" y="2276448"/>
              <a:ext cx="47298" cy="25662"/>
            </a:xfrm>
            <a:custGeom>
              <a:avLst/>
              <a:gdLst/>
              <a:ahLst/>
              <a:cxnLst/>
              <a:rect l="l" t="t" r="r" b="b"/>
              <a:pathLst>
                <a:path w="1406" h="746" extrusionOk="0">
                  <a:moveTo>
                    <a:pt x="1207" y="1"/>
                  </a:moveTo>
                  <a:cubicBezTo>
                    <a:pt x="1193" y="1"/>
                    <a:pt x="1180" y="3"/>
                    <a:pt x="1167" y="7"/>
                  </a:cubicBezTo>
                  <a:lnTo>
                    <a:pt x="119" y="460"/>
                  </a:lnTo>
                  <a:cubicBezTo>
                    <a:pt x="48" y="483"/>
                    <a:pt x="0" y="579"/>
                    <a:pt x="24" y="650"/>
                  </a:cubicBezTo>
                  <a:cubicBezTo>
                    <a:pt x="48" y="721"/>
                    <a:pt x="119" y="745"/>
                    <a:pt x="167" y="745"/>
                  </a:cubicBezTo>
                  <a:lnTo>
                    <a:pt x="215" y="745"/>
                  </a:lnTo>
                  <a:lnTo>
                    <a:pt x="1286" y="293"/>
                  </a:lnTo>
                  <a:cubicBezTo>
                    <a:pt x="1358" y="269"/>
                    <a:pt x="1405" y="174"/>
                    <a:pt x="1358" y="102"/>
                  </a:cubicBezTo>
                  <a:cubicBezTo>
                    <a:pt x="1338" y="44"/>
                    <a:pt x="1270" y="1"/>
                    <a:pt x="120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0" name="Google Shape;2825;p94">
              <a:extLst>
                <a:ext uri="{FF2B5EF4-FFF2-40B4-BE49-F238E27FC236}">
                  <a16:creationId xmlns:a16="http://schemas.microsoft.com/office/drawing/2014/main" id="{C50B4741-907E-42DE-BA0B-3176B42ED322}"/>
                </a:ext>
              </a:extLst>
            </p:cNvPr>
            <p:cNvSpPr/>
            <p:nvPr/>
          </p:nvSpPr>
          <p:spPr>
            <a:xfrm>
              <a:off x="4137992" y="2301423"/>
              <a:ext cx="25667" cy="16237"/>
            </a:xfrm>
            <a:custGeom>
              <a:avLst/>
              <a:gdLst/>
              <a:ahLst/>
              <a:cxnLst/>
              <a:rect l="l" t="t" r="r" b="b"/>
              <a:pathLst>
                <a:path w="763" h="472" extrusionOk="0">
                  <a:moveTo>
                    <a:pt x="599" y="0"/>
                  </a:moveTo>
                  <a:cubicBezTo>
                    <a:pt x="576" y="0"/>
                    <a:pt x="551" y="6"/>
                    <a:pt x="525" y="19"/>
                  </a:cubicBezTo>
                  <a:lnTo>
                    <a:pt x="96" y="186"/>
                  </a:lnTo>
                  <a:cubicBezTo>
                    <a:pt x="24" y="234"/>
                    <a:pt x="1" y="305"/>
                    <a:pt x="24" y="376"/>
                  </a:cubicBezTo>
                  <a:cubicBezTo>
                    <a:pt x="48" y="448"/>
                    <a:pt x="96" y="472"/>
                    <a:pt x="167" y="472"/>
                  </a:cubicBezTo>
                  <a:lnTo>
                    <a:pt x="215" y="472"/>
                  </a:lnTo>
                  <a:lnTo>
                    <a:pt x="644" y="281"/>
                  </a:lnTo>
                  <a:cubicBezTo>
                    <a:pt x="715" y="257"/>
                    <a:pt x="763" y="162"/>
                    <a:pt x="739" y="91"/>
                  </a:cubicBezTo>
                  <a:cubicBezTo>
                    <a:pt x="705" y="39"/>
                    <a:pt x="658" y="0"/>
                    <a:pt x="59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1" name="Google Shape;2826;p94">
              <a:extLst>
                <a:ext uri="{FF2B5EF4-FFF2-40B4-BE49-F238E27FC236}">
                  <a16:creationId xmlns:a16="http://schemas.microsoft.com/office/drawing/2014/main" id="{36AB534A-DCD7-4445-B575-A5862273CEB8}"/>
                </a:ext>
              </a:extLst>
            </p:cNvPr>
            <p:cNvSpPr/>
            <p:nvPr/>
          </p:nvSpPr>
          <p:spPr>
            <a:xfrm>
              <a:off x="4161237" y="2507685"/>
              <a:ext cx="35288" cy="9873"/>
            </a:xfrm>
            <a:custGeom>
              <a:avLst/>
              <a:gdLst/>
              <a:ahLst/>
              <a:cxnLst/>
              <a:rect l="l" t="t" r="r" b="b"/>
              <a:pathLst>
                <a:path w="1049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6"/>
                    <a:pt x="143" y="286"/>
                  </a:cubicBezTo>
                  <a:lnTo>
                    <a:pt x="905" y="286"/>
                  </a:lnTo>
                  <a:cubicBezTo>
                    <a:pt x="977" y="286"/>
                    <a:pt x="1048" y="215"/>
                    <a:pt x="1048" y="144"/>
                  </a:cubicBezTo>
                  <a:cubicBezTo>
                    <a:pt x="1048" y="48"/>
                    <a:pt x="977" y="1"/>
                    <a:pt x="90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2" name="Google Shape;2827;p94">
              <a:extLst>
                <a:ext uri="{FF2B5EF4-FFF2-40B4-BE49-F238E27FC236}">
                  <a16:creationId xmlns:a16="http://schemas.microsoft.com/office/drawing/2014/main" id="{B5DD2815-B50D-4491-A04C-6F99AB0237E5}"/>
                </a:ext>
              </a:extLst>
            </p:cNvPr>
            <p:cNvSpPr/>
            <p:nvPr/>
          </p:nvSpPr>
          <p:spPr>
            <a:xfrm>
              <a:off x="4161237" y="2525711"/>
              <a:ext cx="81745" cy="10698"/>
            </a:xfrm>
            <a:custGeom>
              <a:avLst/>
              <a:gdLst/>
              <a:ahLst/>
              <a:cxnLst/>
              <a:rect l="l" t="t" r="r" b="b"/>
              <a:pathLst>
                <a:path w="2430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86" y="310"/>
                  </a:lnTo>
                  <a:cubicBezTo>
                    <a:pt x="2358" y="310"/>
                    <a:pt x="2429" y="239"/>
                    <a:pt x="2429" y="143"/>
                  </a:cubicBezTo>
                  <a:cubicBezTo>
                    <a:pt x="2429" y="72"/>
                    <a:pt x="2358" y="1"/>
                    <a:pt x="228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94" name="Google Shape;2805;p94">
            <a:extLst>
              <a:ext uri="{FF2B5EF4-FFF2-40B4-BE49-F238E27FC236}">
                <a16:creationId xmlns:a16="http://schemas.microsoft.com/office/drawing/2014/main" id="{5E434E9D-30AC-45F0-A79E-53D93704F0BF}"/>
              </a:ext>
            </a:extLst>
          </p:cNvPr>
          <p:cNvGrpSpPr/>
          <p:nvPr/>
        </p:nvGrpSpPr>
        <p:grpSpPr>
          <a:xfrm>
            <a:off x="9757324" y="1749715"/>
            <a:ext cx="738604" cy="694944"/>
            <a:chOff x="4754041" y="2231625"/>
            <a:chExt cx="340538" cy="322810"/>
          </a:xfrm>
        </p:grpSpPr>
        <p:sp>
          <p:nvSpPr>
            <p:cNvPr id="98" name="Google Shape;2806;p94">
              <a:extLst>
                <a:ext uri="{FF2B5EF4-FFF2-40B4-BE49-F238E27FC236}">
                  <a16:creationId xmlns:a16="http://schemas.microsoft.com/office/drawing/2014/main" id="{DF5EB72A-9714-47B1-AA38-FD4B1CF31477}"/>
                </a:ext>
              </a:extLst>
            </p:cNvPr>
            <p:cNvSpPr/>
            <p:nvPr/>
          </p:nvSpPr>
          <p:spPr>
            <a:xfrm>
              <a:off x="4754041" y="2231625"/>
              <a:ext cx="340538" cy="322810"/>
            </a:xfrm>
            <a:custGeom>
              <a:avLst/>
              <a:gdLst/>
              <a:ahLst/>
              <a:cxnLst/>
              <a:rect l="l" t="t" r="r" b="b"/>
              <a:pathLst>
                <a:path w="10123" h="9384" extrusionOk="0">
                  <a:moveTo>
                    <a:pt x="5073" y="8550"/>
                  </a:moveTo>
                  <a:cubicBezTo>
                    <a:pt x="5216" y="8550"/>
                    <a:pt x="5335" y="8669"/>
                    <a:pt x="5335" y="8812"/>
                  </a:cubicBezTo>
                  <a:cubicBezTo>
                    <a:pt x="5335" y="8954"/>
                    <a:pt x="5216" y="9097"/>
                    <a:pt x="5073" y="9097"/>
                  </a:cubicBezTo>
                  <a:cubicBezTo>
                    <a:pt x="4907" y="9097"/>
                    <a:pt x="4788" y="8954"/>
                    <a:pt x="4788" y="8812"/>
                  </a:cubicBezTo>
                  <a:cubicBezTo>
                    <a:pt x="4788" y="8669"/>
                    <a:pt x="4907" y="8550"/>
                    <a:pt x="5073" y="8550"/>
                  </a:cubicBezTo>
                  <a:close/>
                  <a:moveTo>
                    <a:pt x="358" y="0"/>
                  </a:moveTo>
                  <a:cubicBezTo>
                    <a:pt x="168" y="0"/>
                    <a:pt x="1" y="167"/>
                    <a:pt x="1" y="357"/>
                  </a:cubicBezTo>
                  <a:lnTo>
                    <a:pt x="1" y="953"/>
                  </a:lnTo>
                  <a:cubicBezTo>
                    <a:pt x="1" y="1143"/>
                    <a:pt x="144" y="1286"/>
                    <a:pt x="334" y="1286"/>
                  </a:cubicBezTo>
                  <a:lnTo>
                    <a:pt x="334" y="5168"/>
                  </a:lnTo>
                  <a:cubicBezTo>
                    <a:pt x="334" y="5239"/>
                    <a:pt x="406" y="5311"/>
                    <a:pt x="477" y="5311"/>
                  </a:cubicBezTo>
                  <a:cubicBezTo>
                    <a:pt x="572" y="5311"/>
                    <a:pt x="644" y="5263"/>
                    <a:pt x="644" y="5168"/>
                  </a:cubicBezTo>
                  <a:lnTo>
                    <a:pt x="644" y="1286"/>
                  </a:lnTo>
                  <a:lnTo>
                    <a:pt x="7741" y="1286"/>
                  </a:lnTo>
                  <a:cubicBezTo>
                    <a:pt x="7812" y="1286"/>
                    <a:pt x="7884" y="1239"/>
                    <a:pt x="7884" y="1143"/>
                  </a:cubicBezTo>
                  <a:cubicBezTo>
                    <a:pt x="7884" y="1072"/>
                    <a:pt x="7812" y="1000"/>
                    <a:pt x="7741" y="1000"/>
                  </a:cubicBezTo>
                  <a:lnTo>
                    <a:pt x="358" y="1000"/>
                  </a:lnTo>
                  <a:cubicBezTo>
                    <a:pt x="334" y="1000"/>
                    <a:pt x="311" y="977"/>
                    <a:pt x="311" y="953"/>
                  </a:cubicBezTo>
                  <a:lnTo>
                    <a:pt x="311" y="357"/>
                  </a:lnTo>
                  <a:cubicBezTo>
                    <a:pt x="311" y="310"/>
                    <a:pt x="334" y="286"/>
                    <a:pt x="358" y="286"/>
                  </a:cubicBezTo>
                  <a:lnTo>
                    <a:pt x="9789" y="286"/>
                  </a:lnTo>
                  <a:cubicBezTo>
                    <a:pt x="9812" y="286"/>
                    <a:pt x="9836" y="334"/>
                    <a:pt x="9836" y="357"/>
                  </a:cubicBezTo>
                  <a:lnTo>
                    <a:pt x="9836" y="953"/>
                  </a:lnTo>
                  <a:cubicBezTo>
                    <a:pt x="9836" y="977"/>
                    <a:pt x="9812" y="1000"/>
                    <a:pt x="9789" y="1000"/>
                  </a:cubicBezTo>
                  <a:lnTo>
                    <a:pt x="8407" y="1000"/>
                  </a:lnTo>
                  <a:cubicBezTo>
                    <a:pt x="8312" y="1000"/>
                    <a:pt x="8241" y="1072"/>
                    <a:pt x="8241" y="1143"/>
                  </a:cubicBezTo>
                  <a:cubicBezTo>
                    <a:pt x="8241" y="1239"/>
                    <a:pt x="8312" y="1286"/>
                    <a:pt x="8407" y="1286"/>
                  </a:cubicBezTo>
                  <a:lnTo>
                    <a:pt x="9503" y="1286"/>
                  </a:lnTo>
                  <a:lnTo>
                    <a:pt x="9503" y="7335"/>
                  </a:lnTo>
                  <a:cubicBezTo>
                    <a:pt x="9503" y="7359"/>
                    <a:pt x="9479" y="7383"/>
                    <a:pt x="9455" y="7383"/>
                  </a:cubicBezTo>
                  <a:lnTo>
                    <a:pt x="692" y="7383"/>
                  </a:lnTo>
                  <a:cubicBezTo>
                    <a:pt x="668" y="7383"/>
                    <a:pt x="644" y="7359"/>
                    <a:pt x="644" y="7335"/>
                  </a:cubicBezTo>
                  <a:lnTo>
                    <a:pt x="644" y="5835"/>
                  </a:lnTo>
                  <a:cubicBezTo>
                    <a:pt x="644" y="5740"/>
                    <a:pt x="572" y="5692"/>
                    <a:pt x="477" y="5692"/>
                  </a:cubicBezTo>
                  <a:cubicBezTo>
                    <a:pt x="406" y="5692"/>
                    <a:pt x="334" y="5740"/>
                    <a:pt x="334" y="5835"/>
                  </a:cubicBezTo>
                  <a:lnTo>
                    <a:pt x="334" y="7335"/>
                  </a:lnTo>
                  <a:cubicBezTo>
                    <a:pt x="334" y="7526"/>
                    <a:pt x="501" y="7668"/>
                    <a:pt x="692" y="7668"/>
                  </a:cubicBezTo>
                  <a:lnTo>
                    <a:pt x="4907" y="7668"/>
                  </a:lnTo>
                  <a:lnTo>
                    <a:pt x="4907" y="8264"/>
                  </a:lnTo>
                  <a:cubicBezTo>
                    <a:pt x="4669" y="8335"/>
                    <a:pt x="4502" y="8550"/>
                    <a:pt x="4502" y="8812"/>
                  </a:cubicBezTo>
                  <a:cubicBezTo>
                    <a:pt x="4502" y="9121"/>
                    <a:pt x="4740" y="9383"/>
                    <a:pt x="5073" y="9383"/>
                  </a:cubicBezTo>
                  <a:cubicBezTo>
                    <a:pt x="5383" y="9383"/>
                    <a:pt x="5621" y="9121"/>
                    <a:pt x="5621" y="8812"/>
                  </a:cubicBezTo>
                  <a:cubicBezTo>
                    <a:pt x="5621" y="8550"/>
                    <a:pt x="5454" y="8335"/>
                    <a:pt x="5216" y="8264"/>
                  </a:cubicBezTo>
                  <a:lnTo>
                    <a:pt x="5216" y="7668"/>
                  </a:lnTo>
                  <a:lnTo>
                    <a:pt x="9431" y="7668"/>
                  </a:lnTo>
                  <a:cubicBezTo>
                    <a:pt x="9622" y="7668"/>
                    <a:pt x="9789" y="7526"/>
                    <a:pt x="9789" y="7335"/>
                  </a:cubicBezTo>
                  <a:lnTo>
                    <a:pt x="9789" y="1286"/>
                  </a:lnTo>
                  <a:cubicBezTo>
                    <a:pt x="9979" y="1286"/>
                    <a:pt x="10122" y="1143"/>
                    <a:pt x="10122" y="953"/>
                  </a:cubicBezTo>
                  <a:lnTo>
                    <a:pt x="10122" y="357"/>
                  </a:lnTo>
                  <a:cubicBezTo>
                    <a:pt x="10122" y="167"/>
                    <a:pt x="9979" y="0"/>
                    <a:pt x="9789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9" name="Google Shape;2807;p94">
              <a:extLst>
                <a:ext uri="{FF2B5EF4-FFF2-40B4-BE49-F238E27FC236}">
                  <a16:creationId xmlns:a16="http://schemas.microsoft.com/office/drawing/2014/main" id="{03D26D72-6983-4EF2-8819-908F4C3C60E4}"/>
                </a:ext>
              </a:extLst>
            </p:cNvPr>
            <p:cNvSpPr/>
            <p:nvPr/>
          </p:nvSpPr>
          <p:spPr>
            <a:xfrm>
              <a:off x="5011219" y="2437234"/>
              <a:ext cx="45683" cy="9873"/>
            </a:xfrm>
            <a:custGeom>
              <a:avLst/>
              <a:gdLst/>
              <a:ahLst/>
              <a:cxnLst/>
              <a:rect l="l" t="t" r="r" b="b"/>
              <a:pathLst>
                <a:path w="1358" h="287" extrusionOk="0">
                  <a:moveTo>
                    <a:pt x="167" y="1"/>
                  </a:moveTo>
                  <a:cubicBezTo>
                    <a:pt x="72" y="1"/>
                    <a:pt x="0" y="72"/>
                    <a:pt x="0" y="144"/>
                  </a:cubicBezTo>
                  <a:cubicBezTo>
                    <a:pt x="0" y="239"/>
                    <a:pt x="72" y="286"/>
                    <a:pt x="167" y="286"/>
                  </a:cubicBezTo>
                  <a:lnTo>
                    <a:pt x="1191" y="286"/>
                  </a:lnTo>
                  <a:cubicBezTo>
                    <a:pt x="1286" y="286"/>
                    <a:pt x="1358" y="239"/>
                    <a:pt x="1358" y="144"/>
                  </a:cubicBezTo>
                  <a:cubicBezTo>
                    <a:pt x="1334" y="72"/>
                    <a:pt x="1286" y="1"/>
                    <a:pt x="119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0" name="Google Shape;2808;p94">
              <a:extLst>
                <a:ext uri="{FF2B5EF4-FFF2-40B4-BE49-F238E27FC236}">
                  <a16:creationId xmlns:a16="http://schemas.microsoft.com/office/drawing/2014/main" id="{F73A84BD-EA2A-4D95-A6B3-BA2F7CC3FA17}"/>
                </a:ext>
              </a:extLst>
            </p:cNvPr>
            <p:cNvSpPr/>
            <p:nvPr/>
          </p:nvSpPr>
          <p:spPr>
            <a:xfrm>
              <a:off x="4976772" y="2455259"/>
              <a:ext cx="80130" cy="10698"/>
            </a:xfrm>
            <a:custGeom>
              <a:avLst/>
              <a:gdLst/>
              <a:ahLst/>
              <a:cxnLst/>
              <a:rect l="l" t="t" r="r" b="b"/>
              <a:pathLst>
                <a:path w="2382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15" y="310"/>
                  </a:lnTo>
                  <a:cubicBezTo>
                    <a:pt x="2310" y="310"/>
                    <a:pt x="2382" y="239"/>
                    <a:pt x="2382" y="143"/>
                  </a:cubicBezTo>
                  <a:cubicBezTo>
                    <a:pt x="2382" y="72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1" name="Google Shape;2809;p94">
              <a:extLst>
                <a:ext uri="{FF2B5EF4-FFF2-40B4-BE49-F238E27FC236}">
                  <a16:creationId xmlns:a16="http://schemas.microsoft.com/office/drawing/2014/main" id="{790C7646-D6B3-419D-BDF3-09F1AA2B3135}"/>
                </a:ext>
              </a:extLst>
            </p:cNvPr>
            <p:cNvSpPr/>
            <p:nvPr/>
          </p:nvSpPr>
          <p:spPr>
            <a:xfrm>
              <a:off x="4976772" y="2302902"/>
              <a:ext cx="16854" cy="10664"/>
            </a:xfrm>
            <a:custGeom>
              <a:avLst/>
              <a:gdLst/>
              <a:ahLst/>
              <a:cxnLst/>
              <a:rect l="l" t="t" r="r" b="b"/>
              <a:pathLst>
                <a:path w="501" h="310" extrusionOk="0">
                  <a:moveTo>
                    <a:pt x="143" y="0"/>
                  </a:moveTo>
                  <a:cubicBezTo>
                    <a:pt x="72" y="0"/>
                    <a:pt x="0" y="72"/>
                    <a:pt x="0" y="143"/>
                  </a:cubicBezTo>
                  <a:cubicBezTo>
                    <a:pt x="0" y="238"/>
                    <a:pt x="72" y="310"/>
                    <a:pt x="143" y="310"/>
                  </a:cubicBezTo>
                  <a:lnTo>
                    <a:pt x="334" y="310"/>
                  </a:lnTo>
                  <a:cubicBezTo>
                    <a:pt x="429" y="310"/>
                    <a:pt x="500" y="238"/>
                    <a:pt x="500" y="143"/>
                  </a:cubicBezTo>
                  <a:cubicBezTo>
                    <a:pt x="500" y="72"/>
                    <a:pt x="429" y="0"/>
                    <a:pt x="334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2" name="Google Shape;2810;p94">
              <a:extLst>
                <a:ext uri="{FF2B5EF4-FFF2-40B4-BE49-F238E27FC236}">
                  <a16:creationId xmlns:a16="http://schemas.microsoft.com/office/drawing/2014/main" id="{8FB3E07A-5D5E-4301-807A-B5A2E27785E1}"/>
                </a:ext>
              </a:extLst>
            </p:cNvPr>
            <p:cNvSpPr/>
            <p:nvPr/>
          </p:nvSpPr>
          <p:spPr>
            <a:xfrm>
              <a:off x="5001598" y="2302902"/>
              <a:ext cx="55304" cy="10664"/>
            </a:xfrm>
            <a:custGeom>
              <a:avLst/>
              <a:gdLst/>
              <a:ahLst/>
              <a:cxnLst/>
              <a:rect l="l" t="t" r="r" b="b"/>
              <a:pathLst>
                <a:path w="1644" h="310" extrusionOk="0">
                  <a:moveTo>
                    <a:pt x="143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8"/>
                    <a:pt x="72" y="310"/>
                    <a:pt x="143" y="310"/>
                  </a:cubicBezTo>
                  <a:lnTo>
                    <a:pt x="1477" y="310"/>
                  </a:lnTo>
                  <a:cubicBezTo>
                    <a:pt x="1572" y="310"/>
                    <a:pt x="1644" y="238"/>
                    <a:pt x="1644" y="143"/>
                  </a:cubicBezTo>
                  <a:cubicBezTo>
                    <a:pt x="1644" y="72"/>
                    <a:pt x="1572" y="0"/>
                    <a:pt x="147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3" name="Google Shape;2811;p94">
              <a:extLst>
                <a:ext uri="{FF2B5EF4-FFF2-40B4-BE49-F238E27FC236}">
                  <a16:creationId xmlns:a16="http://schemas.microsoft.com/office/drawing/2014/main" id="{EC9E0779-D157-4AE3-A4AE-1572197E3A61}"/>
                </a:ext>
              </a:extLst>
            </p:cNvPr>
            <p:cNvSpPr/>
            <p:nvPr/>
          </p:nvSpPr>
          <p:spPr>
            <a:xfrm>
              <a:off x="4976772" y="2321719"/>
              <a:ext cx="80130" cy="9873"/>
            </a:xfrm>
            <a:custGeom>
              <a:avLst/>
              <a:gdLst/>
              <a:ahLst/>
              <a:cxnLst/>
              <a:rect l="l" t="t" r="r" b="b"/>
              <a:pathLst>
                <a:path w="2382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2215" y="287"/>
                  </a:lnTo>
                  <a:cubicBezTo>
                    <a:pt x="2310" y="287"/>
                    <a:pt x="2382" y="215"/>
                    <a:pt x="2382" y="144"/>
                  </a:cubicBezTo>
                  <a:cubicBezTo>
                    <a:pt x="2382" y="48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4" name="Google Shape;2812;p94">
              <a:extLst>
                <a:ext uri="{FF2B5EF4-FFF2-40B4-BE49-F238E27FC236}">
                  <a16:creationId xmlns:a16="http://schemas.microsoft.com/office/drawing/2014/main" id="{BCFE82E2-ACAF-448C-87DF-5498486058B1}"/>
                </a:ext>
              </a:extLst>
            </p:cNvPr>
            <p:cNvSpPr/>
            <p:nvPr/>
          </p:nvSpPr>
          <p:spPr>
            <a:xfrm>
              <a:off x="4976772" y="2352025"/>
              <a:ext cx="80130" cy="65601"/>
            </a:xfrm>
            <a:custGeom>
              <a:avLst/>
              <a:gdLst/>
              <a:ahLst/>
              <a:cxnLst/>
              <a:rect l="l" t="t" r="r" b="b"/>
              <a:pathLst>
                <a:path w="2382" h="1907" extrusionOk="0">
                  <a:moveTo>
                    <a:pt x="143" y="1"/>
                  </a:moveTo>
                  <a:cubicBezTo>
                    <a:pt x="48" y="1"/>
                    <a:pt x="0" y="49"/>
                    <a:pt x="0" y="144"/>
                  </a:cubicBezTo>
                  <a:lnTo>
                    <a:pt x="0" y="1763"/>
                  </a:lnTo>
                  <a:cubicBezTo>
                    <a:pt x="0" y="1835"/>
                    <a:pt x="72" y="1906"/>
                    <a:pt x="143" y="1906"/>
                  </a:cubicBezTo>
                  <a:lnTo>
                    <a:pt x="2215" y="1906"/>
                  </a:lnTo>
                  <a:cubicBezTo>
                    <a:pt x="2310" y="1906"/>
                    <a:pt x="2382" y="1835"/>
                    <a:pt x="2382" y="1763"/>
                  </a:cubicBezTo>
                  <a:cubicBezTo>
                    <a:pt x="2382" y="1668"/>
                    <a:pt x="2310" y="1597"/>
                    <a:pt x="2215" y="1597"/>
                  </a:cubicBezTo>
                  <a:lnTo>
                    <a:pt x="1858" y="1597"/>
                  </a:lnTo>
                  <a:lnTo>
                    <a:pt x="1858" y="311"/>
                  </a:lnTo>
                  <a:cubicBezTo>
                    <a:pt x="1858" y="239"/>
                    <a:pt x="1786" y="168"/>
                    <a:pt x="1715" y="168"/>
                  </a:cubicBezTo>
                  <a:cubicBezTo>
                    <a:pt x="1644" y="168"/>
                    <a:pt x="1572" y="239"/>
                    <a:pt x="1572" y="311"/>
                  </a:cubicBezTo>
                  <a:lnTo>
                    <a:pt x="1572" y="1597"/>
                  </a:lnTo>
                  <a:lnTo>
                    <a:pt x="1334" y="1597"/>
                  </a:lnTo>
                  <a:lnTo>
                    <a:pt x="1334" y="1120"/>
                  </a:lnTo>
                  <a:cubicBezTo>
                    <a:pt x="1334" y="1049"/>
                    <a:pt x="1263" y="977"/>
                    <a:pt x="1191" y="977"/>
                  </a:cubicBezTo>
                  <a:cubicBezTo>
                    <a:pt x="1096" y="977"/>
                    <a:pt x="1024" y="1049"/>
                    <a:pt x="1024" y="1120"/>
                  </a:cubicBezTo>
                  <a:lnTo>
                    <a:pt x="1024" y="1597"/>
                  </a:lnTo>
                  <a:lnTo>
                    <a:pt x="786" y="1597"/>
                  </a:lnTo>
                  <a:lnTo>
                    <a:pt x="786" y="763"/>
                  </a:lnTo>
                  <a:cubicBezTo>
                    <a:pt x="786" y="668"/>
                    <a:pt x="739" y="596"/>
                    <a:pt x="643" y="596"/>
                  </a:cubicBezTo>
                  <a:cubicBezTo>
                    <a:pt x="572" y="596"/>
                    <a:pt x="500" y="668"/>
                    <a:pt x="500" y="763"/>
                  </a:cubicBezTo>
                  <a:lnTo>
                    <a:pt x="500" y="1597"/>
                  </a:lnTo>
                  <a:lnTo>
                    <a:pt x="286" y="1597"/>
                  </a:lnTo>
                  <a:lnTo>
                    <a:pt x="286" y="144"/>
                  </a:lnTo>
                  <a:cubicBezTo>
                    <a:pt x="286" y="72"/>
                    <a:pt x="215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5" name="Google Shape;2813;p94">
              <a:extLst>
                <a:ext uri="{FF2B5EF4-FFF2-40B4-BE49-F238E27FC236}">
                  <a16:creationId xmlns:a16="http://schemas.microsoft.com/office/drawing/2014/main" id="{FC69A224-7204-4F13-827A-8F6CFF13CA93}"/>
                </a:ext>
              </a:extLst>
            </p:cNvPr>
            <p:cNvSpPr/>
            <p:nvPr/>
          </p:nvSpPr>
          <p:spPr>
            <a:xfrm>
              <a:off x="4789296" y="2294680"/>
              <a:ext cx="168267" cy="172069"/>
            </a:xfrm>
            <a:custGeom>
              <a:avLst/>
              <a:gdLst/>
              <a:ahLst/>
              <a:cxnLst/>
              <a:rect l="l" t="t" r="r" b="b"/>
              <a:pathLst>
                <a:path w="5002" h="5002" extrusionOk="0">
                  <a:moveTo>
                    <a:pt x="2501" y="1215"/>
                  </a:moveTo>
                  <a:cubicBezTo>
                    <a:pt x="3216" y="1215"/>
                    <a:pt x="3811" y="1787"/>
                    <a:pt x="3811" y="2501"/>
                  </a:cubicBezTo>
                  <a:cubicBezTo>
                    <a:pt x="3811" y="3240"/>
                    <a:pt x="3216" y="3811"/>
                    <a:pt x="2501" y="3811"/>
                  </a:cubicBezTo>
                  <a:cubicBezTo>
                    <a:pt x="1787" y="3811"/>
                    <a:pt x="1215" y="3216"/>
                    <a:pt x="1215" y="2501"/>
                  </a:cubicBezTo>
                  <a:cubicBezTo>
                    <a:pt x="1215" y="1787"/>
                    <a:pt x="1787" y="1215"/>
                    <a:pt x="2501" y="1215"/>
                  </a:cubicBezTo>
                  <a:close/>
                  <a:moveTo>
                    <a:pt x="4692" y="2668"/>
                  </a:moveTo>
                  <a:cubicBezTo>
                    <a:pt x="4668" y="3121"/>
                    <a:pt x="4502" y="3549"/>
                    <a:pt x="4216" y="3883"/>
                  </a:cubicBezTo>
                  <a:lnTo>
                    <a:pt x="3787" y="3454"/>
                  </a:lnTo>
                  <a:cubicBezTo>
                    <a:pt x="3954" y="3216"/>
                    <a:pt x="4073" y="2954"/>
                    <a:pt x="4097" y="2668"/>
                  </a:cubicBezTo>
                  <a:close/>
                  <a:moveTo>
                    <a:pt x="2358" y="311"/>
                  </a:moveTo>
                  <a:lnTo>
                    <a:pt x="2358" y="930"/>
                  </a:lnTo>
                  <a:cubicBezTo>
                    <a:pt x="1549" y="1001"/>
                    <a:pt x="906" y="1692"/>
                    <a:pt x="906" y="2501"/>
                  </a:cubicBezTo>
                  <a:cubicBezTo>
                    <a:pt x="906" y="3383"/>
                    <a:pt x="1620" y="4097"/>
                    <a:pt x="2501" y="4097"/>
                  </a:cubicBezTo>
                  <a:cubicBezTo>
                    <a:pt x="2930" y="4097"/>
                    <a:pt x="3311" y="3954"/>
                    <a:pt x="3597" y="3668"/>
                  </a:cubicBezTo>
                  <a:cubicBezTo>
                    <a:pt x="3740" y="3811"/>
                    <a:pt x="3883" y="3954"/>
                    <a:pt x="4025" y="4097"/>
                  </a:cubicBezTo>
                  <a:cubicBezTo>
                    <a:pt x="3644" y="4478"/>
                    <a:pt x="3097" y="4716"/>
                    <a:pt x="2501" y="4716"/>
                  </a:cubicBezTo>
                  <a:cubicBezTo>
                    <a:pt x="1287" y="4716"/>
                    <a:pt x="310" y="3716"/>
                    <a:pt x="310" y="2501"/>
                  </a:cubicBezTo>
                  <a:cubicBezTo>
                    <a:pt x="310" y="1335"/>
                    <a:pt x="1215" y="382"/>
                    <a:pt x="2358" y="311"/>
                  </a:cubicBezTo>
                  <a:close/>
                  <a:moveTo>
                    <a:pt x="2501" y="1"/>
                  </a:moveTo>
                  <a:cubicBezTo>
                    <a:pt x="1120" y="1"/>
                    <a:pt x="1" y="1144"/>
                    <a:pt x="1" y="2501"/>
                  </a:cubicBezTo>
                  <a:cubicBezTo>
                    <a:pt x="1" y="3883"/>
                    <a:pt x="1120" y="5002"/>
                    <a:pt x="2501" y="5002"/>
                  </a:cubicBezTo>
                  <a:cubicBezTo>
                    <a:pt x="3883" y="5002"/>
                    <a:pt x="5002" y="3883"/>
                    <a:pt x="5002" y="2501"/>
                  </a:cubicBezTo>
                  <a:cubicBezTo>
                    <a:pt x="5002" y="1978"/>
                    <a:pt x="4835" y="1477"/>
                    <a:pt x="4526" y="1049"/>
                  </a:cubicBezTo>
                  <a:cubicBezTo>
                    <a:pt x="4499" y="1009"/>
                    <a:pt x="4459" y="992"/>
                    <a:pt x="4415" y="992"/>
                  </a:cubicBezTo>
                  <a:cubicBezTo>
                    <a:pt x="4380" y="992"/>
                    <a:pt x="4343" y="1004"/>
                    <a:pt x="4311" y="1025"/>
                  </a:cubicBezTo>
                  <a:cubicBezTo>
                    <a:pt x="4264" y="1073"/>
                    <a:pt x="4240" y="1144"/>
                    <a:pt x="4287" y="1215"/>
                  </a:cubicBezTo>
                  <a:cubicBezTo>
                    <a:pt x="4526" y="1549"/>
                    <a:pt x="4668" y="1954"/>
                    <a:pt x="4692" y="2359"/>
                  </a:cubicBezTo>
                  <a:lnTo>
                    <a:pt x="4097" y="2359"/>
                  </a:lnTo>
                  <a:cubicBezTo>
                    <a:pt x="4025" y="1597"/>
                    <a:pt x="3406" y="1001"/>
                    <a:pt x="2644" y="930"/>
                  </a:cubicBezTo>
                  <a:lnTo>
                    <a:pt x="2644" y="311"/>
                  </a:lnTo>
                  <a:cubicBezTo>
                    <a:pt x="3097" y="334"/>
                    <a:pt x="3501" y="501"/>
                    <a:pt x="3859" y="787"/>
                  </a:cubicBezTo>
                  <a:cubicBezTo>
                    <a:pt x="3886" y="805"/>
                    <a:pt x="3917" y="813"/>
                    <a:pt x="3947" y="813"/>
                  </a:cubicBezTo>
                  <a:cubicBezTo>
                    <a:pt x="3996" y="813"/>
                    <a:pt x="4044" y="792"/>
                    <a:pt x="4073" y="763"/>
                  </a:cubicBezTo>
                  <a:cubicBezTo>
                    <a:pt x="4121" y="692"/>
                    <a:pt x="4121" y="596"/>
                    <a:pt x="4049" y="549"/>
                  </a:cubicBezTo>
                  <a:cubicBezTo>
                    <a:pt x="3597" y="191"/>
                    <a:pt x="3073" y="1"/>
                    <a:pt x="250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6" name="Google Shape;2814;p94">
              <a:extLst>
                <a:ext uri="{FF2B5EF4-FFF2-40B4-BE49-F238E27FC236}">
                  <a16:creationId xmlns:a16="http://schemas.microsoft.com/office/drawing/2014/main" id="{CC942708-1EED-4719-A7AB-15E25B610BA4}"/>
                </a:ext>
              </a:extLst>
            </p:cNvPr>
            <p:cNvSpPr/>
            <p:nvPr/>
          </p:nvSpPr>
          <p:spPr>
            <a:xfrm>
              <a:off x="4794107" y="2453402"/>
              <a:ext cx="24086" cy="17475"/>
            </a:xfrm>
            <a:custGeom>
              <a:avLst/>
              <a:gdLst/>
              <a:ahLst/>
              <a:cxnLst/>
              <a:rect l="l" t="t" r="r" b="b"/>
              <a:pathLst>
                <a:path w="716" h="508" extrusionOk="0">
                  <a:moveTo>
                    <a:pt x="167" y="1"/>
                  </a:moveTo>
                  <a:cubicBezTo>
                    <a:pt x="132" y="1"/>
                    <a:pt x="96" y="19"/>
                    <a:pt x="72" y="55"/>
                  </a:cubicBezTo>
                  <a:cubicBezTo>
                    <a:pt x="1" y="102"/>
                    <a:pt x="1" y="197"/>
                    <a:pt x="72" y="245"/>
                  </a:cubicBezTo>
                  <a:lnTo>
                    <a:pt x="263" y="459"/>
                  </a:lnTo>
                  <a:cubicBezTo>
                    <a:pt x="286" y="483"/>
                    <a:pt x="334" y="507"/>
                    <a:pt x="358" y="507"/>
                  </a:cubicBezTo>
                  <a:cubicBezTo>
                    <a:pt x="405" y="507"/>
                    <a:pt x="429" y="483"/>
                    <a:pt x="477" y="459"/>
                  </a:cubicBezTo>
                  <a:lnTo>
                    <a:pt x="667" y="245"/>
                  </a:lnTo>
                  <a:cubicBezTo>
                    <a:pt x="715" y="197"/>
                    <a:pt x="715" y="102"/>
                    <a:pt x="667" y="55"/>
                  </a:cubicBezTo>
                  <a:cubicBezTo>
                    <a:pt x="632" y="19"/>
                    <a:pt x="590" y="1"/>
                    <a:pt x="551" y="1"/>
                  </a:cubicBezTo>
                  <a:cubicBezTo>
                    <a:pt x="513" y="1"/>
                    <a:pt x="477" y="19"/>
                    <a:pt x="453" y="55"/>
                  </a:cubicBezTo>
                  <a:lnTo>
                    <a:pt x="358" y="150"/>
                  </a:lnTo>
                  <a:lnTo>
                    <a:pt x="263" y="55"/>
                  </a:lnTo>
                  <a:cubicBezTo>
                    <a:pt x="239" y="19"/>
                    <a:pt x="203" y="1"/>
                    <a:pt x="1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7" name="Google Shape;2815;p94">
              <a:extLst>
                <a:ext uri="{FF2B5EF4-FFF2-40B4-BE49-F238E27FC236}">
                  <a16:creationId xmlns:a16="http://schemas.microsoft.com/office/drawing/2014/main" id="{75757593-004B-4B1D-8138-0CAB416ECD5D}"/>
                </a:ext>
              </a:extLst>
            </p:cNvPr>
            <p:cNvSpPr/>
            <p:nvPr/>
          </p:nvSpPr>
          <p:spPr>
            <a:xfrm>
              <a:off x="4883051" y="2382744"/>
              <a:ext cx="24053" cy="16856"/>
            </a:xfrm>
            <a:custGeom>
              <a:avLst/>
              <a:gdLst/>
              <a:ahLst/>
              <a:cxnLst/>
              <a:rect l="l" t="t" r="r" b="b"/>
              <a:pathLst>
                <a:path w="715" h="490" extrusionOk="0">
                  <a:moveTo>
                    <a:pt x="164" y="1"/>
                  </a:moveTo>
                  <a:cubicBezTo>
                    <a:pt x="125" y="1"/>
                    <a:pt x="83" y="13"/>
                    <a:pt x="48" y="37"/>
                  </a:cubicBezTo>
                  <a:cubicBezTo>
                    <a:pt x="0" y="84"/>
                    <a:pt x="0" y="180"/>
                    <a:pt x="48" y="251"/>
                  </a:cubicBezTo>
                  <a:lnTo>
                    <a:pt x="238" y="442"/>
                  </a:lnTo>
                  <a:cubicBezTo>
                    <a:pt x="286" y="465"/>
                    <a:pt x="310" y="489"/>
                    <a:pt x="357" y="489"/>
                  </a:cubicBezTo>
                  <a:cubicBezTo>
                    <a:pt x="381" y="489"/>
                    <a:pt x="429" y="465"/>
                    <a:pt x="453" y="442"/>
                  </a:cubicBezTo>
                  <a:lnTo>
                    <a:pt x="667" y="251"/>
                  </a:lnTo>
                  <a:cubicBezTo>
                    <a:pt x="714" y="180"/>
                    <a:pt x="714" y="84"/>
                    <a:pt x="667" y="37"/>
                  </a:cubicBezTo>
                  <a:cubicBezTo>
                    <a:pt x="631" y="13"/>
                    <a:pt x="589" y="1"/>
                    <a:pt x="551" y="1"/>
                  </a:cubicBezTo>
                  <a:cubicBezTo>
                    <a:pt x="512" y="1"/>
                    <a:pt x="476" y="13"/>
                    <a:pt x="453" y="37"/>
                  </a:cubicBezTo>
                  <a:lnTo>
                    <a:pt x="357" y="132"/>
                  </a:lnTo>
                  <a:lnTo>
                    <a:pt x="262" y="37"/>
                  </a:lnTo>
                  <a:cubicBezTo>
                    <a:pt x="238" y="13"/>
                    <a:pt x="202" y="1"/>
                    <a:pt x="164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8" name="Google Shape;2816;p94">
              <a:extLst>
                <a:ext uri="{FF2B5EF4-FFF2-40B4-BE49-F238E27FC236}">
                  <a16:creationId xmlns:a16="http://schemas.microsoft.com/office/drawing/2014/main" id="{E064EA9E-2DFD-4EA3-B711-1609C3E46F7B}"/>
                </a:ext>
              </a:extLst>
            </p:cNvPr>
            <p:cNvSpPr/>
            <p:nvPr/>
          </p:nvSpPr>
          <p:spPr>
            <a:xfrm>
              <a:off x="4935899" y="2304106"/>
              <a:ext cx="24086" cy="16856"/>
            </a:xfrm>
            <a:custGeom>
              <a:avLst/>
              <a:gdLst/>
              <a:ahLst/>
              <a:cxnLst/>
              <a:rect l="l" t="t" r="r" b="b"/>
              <a:pathLst>
                <a:path w="716" h="490" extrusionOk="0">
                  <a:moveTo>
                    <a:pt x="168" y="1"/>
                  </a:moveTo>
                  <a:cubicBezTo>
                    <a:pt x="132" y="1"/>
                    <a:pt x="96" y="13"/>
                    <a:pt x="72" y="37"/>
                  </a:cubicBezTo>
                  <a:cubicBezTo>
                    <a:pt x="1" y="84"/>
                    <a:pt x="1" y="179"/>
                    <a:pt x="72" y="251"/>
                  </a:cubicBezTo>
                  <a:lnTo>
                    <a:pt x="263" y="441"/>
                  </a:lnTo>
                  <a:cubicBezTo>
                    <a:pt x="287" y="465"/>
                    <a:pt x="310" y="489"/>
                    <a:pt x="358" y="489"/>
                  </a:cubicBezTo>
                  <a:cubicBezTo>
                    <a:pt x="406" y="489"/>
                    <a:pt x="429" y="465"/>
                    <a:pt x="453" y="441"/>
                  </a:cubicBezTo>
                  <a:lnTo>
                    <a:pt x="668" y="251"/>
                  </a:lnTo>
                  <a:cubicBezTo>
                    <a:pt x="715" y="179"/>
                    <a:pt x="715" y="84"/>
                    <a:pt x="668" y="37"/>
                  </a:cubicBezTo>
                  <a:cubicBezTo>
                    <a:pt x="632" y="13"/>
                    <a:pt x="590" y="1"/>
                    <a:pt x="552" y="1"/>
                  </a:cubicBezTo>
                  <a:cubicBezTo>
                    <a:pt x="513" y="1"/>
                    <a:pt x="477" y="13"/>
                    <a:pt x="453" y="37"/>
                  </a:cubicBezTo>
                  <a:lnTo>
                    <a:pt x="358" y="132"/>
                  </a:lnTo>
                  <a:lnTo>
                    <a:pt x="263" y="37"/>
                  </a:lnTo>
                  <a:cubicBezTo>
                    <a:pt x="239" y="13"/>
                    <a:pt x="203" y="1"/>
                    <a:pt x="16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4E66C5A3-A3C5-30B4-C393-E9B38DD05805}"/>
              </a:ext>
            </a:extLst>
          </p:cNvPr>
          <p:cNvSpPr/>
          <p:nvPr/>
        </p:nvSpPr>
        <p:spPr>
          <a:xfrm>
            <a:off x="9337010" y="1396603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Заголовок 13">
            <a:extLst>
              <a:ext uri="{FF2B5EF4-FFF2-40B4-BE49-F238E27FC236}">
                <a16:creationId xmlns:a16="http://schemas.microsoft.com/office/drawing/2014/main" id="{32DE2C53-BA9C-FC6C-F0C8-C020E4D2E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ПРОБЛЕМА И ПОДХОД</a:t>
            </a:r>
          </a:p>
        </p:txBody>
      </p:sp>
      <p:cxnSp>
        <p:nvCxnSpPr>
          <p:cNvPr id="14" name="Google Shape;2799;p94">
            <a:extLst>
              <a:ext uri="{FF2B5EF4-FFF2-40B4-BE49-F238E27FC236}">
                <a16:creationId xmlns:a16="http://schemas.microsoft.com/office/drawing/2014/main" id="{0372E42A-E229-C83D-8A7D-7D33518B16A2}"/>
              </a:ext>
            </a:extLst>
          </p:cNvPr>
          <p:cNvCxnSpPr>
            <a:cxnSpLocks/>
          </p:cNvCxnSpPr>
          <p:nvPr/>
        </p:nvCxnSpPr>
        <p:spPr>
          <a:xfrm flipV="1">
            <a:off x="6843165" y="2119165"/>
            <a:ext cx="2489934" cy="1248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034515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E0D9EF9A-DA2D-60AC-63A9-ACD551239B10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Номер слайда 12">
            <a:extLst>
              <a:ext uri="{FF2B5EF4-FFF2-40B4-BE49-F238E27FC236}">
                <a16:creationId xmlns:a16="http://schemas.microsoft.com/office/drawing/2014/main" id="{346B550E-0CFF-4A79-B1FE-2EC1424EF8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25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89C5FEE7-8855-4287-AE2D-52539F4D5F3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accent5"/>
                </a:solidFill>
              </a:rPr>
              <a:t>Автокалибровка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BB2C021-BD44-4085-92C0-42B29CA7DD4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814077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ориентация, крен и тангаж лидара — по рельсам и полотну: любое крепление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726F0F5-5C67-466D-943E-F4703B2F270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accent5"/>
                </a:solidFill>
              </a:rPr>
              <a:t>Габарит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6D4997F-BA2F-417E-957D-7B6FF608CC45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814077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коридор 2,1 × 3,0 м вдоль оси и ступень низких объектов на рельсах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B04BBFFE-3199-451F-A356-405FEE6461C5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accent5"/>
                </a:solidFill>
              </a:rPr>
              <a:t>Решение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6B529974-604C-48E2-AD6F-070B19225F48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814077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подтверждение 0,5 с → GO / CAUTION / STOP / FAULT и свободная дистанция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9C425FA5-5D8B-4070-9FEA-743FFC23DC9C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accent5"/>
                </a:solidFill>
              </a:rPr>
              <a:t>Модель пути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3E4BE6CF-D653-4C71-B520-8F640E846D62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5181340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полотно, головки рельсов, ось; кривизна по стенам и колоннам до 150–200 м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7FE93D78-FBF8-4CFA-B0D4-B21070DBC331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accent5"/>
                </a:solidFill>
              </a:rPr>
              <a:t>Кластеры</a:t>
            </a: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931BD573-963A-40B6-8E80-802A897ACB26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5181340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радиус растёт с дальностью; фильтры инфраструктуры; дальнее правило</a:t>
            </a:r>
          </a:p>
        </p:txBody>
      </p:sp>
      <p:cxnSp>
        <p:nvCxnSpPr>
          <p:cNvPr id="34" name="Прямая соединительная линия 33">
            <a:extLst>
              <a:ext uri="{FF2B5EF4-FFF2-40B4-BE49-F238E27FC236}">
                <a16:creationId xmlns:a16="http://schemas.microsoft.com/office/drawing/2014/main" id="{FED623D4-5E7E-44FB-A655-80D9166ACECF}"/>
              </a:ext>
            </a:extLst>
          </p:cNvPr>
          <p:cNvCxnSpPr>
            <a:cxnSpLocks/>
          </p:cNvCxnSpPr>
          <p:nvPr/>
        </p:nvCxnSpPr>
        <p:spPr>
          <a:xfrm>
            <a:off x="2065940" y="3860224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Прямая соединительная линия 34">
            <a:extLst>
              <a:ext uri="{FF2B5EF4-FFF2-40B4-BE49-F238E27FC236}">
                <a16:creationId xmlns:a16="http://schemas.microsoft.com/office/drawing/2014/main" id="{13BC568E-FCE4-46A3-933D-4F9F8325A813}"/>
              </a:ext>
            </a:extLst>
          </p:cNvPr>
          <p:cNvCxnSpPr>
            <a:cxnSpLocks/>
          </p:cNvCxnSpPr>
          <p:nvPr/>
        </p:nvCxnSpPr>
        <p:spPr>
          <a:xfrm>
            <a:off x="4312137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Прямая соединительная линия 35">
            <a:extLst>
              <a:ext uri="{FF2B5EF4-FFF2-40B4-BE49-F238E27FC236}">
                <a16:creationId xmlns:a16="http://schemas.microsoft.com/office/drawing/2014/main" id="{043ABED0-AC0F-4D92-AB29-318DAE79D38B}"/>
              </a:ext>
            </a:extLst>
          </p:cNvPr>
          <p:cNvCxnSpPr>
            <a:cxnSpLocks/>
          </p:cNvCxnSpPr>
          <p:nvPr/>
        </p:nvCxnSpPr>
        <p:spPr>
          <a:xfrm>
            <a:off x="6558334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Прямая соединительная линия 36">
            <a:extLst>
              <a:ext uri="{FF2B5EF4-FFF2-40B4-BE49-F238E27FC236}">
                <a16:creationId xmlns:a16="http://schemas.microsoft.com/office/drawing/2014/main" id="{836D684E-425A-4867-B96C-B1550D2326EC}"/>
              </a:ext>
            </a:extLst>
          </p:cNvPr>
          <p:cNvCxnSpPr>
            <a:cxnSpLocks/>
          </p:cNvCxnSpPr>
          <p:nvPr/>
        </p:nvCxnSpPr>
        <p:spPr>
          <a:xfrm>
            <a:off x="8780467" y="3862139"/>
            <a:ext cx="1332545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единительная линия 37">
            <a:extLst>
              <a:ext uri="{FF2B5EF4-FFF2-40B4-BE49-F238E27FC236}">
                <a16:creationId xmlns:a16="http://schemas.microsoft.com/office/drawing/2014/main" id="{81B30F67-B043-4D47-8D41-EA47E7D98286}"/>
              </a:ext>
            </a:extLst>
          </p:cNvPr>
          <p:cNvCxnSpPr>
            <a:cxnSpLocks/>
          </p:cNvCxnSpPr>
          <p:nvPr/>
        </p:nvCxnSpPr>
        <p:spPr>
          <a:xfrm>
            <a:off x="1609114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Прямая соединительная линия 38">
            <a:extLst>
              <a:ext uri="{FF2B5EF4-FFF2-40B4-BE49-F238E27FC236}">
                <a16:creationId xmlns:a16="http://schemas.microsoft.com/office/drawing/2014/main" id="{B41E618C-6887-4F78-8BEC-4C2ABC30AC44}"/>
              </a:ext>
            </a:extLst>
          </p:cNvPr>
          <p:cNvCxnSpPr>
            <a:cxnSpLocks/>
          </p:cNvCxnSpPr>
          <p:nvPr/>
        </p:nvCxnSpPr>
        <p:spPr>
          <a:xfrm>
            <a:off x="3855312" y="4216228"/>
            <a:ext cx="1245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Прямая соединительная линия 39">
            <a:extLst>
              <a:ext uri="{FF2B5EF4-FFF2-40B4-BE49-F238E27FC236}">
                <a16:creationId xmlns:a16="http://schemas.microsoft.com/office/drawing/2014/main" id="{DE971D4E-B203-4B09-93F8-D53951540777}"/>
              </a:ext>
            </a:extLst>
          </p:cNvPr>
          <p:cNvCxnSpPr>
            <a:cxnSpLocks/>
          </p:cNvCxnSpPr>
          <p:nvPr/>
        </p:nvCxnSpPr>
        <p:spPr>
          <a:xfrm>
            <a:off x="6096000" y="2934762"/>
            <a:ext cx="5509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Прямая соединительная линия 40">
            <a:extLst>
              <a:ext uri="{FF2B5EF4-FFF2-40B4-BE49-F238E27FC236}">
                <a16:creationId xmlns:a16="http://schemas.microsoft.com/office/drawing/2014/main" id="{2BF27CC0-A85F-4C49-884A-649E718F232A}"/>
              </a:ext>
            </a:extLst>
          </p:cNvPr>
          <p:cNvCxnSpPr>
            <a:cxnSpLocks/>
          </p:cNvCxnSpPr>
          <p:nvPr/>
        </p:nvCxnSpPr>
        <p:spPr>
          <a:xfrm flipH="1">
            <a:off x="8343442" y="4216228"/>
            <a:ext cx="4264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Прямая соединительная линия 41">
            <a:extLst>
              <a:ext uri="{FF2B5EF4-FFF2-40B4-BE49-F238E27FC236}">
                <a16:creationId xmlns:a16="http://schemas.microsoft.com/office/drawing/2014/main" id="{8A19CF67-915F-4390-A30E-945C95016756}"/>
              </a:ext>
            </a:extLst>
          </p:cNvPr>
          <p:cNvCxnSpPr>
            <a:cxnSpLocks/>
          </p:cNvCxnSpPr>
          <p:nvPr/>
        </p:nvCxnSpPr>
        <p:spPr>
          <a:xfrm>
            <a:off x="10593901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Скругленный прямоугольник 42">
            <a:extLst>
              <a:ext uri="{FF2B5EF4-FFF2-40B4-BE49-F238E27FC236}">
                <a16:creationId xmlns:a16="http://schemas.microsoft.com/office/drawing/2014/main" id="{4E8CC8D8-3B02-4108-71E4-BDF385E41A76}"/>
              </a:ext>
            </a:extLst>
          </p:cNvPr>
          <p:cNvSpPr/>
          <p:nvPr/>
        </p:nvSpPr>
        <p:spPr>
          <a:xfrm>
            <a:off x="1191126" y="3508049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1</a:t>
            </a:r>
          </a:p>
        </p:txBody>
      </p:sp>
      <p:sp>
        <p:nvSpPr>
          <p:cNvPr id="44" name="Скругленный прямоугольник 43">
            <a:extLst>
              <a:ext uri="{FF2B5EF4-FFF2-40B4-BE49-F238E27FC236}">
                <a16:creationId xmlns:a16="http://schemas.microsoft.com/office/drawing/2014/main" id="{219852BA-89EA-AEC0-D3BB-81E4FBB78FBF}"/>
              </a:ext>
            </a:extLst>
          </p:cNvPr>
          <p:cNvSpPr/>
          <p:nvPr/>
        </p:nvSpPr>
        <p:spPr>
          <a:xfrm>
            <a:off x="3412397" y="350613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2</a:t>
            </a:r>
          </a:p>
        </p:txBody>
      </p:sp>
      <p:sp>
        <p:nvSpPr>
          <p:cNvPr id="45" name="Скругленный прямоугольник 44">
            <a:extLst>
              <a:ext uri="{FF2B5EF4-FFF2-40B4-BE49-F238E27FC236}">
                <a16:creationId xmlns:a16="http://schemas.microsoft.com/office/drawing/2014/main" id="{BEB80488-DBD5-60E2-7B94-2C03FD2F73EC}"/>
              </a:ext>
            </a:extLst>
          </p:cNvPr>
          <p:cNvSpPr/>
          <p:nvPr/>
        </p:nvSpPr>
        <p:spPr>
          <a:xfrm>
            <a:off x="5658594" y="351625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3</a:t>
            </a:r>
          </a:p>
        </p:txBody>
      </p:sp>
      <p:sp>
        <p:nvSpPr>
          <p:cNvPr id="53" name="Скругленный прямоугольник 52">
            <a:extLst>
              <a:ext uri="{FF2B5EF4-FFF2-40B4-BE49-F238E27FC236}">
                <a16:creationId xmlns:a16="http://schemas.microsoft.com/office/drawing/2014/main" id="{41C3924C-4DE8-D413-3F15-F71BBA421983}"/>
              </a:ext>
            </a:extLst>
          </p:cNvPr>
          <p:cNvSpPr/>
          <p:nvPr/>
        </p:nvSpPr>
        <p:spPr>
          <a:xfrm>
            <a:off x="7889752" y="350613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4</a:t>
            </a:r>
          </a:p>
        </p:txBody>
      </p:sp>
      <p:sp>
        <p:nvSpPr>
          <p:cNvPr id="54" name="Скругленный прямоугольник 53">
            <a:extLst>
              <a:ext uri="{FF2B5EF4-FFF2-40B4-BE49-F238E27FC236}">
                <a16:creationId xmlns:a16="http://schemas.microsoft.com/office/drawing/2014/main" id="{5040D480-3D0A-377D-EDA1-4B45E5CE44A4}"/>
              </a:ext>
            </a:extLst>
          </p:cNvPr>
          <p:cNvSpPr/>
          <p:nvPr/>
        </p:nvSpPr>
        <p:spPr>
          <a:xfrm>
            <a:off x="10113012" y="353862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5</a:t>
            </a:r>
          </a:p>
        </p:txBody>
      </p:sp>
      <p:sp>
        <p:nvSpPr>
          <p:cNvPr id="15" name="Заголовок 13">
            <a:extLst>
              <a:ext uri="{FF2B5EF4-FFF2-40B4-BE49-F238E27FC236}">
                <a16:creationId xmlns:a16="http://schemas.microsoft.com/office/drawing/2014/main" id="{325CF155-14B8-5628-119D-7449CFD5B0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АЛГОРИТМ</a:t>
            </a:r>
          </a:p>
        </p:txBody>
      </p:sp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BD4BFEA8-37B5-92D1-855E-4FF06BA59DA3}"/>
              </a:ext>
            </a:extLst>
          </p:cNvPr>
          <p:cNvSpPr/>
          <p:nvPr/>
        </p:nvSpPr>
        <p:spPr>
          <a:xfrm>
            <a:off x="1864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6" name="Скругленный прямоугольник 15">
            <a:extLst>
              <a:ext uri="{FF2B5EF4-FFF2-40B4-BE49-F238E27FC236}">
                <a16:creationId xmlns:a16="http://schemas.microsoft.com/office/drawing/2014/main" id="{21820900-0645-FD25-E909-18D394EFF3AF}"/>
              </a:ext>
            </a:extLst>
          </p:cNvPr>
          <p:cNvSpPr/>
          <p:nvPr/>
        </p:nvSpPr>
        <p:spPr>
          <a:xfrm>
            <a:off x="46441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996865AC-684A-E392-11F5-A3160D858242}"/>
              </a:ext>
            </a:extLst>
          </p:cNvPr>
          <p:cNvSpPr/>
          <p:nvPr/>
        </p:nvSpPr>
        <p:spPr>
          <a:xfrm>
            <a:off x="91018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1557C0D9-E1EE-FF6F-28CC-F2CF230BFDBA}"/>
              </a:ext>
            </a:extLst>
          </p:cNvPr>
          <p:cNvSpPr/>
          <p:nvPr/>
        </p:nvSpPr>
        <p:spPr>
          <a:xfrm>
            <a:off x="2471878" y="4825338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BC511278-171F-4030-656D-F6DA5B6264BC}"/>
              </a:ext>
            </a:extLst>
          </p:cNvPr>
          <p:cNvSpPr/>
          <p:nvPr/>
        </p:nvSpPr>
        <p:spPr>
          <a:xfrm>
            <a:off x="6948708" y="4791290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</p:spTree>
    <p:extLst>
      <p:ext uri="{BB962C8B-B14F-4D97-AF65-F5344CB8AC3E}">
        <p14:creationId xmlns:p14="http://schemas.microsoft.com/office/powerpoint/2010/main" val="219459920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39125108-8C0F-2F06-5739-B84F0E2F138C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grpSp>
        <p:nvGrpSpPr>
          <p:cNvPr id="8" name="Group 82">
            <a:extLst>
              <a:ext uri="{FF2B5EF4-FFF2-40B4-BE49-F238E27FC236}">
                <a16:creationId xmlns:a16="http://schemas.microsoft.com/office/drawing/2014/main" id="{24F452BD-B318-4752-95A0-FE784050E11F}"/>
              </a:ext>
            </a:extLst>
          </p:cNvPr>
          <p:cNvGrpSpPr>
            <a:grpSpLocks noChangeAspect="1"/>
          </p:cNvGrpSpPr>
          <p:nvPr/>
        </p:nvGrpSpPr>
        <p:grpSpPr>
          <a:xfrm>
            <a:off x="1149124" y="1149443"/>
            <a:ext cx="4267960" cy="2822929"/>
            <a:chOff x="1027152" y="2693983"/>
            <a:chExt cx="6796849" cy="4462905"/>
          </a:xfrm>
        </p:grpSpPr>
        <p:grpSp>
          <p:nvGrpSpPr>
            <p:cNvPr id="9" name="Group 83">
              <a:extLst>
                <a:ext uri="{FF2B5EF4-FFF2-40B4-BE49-F238E27FC236}">
                  <a16:creationId xmlns:a16="http://schemas.microsoft.com/office/drawing/2014/main" id="{FD5311CA-A8DA-4752-BCCC-9D77C86DAA8A}"/>
                </a:ext>
              </a:extLst>
            </p:cNvPr>
            <p:cNvGrpSpPr/>
            <p:nvPr/>
          </p:nvGrpSpPr>
          <p:grpSpPr>
            <a:xfrm>
              <a:off x="1027152" y="2693983"/>
              <a:ext cx="6796849" cy="4462905"/>
              <a:chOff x="1027152" y="2693983"/>
              <a:chExt cx="6796849" cy="4462905"/>
            </a:xfrm>
          </p:grpSpPr>
          <p:sp>
            <p:nvSpPr>
              <p:cNvPr id="12" name="AutoShape 1">
                <a:extLst>
                  <a:ext uri="{FF2B5EF4-FFF2-40B4-BE49-F238E27FC236}">
                    <a16:creationId xmlns:a16="http://schemas.microsoft.com/office/drawing/2014/main" id="{C5DD9855-9040-4A8E-8FC7-2A87D71D92A4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3" name="Rectangle 2">
                <a:extLst>
                  <a:ext uri="{FF2B5EF4-FFF2-40B4-BE49-F238E27FC236}">
                    <a16:creationId xmlns:a16="http://schemas.microsoft.com/office/drawing/2014/main" id="{1CA962FF-DEAF-450E-BAC9-2CBF039F5ED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4" name="AutoShape 3">
                <a:extLst>
                  <a:ext uri="{FF2B5EF4-FFF2-40B4-BE49-F238E27FC236}">
                    <a16:creationId xmlns:a16="http://schemas.microsoft.com/office/drawing/2014/main" id="{29B32C08-05E5-455D-AB4B-FA780C0B9C4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5" name="Oval 4">
                <a:extLst>
                  <a:ext uri="{FF2B5EF4-FFF2-40B4-BE49-F238E27FC236}">
                    <a16:creationId xmlns:a16="http://schemas.microsoft.com/office/drawing/2014/main" id="{DB5DCAC2-FF8B-4D8A-8761-EF6BE6B4CB7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6" name="Oval 5">
                <a:extLst>
                  <a:ext uri="{FF2B5EF4-FFF2-40B4-BE49-F238E27FC236}">
                    <a16:creationId xmlns:a16="http://schemas.microsoft.com/office/drawing/2014/main" id="{A18062AF-728F-4F67-A9EE-6DA3DC1E6BB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7" name="Oval 6">
                <a:extLst>
                  <a:ext uri="{FF2B5EF4-FFF2-40B4-BE49-F238E27FC236}">
                    <a16:creationId xmlns:a16="http://schemas.microsoft.com/office/drawing/2014/main" id="{1F8B8CA3-31B9-4E3E-89F8-B823F31C1C9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8" name="Rectangle 92">
                <a:extLst>
                  <a:ext uri="{FF2B5EF4-FFF2-40B4-BE49-F238E27FC236}">
                    <a16:creationId xmlns:a16="http://schemas.microsoft.com/office/drawing/2014/main" id="{C40CC64C-4BDE-4B83-ACBA-76BBEC31E3B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205844" y="3085114"/>
                <a:ext cx="5104773" cy="200580"/>
              </a:xfrm>
              <a:prstGeom prst="rect">
                <a:avLst/>
              </a:prstGeom>
              <a:solidFill>
                <a:srgbClr val="FFFFFF"/>
              </a:solidFill>
              <a:ln w="25400" cap="flat">
                <a:solidFill>
                  <a:srgbClr val="B3B3B3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grpSp>
            <p:nvGrpSpPr>
              <p:cNvPr id="19" name="Group 93">
                <a:extLst>
                  <a:ext uri="{FF2B5EF4-FFF2-40B4-BE49-F238E27FC236}">
                    <a16:creationId xmlns:a16="http://schemas.microsoft.com/office/drawing/2014/main" id="{021FE07F-E9DB-428E-864C-12ABBB046C13}"/>
                  </a:ext>
                </a:extLst>
              </p:cNvPr>
              <p:cNvGrpSpPr/>
              <p:nvPr/>
            </p:nvGrpSpPr>
            <p:grpSpPr>
              <a:xfrm>
                <a:off x="7494380" y="2779230"/>
                <a:ext cx="155357" cy="155272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22" name="Freeform 13">
                  <a:extLst>
                    <a:ext uri="{FF2B5EF4-FFF2-40B4-BE49-F238E27FC236}">
                      <a16:creationId xmlns:a16="http://schemas.microsoft.com/office/drawing/2014/main" id="{8251ED56-D5C4-4244-B7B8-9CC65D6F8A0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3" name="Freeform 14">
                  <a:extLst>
                    <a:ext uri="{FF2B5EF4-FFF2-40B4-BE49-F238E27FC236}">
                      <a16:creationId xmlns:a16="http://schemas.microsoft.com/office/drawing/2014/main" id="{ECE11028-B7CA-451E-851D-176871A08FC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4" name="Freeform 15">
                  <a:extLst>
                    <a:ext uri="{FF2B5EF4-FFF2-40B4-BE49-F238E27FC236}">
                      <a16:creationId xmlns:a16="http://schemas.microsoft.com/office/drawing/2014/main" id="{C663966C-C5F6-4AF2-AC81-EF7A040B748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5" name="Freeform 16">
                  <a:extLst>
                    <a:ext uri="{FF2B5EF4-FFF2-40B4-BE49-F238E27FC236}">
                      <a16:creationId xmlns:a16="http://schemas.microsoft.com/office/drawing/2014/main" id="{1231452A-2DB6-4628-B13E-989E3196783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6" name="Freeform 17">
                  <a:extLst>
                    <a:ext uri="{FF2B5EF4-FFF2-40B4-BE49-F238E27FC236}">
                      <a16:creationId xmlns:a16="http://schemas.microsoft.com/office/drawing/2014/main" id="{02B5F533-7190-4486-800E-50B9DEE2ECC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7" name="Freeform 18">
                  <a:extLst>
                    <a:ext uri="{FF2B5EF4-FFF2-40B4-BE49-F238E27FC236}">
                      <a16:creationId xmlns:a16="http://schemas.microsoft.com/office/drawing/2014/main" id="{E1197ACF-D4F7-4F4F-B51B-31BAB032032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8" name="Freeform 19">
                  <a:extLst>
                    <a:ext uri="{FF2B5EF4-FFF2-40B4-BE49-F238E27FC236}">
                      <a16:creationId xmlns:a16="http://schemas.microsoft.com/office/drawing/2014/main" id="{305C916E-AA00-40D3-979E-8385C880D15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9" name="Freeform 20">
                  <a:extLst>
                    <a:ext uri="{FF2B5EF4-FFF2-40B4-BE49-F238E27FC236}">
                      <a16:creationId xmlns:a16="http://schemas.microsoft.com/office/drawing/2014/main" id="{606A4951-C43E-4D62-8601-77DAE03DB7A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30" name="Freeform 21">
                  <a:extLst>
                    <a:ext uri="{FF2B5EF4-FFF2-40B4-BE49-F238E27FC236}">
                      <a16:creationId xmlns:a16="http://schemas.microsoft.com/office/drawing/2014/main" id="{E4DF5AB0-92B8-4555-8BFE-FEB94F35CC7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</p:grpSp>
          <p:sp>
            <p:nvSpPr>
              <p:cNvPr id="20" name="Freeform 25">
                <a:extLst>
                  <a:ext uri="{FF2B5EF4-FFF2-40B4-BE49-F238E27FC236}">
                    <a16:creationId xmlns:a16="http://schemas.microsoft.com/office/drawing/2014/main" id="{C904AC4F-21D6-40FC-874A-C69831B8A24B}"/>
                  </a:ext>
                </a:extLst>
              </p:cNvPr>
              <p:cNvSpPr>
                <a:spLocks/>
              </p:cNvSpPr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21" name="Oval 6">
                <a:extLst>
                  <a:ext uri="{FF2B5EF4-FFF2-40B4-BE49-F238E27FC236}">
                    <a16:creationId xmlns:a16="http://schemas.microsoft.com/office/drawing/2014/main" id="{008AEF74-0CB4-4F9D-941F-B3FDCFD4ACA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FF43D9F-F201-460A-B5AB-10C4C6323FC9}"/>
                </a:ext>
              </a:extLst>
            </p:cNvPr>
            <p:cNvSpPr txBox="1"/>
            <p:nvPr/>
          </p:nvSpPr>
          <p:spPr>
            <a:xfrm>
              <a:off x="2391108" y="2996115"/>
              <a:ext cx="1593994" cy="3970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/>
              <a:r>
                <a:rPr lang="ru-RU" sz="1000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>localhost:8080</a:t>
              </a:r>
            </a:p>
          </p:txBody>
        </p:sp>
        <p:sp>
          <p:nvSpPr>
            <p:cNvPr id="11" name="Freeform 29">
              <a:extLst>
                <a:ext uri="{FF2B5EF4-FFF2-40B4-BE49-F238E27FC236}">
                  <a16:creationId xmlns:a16="http://schemas.microsoft.com/office/drawing/2014/main" id="{773BAD95-B78D-42DD-A801-8B84C3BF532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269943" y="3130076"/>
              <a:ext cx="115372" cy="115448"/>
            </a:xfrm>
            <a:custGeom>
              <a:avLst/>
              <a:gdLst>
                <a:gd name="T0" fmla="*/ 0 w 636"/>
                <a:gd name="T1" fmla="*/ 318 h 636"/>
                <a:gd name="T2" fmla="*/ 636 w 636"/>
                <a:gd name="T3" fmla="*/ 318 h 636"/>
                <a:gd name="T4" fmla="*/ 594 w 636"/>
                <a:gd name="T5" fmla="*/ 308 h 636"/>
                <a:gd name="T6" fmla="*/ 448 w 636"/>
                <a:gd name="T7" fmla="*/ 179 h 636"/>
                <a:gd name="T8" fmla="*/ 594 w 636"/>
                <a:gd name="T9" fmla="*/ 308 h 636"/>
                <a:gd name="T10" fmla="*/ 223 w 636"/>
                <a:gd name="T11" fmla="*/ 486 h 636"/>
                <a:gd name="T12" fmla="*/ 308 w 636"/>
                <a:gd name="T13" fmla="*/ 594 h 636"/>
                <a:gd name="T14" fmla="*/ 329 w 636"/>
                <a:gd name="T15" fmla="*/ 42 h 636"/>
                <a:gd name="T16" fmla="*/ 328 w 636"/>
                <a:gd name="T17" fmla="*/ 184 h 636"/>
                <a:gd name="T18" fmla="*/ 329 w 636"/>
                <a:gd name="T19" fmla="*/ 42 h 636"/>
                <a:gd name="T20" fmla="*/ 510 w 636"/>
                <a:gd name="T21" fmla="*/ 119 h 636"/>
                <a:gd name="T22" fmla="*/ 363 w 636"/>
                <a:gd name="T23" fmla="*/ 45 h 636"/>
                <a:gd name="T24" fmla="*/ 308 w 636"/>
                <a:gd name="T25" fmla="*/ 184 h 636"/>
                <a:gd name="T26" fmla="*/ 307 w 636"/>
                <a:gd name="T27" fmla="*/ 42 h 636"/>
                <a:gd name="T28" fmla="*/ 196 w 636"/>
                <a:gd name="T29" fmla="*/ 160 h 636"/>
                <a:gd name="T30" fmla="*/ 273 w 636"/>
                <a:gd name="T31" fmla="*/ 45 h 636"/>
                <a:gd name="T32" fmla="*/ 207 w 636"/>
                <a:gd name="T33" fmla="*/ 186 h 636"/>
                <a:gd name="T34" fmla="*/ 308 w 636"/>
                <a:gd name="T35" fmla="*/ 308 h 636"/>
                <a:gd name="T36" fmla="*/ 207 w 636"/>
                <a:gd name="T37" fmla="*/ 186 h 636"/>
                <a:gd name="T38" fmla="*/ 308 w 636"/>
                <a:gd name="T39" fmla="*/ 452 h 636"/>
                <a:gd name="T40" fmla="*/ 185 w 636"/>
                <a:gd name="T41" fmla="*/ 328 h 636"/>
                <a:gd name="T42" fmla="*/ 273 w 636"/>
                <a:gd name="T43" fmla="*/ 591 h 636"/>
                <a:gd name="T44" fmla="*/ 204 w 636"/>
                <a:gd name="T45" fmla="*/ 493 h 636"/>
                <a:gd name="T46" fmla="*/ 328 w 636"/>
                <a:gd name="T47" fmla="*/ 594 h 636"/>
                <a:gd name="T48" fmla="*/ 413 w 636"/>
                <a:gd name="T49" fmla="*/ 486 h 636"/>
                <a:gd name="T50" fmla="*/ 328 w 636"/>
                <a:gd name="T51" fmla="*/ 594 h 636"/>
                <a:gd name="T52" fmla="*/ 498 w 636"/>
                <a:gd name="T53" fmla="*/ 528 h 636"/>
                <a:gd name="T54" fmla="*/ 432 w 636"/>
                <a:gd name="T55" fmla="*/ 493 h 636"/>
                <a:gd name="T56" fmla="*/ 328 w 636"/>
                <a:gd name="T57" fmla="*/ 452 h 636"/>
                <a:gd name="T58" fmla="*/ 451 w 636"/>
                <a:gd name="T59" fmla="*/ 328 h 636"/>
                <a:gd name="T60" fmla="*/ 328 w 636"/>
                <a:gd name="T61" fmla="*/ 308 h 636"/>
                <a:gd name="T62" fmla="*/ 429 w 636"/>
                <a:gd name="T63" fmla="*/ 186 h 636"/>
                <a:gd name="T64" fmla="*/ 328 w 636"/>
                <a:gd name="T65" fmla="*/ 308 h 636"/>
                <a:gd name="T66" fmla="*/ 188 w 636"/>
                <a:gd name="T67" fmla="*/ 179 h 636"/>
                <a:gd name="T68" fmla="*/ 42 w 636"/>
                <a:gd name="T69" fmla="*/ 308 h 636"/>
                <a:gd name="T70" fmla="*/ 42 w 636"/>
                <a:gd name="T71" fmla="*/ 328 h 636"/>
                <a:gd name="T72" fmla="*/ 195 w 636"/>
                <a:gd name="T73" fmla="*/ 475 h 636"/>
                <a:gd name="T74" fmla="*/ 42 w 636"/>
                <a:gd name="T75" fmla="*/ 328 h 636"/>
                <a:gd name="T76" fmla="*/ 441 w 636"/>
                <a:gd name="T77" fmla="*/ 475 h 636"/>
                <a:gd name="T78" fmla="*/ 594 w 636"/>
                <a:gd name="T79" fmla="*/ 328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636" h="636">
                  <a:moveTo>
                    <a:pt x="318" y="0"/>
                  </a:moveTo>
                  <a:cubicBezTo>
                    <a:pt x="142" y="0"/>
                    <a:pt x="0" y="142"/>
                    <a:pt x="0" y="318"/>
                  </a:cubicBezTo>
                  <a:cubicBezTo>
                    <a:pt x="0" y="494"/>
                    <a:pt x="142" y="636"/>
                    <a:pt x="318" y="636"/>
                  </a:cubicBezTo>
                  <a:cubicBezTo>
                    <a:pt x="494" y="636"/>
                    <a:pt x="636" y="494"/>
                    <a:pt x="636" y="318"/>
                  </a:cubicBezTo>
                  <a:cubicBezTo>
                    <a:pt x="636" y="142"/>
                    <a:pt x="494" y="0"/>
                    <a:pt x="318" y="0"/>
                  </a:cubicBezTo>
                  <a:close/>
                  <a:moveTo>
                    <a:pt x="594" y="308"/>
                  </a:moveTo>
                  <a:cubicBezTo>
                    <a:pt x="471" y="308"/>
                    <a:pt x="471" y="308"/>
                    <a:pt x="471" y="308"/>
                  </a:cubicBezTo>
                  <a:cubicBezTo>
                    <a:pt x="470" y="262"/>
                    <a:pt x="462" y="219"/>
                    <a:pt x="448" y="179"/>
                  </a:cubicBezTo>
                  <a:cubicBezTo>
                    <a:pt x="476" y="168"/>
                    <a:pt x="501" y="152"/>
                    <a:pt x="525" y="134"/>
                  </a:cubicBezTo>
                  <a:cubicBezTo>
                    <a:pt x="566" y="181"/>
                    <a:pt x="592" y="241"/>
                    <a:pt x="594" y="308"/>
                  </a:cubicBezTo>
                  <a:close/>
                  <a:moveTo>
                    <a:pt x="307" y="594"/>
                  </a:moveTo>
                  <a:cubicBezTo>
                    <a:pt x="273" y="566"/>
                    <a:pt x="244" y="529"/>
                    <a:pt x="223" y="486"/>
                  </a:cubicBezTo>
                  <a:cubicBezTo>
                    <a:pt x="250" y="478"/>
                    <a:pt x="278" y="473"/>
                    <a:pt x="308" y="472"/>
                  </a:cubicBezTo>
                  <a:cubicBezTo>
                    <a:pt x="308" y="594"/>
                    <a:pt x="308" y="594"/>
                    <a:pt x="308" y="594"/>
                  </a:cubicBezTo>
                  <a:cubicBezTo>
                    <a:pt x="307" y="594"/>
                    <a:pt x="307" y="594"/>
                    <a:pt x="307" y="594"/>
                  </a:cubicBezTo>
                  <a:close/>
                  <a:moveTo>
                    <a:pt x="329" y="42"/>
                  </a:moveTo>
                  <a:cubicBezTo>
                    <a:pt x="368" y="74"/>
                    <a:pt x="400" y="117"/>
                    <a:pt x="421" y="167"/>
                  </a:cubicBezTo>
                  <a:cubicBezTo>
                    <a:pt x="392" y="177"/>
                    <a:pt x="361" y="183"/>
                    <a:pt x="328" y="184"/>
                  </a:cubicBezTo>
                  <a:cubicBezTo>
                    <a:pt x="328" y="42"/>
                    <a:pt x="328" y="42"/>
                    <a:pt x="328" y="42"/>
                  </a:cubicBezTo>
                  <a:cubicBezTo>
                    <a:pt x="329" y="42"/>
                    <a:pt x="329" y="42"/>
                    <a:pt x="329" y="42"/>
                  </a:cubicBezTo>
                  <a:close/>
                  <a:moveTo>
                    <a:pt x="363" y="45"/>
                  </a:moveTo>
                  <a:cubicBezTo>
                    <a:pt x="420" y="55"/>
                    <a:pt x="471" y="81"/>
                    <a:pt x="510" y="119"/>
                  </a:cubicBezTo>
                  <a:cubicBezTo>
                    <a:pt x="489" y="136"/>
                    <a:pt x="466" y="150"/>
                    <a:pt x="440" y="160"/>
                  </a:cubicBezTo>
                  <a:cubicBezTo>
                    <a:pt x="421" y="116"/>
                    <a:pt x="395" y="77"/>
                    <a:pt x="363" y="45"/>
                  </a:cubicBezTo>
                  <a:close/>
                  <a:moveTo>
                    <a:pt x="308" y="42"/>
                  </a:moveTo>
                  <a:cubicBezTo>
                    <a:pt x="308" y="184"/>
                    <a:pt x="308" y="184"/>
                    <a:pt x="308" y="184"/>
                  </a:cubicBezTo>
                  <a:cubicBezTo>
                    <a:pt x="275" y="183"/>
                    <a:pt x="244" y="177"/>
                    <a:pt x="215" y="167"/>
                  </a:cubicBezTo>
                  <a:cubicBezTo>
                    <a:pt x="236" y="117"/>
                    <a:pt x="268" y="74"/>
                    <a:pt x="307" y="42"/>
                  </a:cubicBezTo>
                  <a:cubicBezTo>
                    <a:pt x="307" y="42"/>
                    <a:pt x="307" y="42"/>
                    <a:pt x="308" y="42"/>
                  </a:cubicBezTo>
                  <a:close/>
                  <a:moveTo>
                    <a:pt x="196" y="160"/>
                  </a:moveTo>
                  <a:cubicBezTo>
                    <a:pt x="171" y="150"/>
                    <a:pt x="147" y="136"/>
                    <a:pt x="126" y="119"/>
                  </a:cubicBezTo>
                  <a:cubicBezTo>
                    <a:pt x="165" y="81"/>
                    <a:pt x="216" y="55"/>
                    <a:pt x="273" y="45"/>
                  </a:cubicBezTo>
                  <a:cubicBezTo>
                    <a:pt x="241" y="77"/>
                    <a:pt x="215" y="116"/>
                    <a:pt x="196" y="160"/>
                  </a:cubicBezTo>
                  <a:close/>
                  <a:moveTo>
                    <a:pt x="207" y="186"/>
                  </a:moveTo>
                  <a:cubicBezTo>
                    <a:pt x="239" y="197"/>
                    <a:pt x="273" y="204"/>
                    <a:pt x="308" y="205"/>
                  </a:cubicBezTo>
                  <a:cubicBezTo>
                    <a:pt x="308" y="308"/>
                    <a:pt x="308" y="308"/>
                    <a:pt x="308" y="308"/>
                  </a:cubicBezTo>
                  <a:cubicBezTo>
                    <a:pt x="185" y="308"/>
                    <a:pt x="185" y="308"/>
                    <a:pt x="185" y="308"/>
                  </a:cubicBezTo>
                  <a:cubicBezTo>
                    <a:pt x="186" y="265"/>
                    <a:pt x="194" y="224"/>
                    <a:pt x="207" y="186"/>
                  </a:cubicBezTo>
                  <a:close/>
                  <a:moveTo>
                    <a:pt x="308" y="328"/>
                  </a:moveTo>
                  <a:cubicBezTo>
                    <a:pt x="308" y="452"/>
                    <a:pt x="308" y="452"/>
                    <a:pt x="308" y="452"/>
                  </a:cubicBezTo>
                  <a:cubicBezTo>
                    <a:pt x="275" y="453"/>
                    <a:pt x="244" y="458"/>
                    <a:pt x="215" y="468"/>
                  </a:cubicBezTo>
                  <a:cubicBezTo>
                    <a:pt x="197" y="425"/>
                    <a:pt x="186" y="378"/>
                    <a:pt x="185" y="328"/>
                  </a:cubicBezTo>
                  <a:lnTo>
                    <a:pt x="308" y="328"/>
                  </a:lnTo>
                  <a:close/>
                  <a:moveTo>
                    <a:pt x="273" y="591"/>
                  </a:moveTo>
                  <a:cubicBezTo>
                    <a:pt x="222" y="582"/>
                    <a:pt x="176" y="560"/>
                    <a:pt x="138" y="528"/>
                  </a:cubicBezTo>
                  <a:cubicBezTo>
                    <a:pt x="158" y="514"/>
                    <a:pt x="180" y="502"/>
                    <a:pt x="204" y="493"/>
                  </a:cubicBezTo>
                  <a:cubicBezTo>
                    <a:pt x="222" y="531"/>
                    <a:pt x="245" y="563"/>
                    <a:pt x="273" y="591"/>
                  </a:cubicBezTo>
                  <a:close/>
                  <a:moveTo>
                    <a:pt x="328" y="594"/>
                  </a:moveTo>
                  <a:cubicBezTo>
                    <a:pt x="328" y="472"/>
                    <a:pt x="328" y="472"/>
                    <a:pt x="328" y="472"/>
                  </a:cubicBezTo>
                  <a:cubicBezTo>
                    <a:pt x="358" y="473"/>
                    <a:pt x="386" y="478"/>
                    <a:pt x="413" y="486"/>
                  </a:cubicBezTo>
                  <a:cubicBezTo>
                    <a:pt x="392" y="529"/>
                    <a:pt x="363" y="566"/>
                    <a:pt x="329" y="594"/>
                  </a:cubicBezTo>
                  <a:cubicBezTo>
                    <a:pt x="329" y="594"/>
                    <a:pt x="329" y="594"/>
                    <a:pt x="328" y="594"/>
                  </a:cubicBezTo>
                  <a:close/>
                  <a:moveTo>
                    <a:pt x="432" y="493"/>
                  </a:moveTo>
                  <a:cubicBezTo>
                    <a:pt x="456" y="502"/>
                    <a:pt x="478" y="514"/>
                    <a:pt x="498" y="528"/>
                  </a:cubicBezTo>
                  <a:cubicBezTo>
                    <a:pt x="460" y="560"/>
                    <a:pt x="414" y="582"/>
                    <a:pt x="363" y="591"/>
                  </a:cubicBezTo>
                  <a:cubicBezTo>
                    <a:pt x="391" y="563"/>
                    <a:pt x="414" y="531"/>
                    <a:pt x="432" y="493"/>
                  </a:cubicBezTo>
                  <a:close/>
                  <a:moveTo>
                    <a:pt x="421" y="468"/>
                  </a:moveTo>
                  <a:cubicBezTo>
                    <a:pt x="392" y="458"/>
                    <a:pt x="361" y="453"/>
                    <a:pt x="328" y="452"/>
                  </a:cubicBezTo>
                  <a:cubicBezTo>
                    <a:pt x="328" y="328"/>
                    <a:pt x="328" y="328"/>
                    <a:pt x="328" y="328"/>
                  </a:cubicBezTo>
                  <a:cubicBezTo>
                    <a:pt x="451" y="328"/>
                    <a:pt x="451" y="328"/>
                    <a:pt x="451" y="328"/>
                  </a:cubicBezTo>
                  <a:cubicBezTo>
                    <a:pt x="450" y="378"/>
                    <a:pt x="439" y="425"/>
                    <a:pt x="421" y="468"/>
                  </a:cubicBezTo>
                  <a:close/>
                  <a:moveTo>
                    <a:pt x="328" y="308"/>
                  </a:moveTo>
                  <a:cubicBezTo>
                    <a:pt x="328" y="205"/>
                    <a:pt x="328" y="205"/>
                    <a:pt x="328" y="205"/>
                  </a:cubicBezTo>
                  <a:cubicBezTo>
                    <a:pt x="363" y="204"/>
                    <a:pt x="397" y="197"/>
                    <a:pt x="429" y="186"/>
                  </a:cubicBezTo>
                  <a:cubicBezTo>
                    <a:pt x="442" y="224"/>
                    <a:pt x="450" y="265"/>
                    <a:pt x="451" y="308"/>
                  </a:cubicBezTo>
                  <a:lnTo>
                    <a:pt x="328" y="308"/>
                  </a:lnTo>
                  <a:close/>
                  <a:moveTo>
                    <a:pt x="111" y="134"/>
                  </a:moveTo>
                  <a:cubicBezTo>
                    <a:pt x="135" y="152"/>
                    <a:pt x="160" y="168"/>
                    <a:pt x="188" y="179"/>
                  </a:cubicBezTo>
                  <a:cubicBezTo>
                    <a:pt x="174" y="219"/>
                    <a:pt x="166" y="262"/>
                    <a:pt x="165" y="308"/>
                  </a:cubicBezTo>
                  <a:cubicBezTo>
                    <a:pt x="42" y="308"/>
                    <a:pt x="42" y="308"/>
                    <a:pt x="42" y="308"/>
                  </a:cubicBezTo>
                  <a:cubicBezTo>
                    <a:pt x="44" y="241"/>
                    <a:pt x="70" y="181"/>
                    <a:pt x="111" y="134"/>
                  </a:cubicBezTo>
                  <a:close/>
                  <a:moveTo>
                    <a:pt x="42" y="328"/>
                  </a:moveTo>
                  <a:cubicBezTo>
                    <a:pt x="165" y="328"/>
                    <a:pt x="165" y="328"/>
                    <a:pt x="165" y="328"/>
                  </a:cubicBezTo>
                  <a:cubicBezTo>
                    <a:pt x="166" y="381"/>
                    <a:pt x="177" y="430"/>
                    <a:pt x="195" y="475"/>
                  </a:cubicBezTo>
                  <a:cubicBezTo>
                    <a:pt x="169" y="485"/>
                    <a:pt x="145" y="498"/>
                    <a:pt x="123" y="514"/>
                  </a:cubicBezTo>
                  <a:cubicBezTo>
                    <a:pt x="75" y="466"/>
                    <a:pt x="44" y="401"/>
                    <a:pt x="42" y="328"/>
                  </a:cubicBezTo>
                  <a:close/>
                  <a:moveTo>
                    <a:pt x="513" y="514"/>
                  </a:moveTo>
                  <a:cubicBezTo>
                    <a:pt x="491" y="498"/>
                    <a:pt x="467" y="485"/>
                    <a:pt x="441" y="475"/>
                  </a:cubicBezTo>
                  <a:cubicBezTo>
                    <a:pt x="459" y="430"/>
                    <a:pt x="470" y="381"/>
                    <a:pt x="471" y="328"/>
                  </a:cubicBezTo>
                  <a:cubicBezTo>
                    <a:pt x="594" y="328"/>
                    <a:pt x="594" y="328"/>
                    <a:pt x="594" y="328"/>
                  </a:cubicBezTo>
                  <a:cubicBezTo>
                    <a:pt x="592" y="401"/>
                    <a:pt x="561" y="466"/>
                    <a:pt x="513" y="514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d-ID" dirty="0">
                <a:latin typeface="Lato Light"/>
              </a:endParaRPr>
            </a:p>
          </p:txBody>
        </p:sp>
      </p:grpSp>
      <p:grpSp>
        <p:nvGrpSpPr>
          <p:cNvPr id="31" name="Group 82">
            <a:extLst>
              <a:ext uri="{FF2B5EF4-FFF2-40B4-BE49-F238E27FC236}">
                <a16:creationId xmlns:a16="http://schemas.microsoft.com/office/drawing/2014/main" id="{476BE634-6695-4A59-B9FD-6815B89BADCA}"/>
              </a:ext>
            </a:extLst>
          </p:cNvPr>
          <p:cNvGrpSpPr>
            <a:grpSpLocks noChangeAspect="1"/>
          </p:cNvGrpSpPr>
          <p:nvPr/>
        </p:nvGrpSpPr>
        <p:grpSpPr>
          <a:xfrm>
            <a:off x="6794022" y="1149443"/>
            <a:ext cx="4267960" cy="2822929"/>
            <a:chOff x="1027152" y="2693983"/>
            <a:chExt cx="6796849" cy="4462905"/>
          </a:xfrm>
        </p:grpSpPr>
        <p:grpSp>
          <p:nvGrpSpPr>
            <p:cNvPr id="32" name="Group 83">
              <a:extLst>
                <a:ext uri="{FF2B5EF4-FFF2-40B4-BE49-F238E27FC236}">
                  <a16:creationId xmlns:a16="http://schemas.microsoft.com/office/drawing/2014/main" id="{F753F412-8864-4B46-BFBD-0C8E827679D2}"/>
                </a:ext>
              </a:extLst>
            </p:cNvPr>
            <p:cNvGrpSpPr/>
            <p:nvPr/>
          </p:nvGrpSpPr>
          <p:grpSpPr>
            <a:xfrm>
              <a:off x="1027152" y="2693983"/>
              <a:ext cx="6796849" cy="4462905"/>
              <a:chOff x="1027152" y="2693983"/>
              <a:chExt cx="6796849" cy="4462905"/>
            </a:xfrm>
          </p:grpSpPr>
          <p:sp>
            <p:nvSpPr>
              <p:cNvPr id="35" name="AutoShape 1">
                <a:extLst>
                  <a:ext uri="{FF2B5EF4-FFF2-40B4-BE49-F238E27FC236}">
                    <a16:creationId xmlns:a16="http://schemas.microsoft.com/office/drawing/2014/main" id="{48F16F12-B004-4ABE-AAA8-42D597EFDA9A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6" name="Rectangle 2">
                <a:extLst>
                  <a:ext uri="{FF2B5EF4-FFF2-40B4-BE49-F238E27FC236}">
                    <a16:creationId xmlns:a16="http://schemas.microsoft.com/office/drawing/2014/main" id="{92CE4B65-6103-4C38-92A7-2A427C04B8B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7" name="AutoShape 3">
                <a:extLst>
                  <a:ext uri="{FF2B5EF4-FFF2-40B4-BE49-F238E27FC236}">
                    <a16:creationId xmlns:a16="http://schemas.microsoft.com/office/drawing/2014/main" id="{297699FF-7AA4-40F4-81BC-DF7B89B3F7D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8" name="Oval 4">
                <a:extLst>
                  <a:ext uri="{FF2B5EF4-FFF2-40B4-BE49-F238E27FC236}">
                    <a16:creationId xmlns:a16="http://schemas.microsoft.com/office/drawing/2014/main" id="{D68B6E0E-D3C7-4493-A31B-8207DAE9C22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9" name="Oval 5">
                <a:extLst>
                  <a:ext uri="{FF2B5EF4-FFF2-40B4-BE49-F238E27FC236}">
                    <a16:creationId xmlns:a16="http://schemas.microsoft.com/office/drawing/2014/main" id="{AA3A8A3A-E81C-4F16-9EA2-9F11A9775EE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0" name="Oval 6">
                <a:extLst>
                  <a:ext uri="{FF2B5EF4-FFF2-40B4-BE49-F238E27FC236}">
                    <a16:creationId xmlns:a16="http://schemas.microsoft.com/office/drawing/2014/main" id="{539165D2-E0B0-4B91-BDF2-5FF535A7206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1" name="Rectangle 92">
                <a:extLst>
                  <a:ext uri="{FF2B5EF4-FFF2-40B4-BE49-F238E27FC236}">
                    <a16:creationId xmlns:a16="http://schemas.microsoft.com/office/drawing/2014/main" id="{B58995FD-774E-443F-8F74-D69C353CA9C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205844" y="3085114"/>
                <a:ext cx="5104773" cy="200580"/>
              </a:xfrm>
              <a:prstGeom prst="rect">
                <a:avLst/>
              </a:prstGeom>
              <a:solidFill>
                <a:srgbClr val="FFFFFF"/>
              </a:solidFill>
              <a:ln w="25400" cap="flat">
                <a:solidFill>
                  <a:srgbClr val="B3B3B3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grpSp>
            <p:nvGrpSpPr>
              <p:cNvPr id="42" name="Group 93">
                <a:extLst>
                  <a:ext uri="{FF2B5EF4-FFF2-40B4-BE49-F238E27FC236}">
                    <a16:creationId xmlns:a16="http://schemas.microsoft.com/office/drawing/2014/main" id="{022AA45E-1A3D-4A3B-B08F-4D64E6102BF2}"/>
                  </a:ext>
                </a:extLst>
              </p:cNvPr>
              <p:cNvGrpSpPr/>
              <p:nvPr/>
            </p:nvGrpSpPr>
            <p:grpSpPr>
              <a:xfrm>
                <a:off x="7494380" y="2779230"/>
                <a:ext cx="155357" cy="155272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45" name="Freeform 13">
                  <a:extLst>
                    <a:ext uri="{FF2B5EF4-FFF2-40B4-BE49-F238E27FC236}">
                      <a16:creationId xmlns:a16="http://schemas.microsoft.com/office/drawing/2014/main" id="{2EE8F120-DDD5-495E-8097-10825D0A1E6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6" name="Freeform 14">
                  <a:extLst>
                    <a:ext uri="{FF2B5EF4-FFF2-40B4-BE49-F238E27FC236}">
                      <a16:creationId xmlns:a16="http://schemas.microsoft.com/office/drawing/2014/main" id="{899F88D3-5C91-4BBA-BE63-9371B4B356C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7" name="Freeform 15">
                  <a:extLst>
                    <a:ext uri="{FF2B5EF4-FFF2-40B4-BE49-F238E27FC236}">
                      <a16:creationId xmlns:a16="http://schemas.microsoft.com/office/drawing/2014/main" id="{C1C5DCC2-9B40-4DA3-AB2F-ED9C5D891CE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8" name="Freeform 16">
                  <a:extLst>
                    <a:ext uri="{FF2B5EF4-FFF2-40B4-BE49-F238E27FC236}">
                      <a16:creationId xmlns:a16="http://schemas.microsoft.com/office/drawing/2014/main" id="{0721D991-881C-4DBE-AF30-E47AE304B7B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9" name="Freeform 17">
                  <a:extLst>
                    <a:ext uri="{FF2B5EF4-FFF2-40B4-BE49-F238E27FC236}">
                      <a16:creationId xmlns:a16="http://schemas.microsoft.com/office/drawing/2014/main" id="{97111254-2A6F-40F4-8741-1C703E43B98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0" name="Freeform 18">
                  <a:extLst>
                    <a:ext uri="{FF2B5EF4-FFF2-40B4-BE49-F238E27FC236}">
                      <a16:creationId xmlns:a16="http://schemas.microsoft.com/office/drawing/2014/main" id="{3448ADF5-3363-4495-90EA-D3397EA0A37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1" name="Freeform 19">
                  <a:extLst>
                    <a:ext uri="{FF2B5EF4-FFF2-40B4-BE49-F238E27FC236}">
                      <a16:creationId xmlns:a16="http://schemas.microsoft.com/office/drawing/2014/main" id="{A11FFFD8-A688-46DB-9518-83D23CB9AE9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2" name="Freeform 20">
                  <a:extLst>
                    <a:ext uri="{FF2B5EF4-FFF2-40B4-BE49-F238E27FC236}">
                      <a16:creationId xmlns:a16="http://schemas.microsoft.com/office/drawing/2014/main" id="{3B48C2AB-505E-4332-A44A-9D533A65044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3" name="Freeform 21">
                  <a:extLst>
                    <a:ext uri="{FF2B5EF4-FFF2-40B4-BE49-F238E27FC236}">
                      <a16:creationId xmlns:a16="http://schemas.microsoft.com/office/drawing/2014/main" id="{EBFBAB80-64C2-4E27-A1CC-A218E6C3562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</p:grpSp>
          <p:sp>
            <p:nvSpPr>
              <p:cNvPr id="43" name="Freeform 25">
                <a:extLst>
                  <a:ext uri="{FF2B5EF4-FFF2-40B4-BE49-F238E27FC236}">
                    <a16:creationId xmlns:a16="http://schemas.microsoft.com/office/drawing/2014/main" id="{27106E3B-5EE5-442B-87E5-0B8163B99979}"/>
                  </a:ext>
                </a:extLst>
              </p:cNvPr>
              <p:cNvSpPr>
                <a:spLocks/>
              </p:cNvSpPr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4" name="Oval 6">
                <a:extLst>
                  <a:ext uri="{FF2B5EF4-FFF2-40B4-BE49-F238E27FC236}">
                    <a16:creationId xmlns:a16="http://schemas.microsoft.com/office/drawing/2014/main" id="{AFFAA0AD-114A-4831-ACE3-B8C4258E3CB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</p:grp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44BEAEF8-91EF-49C8-A667-2BC7D51C2397}"/>
                </a:ext>
              </a:extLst>
            </p:cNvPr>
            <p:cNvSpPr txBox="1"/>
            <p:nvPr/>
          </p:nvSpPr>
          <p:spPr>
            <a:xfrm>
              <a:off x="2391108" y="2996115"/>
              <a:ext cx="1593994" cy="3970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/>
              <a:r>
                <a:rPr lang="ru-RU" sz="1000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>docker run resense</a:t>
              </a:r>
            </a:p>
          </p:txBody>
        </p:sp>
        <p:sp>
          <p:nvSpPr>
            <p:cNvPr id="34" name="Freeform 29">
              <a:extLst>
                <a:ext uri="{FF2B5EF4-FFF2-40B4-BE49-F238E27FC236}">
                  <a16:creationId xmlns:a16="http://schemas.microsoft.com/office/drawing/2014/main" id="{1C88632E-4E09-404A-9868-C0997FA11EA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269943" y="3130076"/>
              <a:ext cx="115372" cy="115448"/>
            </a:xfrm>
            <a:custGeom>
              <a:avLst/>
              <a:gdLst>
                <a:gd name="T0" fmla="*/ 0 w 636"/>
                <a:gd name="T1" fmla="*/ 318 h 636"/>
                <a:gd name="T2" fmla="*/ 636 w 636"/>
                <a:gd name="T3" fmla="*/ 318 h 636"/>
                <a:gd name="T4" fmla="*/ 594 w 636"/>
                <a:gd name="T5" fmla="*/ 308 h 636"/>
                <a:gd name="T6" fmla="*/ 448 w 636"/>
                <a:gd name="T7" fmla="*/ 179 h 636"/>
                <a:gd name="T8" fmla="*/ 594 w 636"/>
                <a:gd name="T9" fmla="*/ 308 h 636"/>
                <a:gd name="T10" fmla="*/ 223 w 636"/>
                <a:gd name="T11" fmla="*/ 486 h 636"/>
                <a:gd name="T12" fmla="*/ 308 w 636"/>
                <a:gd name="T13" fmla="*/ 594 h 636"/>
                <a:gd name="T14" fmla="*/ 329 w 636"/>
                <a:gd name="T15" fmla="*/ 42 h 636"/>
                <a:gd name="T16" fmla="*/ 328 w 636"/>
                <a:gd name="T17" fmla="*/ 184 h 636"/>
                <a:gd name="T18" fmla="*/ 329 w 636"/>
                <a:gd name="T19" fmla="*/ 42 h 636"/>
                <a:gd name="T20" fmla="*/ 510 w 636"/>
                <a:gd name="T21" fmla="*/ 119 h 636"/>
                <a:gd name="T22" fmla="*/ 363 w 636"/>
                <a:gd name="T23" fmla="*/ 45 h 636"/>
                <a:gd name="T24" fmla="*/ 308 w 636"/>
                <a:gd name="T25" fmla="*/ 184 h 636"/>
                <a:gd name="T26" fmla="*/ 307 w 636"/>
                <a:gd name="T27" fmla="*/ 42 h 636"/>
                <a:gd name="T28" fmla="*/ 196 w 636"/>
                <a:gd name="T29" fmla="*/ 160 h 636"/>
                <a:gd name="T30" fmla="*/ 273 w 636"/>
                <a:gd name="T31" fmla="*/ 45 h 636"/>
                <a:gd name="T32" fmla="*/ 207 w 636"/>
                <a:gd name="T33" fmla="*/ 186 h 636"/>
                <a:gd name="T34" fmla="*/ 308 w 636"/>
                <a:gd name="T35" fmla="*/ 308 h 636"/>
                <a:gd name="T36" fmla="*/ 207 w 636"/>
                <a:gd name="T37" fmla="*/ 186 h 636"/>
                <a:gd name="T38" fmla="*/ 308 w 636"/>
                <a:gd name="T39" fmla="*/ 452 h 636"/>
                <a:gd name="T40" fmla="*/ 185 w 636"/>
                <a:gd name="T41" fmla="*/ 328 h 636"/>
                <a:gd name="T42" fmla="*/ 273 w 636"/>
                <a:gd name="T43" fmla="*/ 591 h 636"/>
                <a:gd name="T44" fmla="*/ 204 w 636"/>
                <a:gd name="T45" fmla="*/ 493 h 636"/>
                <a:gd name="T46" fmla="*/ 328 w 636"/>
                <a:gd name="T47" fmla="*/ 594 h 636"/>
                <a:gd name="T48" fmla="*/ 413 w 636"/>
                <a:gd name="T49" fmla="*/ 486 h 636"/>
                <a:gd name="T50" fmla="*/ 328 w 636"/>
                <a:gd name="T51" fmla="*/ 594 h 636"/>
                <a:gd name="T52" fmla="*/ 498 w 636"/>
                <a:gd name="T53" fmla="*/ 528 h 636"/>
                <a:gd name="T54" fmla="*/ 432 w 636"/>
                <a:gd name="T55" fmla="*/ 493 h 636"/>
                <a:gd name="T56" fmla="*/ 328 w 636"/>
                <a:gd name="T57" fmla="*/ 452 h 636"/>
                <a:gd name="T58" fmla="*/ 451 w 636"/>
                <a:gd name="T59" fmla="*/ 328 h 636"/>
                <a:gd name="T60" fmla="*/ 328 w 636"/>
                <a:gd name="T61" fmla="*/ 308 h 636"/>
                <a:gd name="T62" fmla="*/ 429 w 636"/>
                <a:gd name="T63" fmla="*/ 186 h 636"/>
                <a:gd name="T64" fmla="*/ 328 w 636"/>
                <a:gd name="T65" fmla="*/ 308 h 636"/>
                <a:gd name="T66" fmla="*/ 188 w 636"/>
                <a:gd name="T67" fmla="*/ 179 h 636"/>
                <a:gd name="T68" fmla="*/ 42 w 636"/>
                <a:gd name="T69" fmla="*/ 308 h 636"/>
                <a:gd name="T70" fmla="*/ 42 w 636"/>
                <a:gd name="T71" fmla="*/ 328 h 636"/>
                <a:gd name="T72" fmla="*/ 195 w 636"/>
                <a:gd name="T73" fmla="*/ 475 h 636"/>
                <a:gd name="T74" fmla="*/ 42 w 636"/>
                <a:gd name="T75" fmla="*/ 328 h 636"/>
                <a:gd name="T76" fmla="*/ 441 w 636"/>
                <a:gd name="T77" fmla="*/ 475 h 636"/>
                <a:gd name="T78" fmla="*/ 594 w 636"/>
                <a:gd name="T79" fmla="*/ 328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636" h="636">
                  <a:moveTo>
                    <a:pt x="318" y="0"/>
                  </a:moveTo>
                  <a:cubicBezTo>
                    <a:pt x="142" y="0"/>
                    <a:pt x="0" y="142"/>
                    <a:pt x="0" y="318"/>
                  </a:cubicBezTo>
                  <a:cubicBezTo>
                    <a:pt x="0" y="494"/>
                    <a:pt x="142" y="636"/>
                    <a:pt x="318" y="636"/>
                  </a:cubicBezTo>
                  <a:cubicBezTo>
                    <a:pt x="494" y="636"/>
                    <a:pt x="636" y="494"/>
                    <a:pt x="636" y="318"/>
                  </a:cubicBezTo>
                  <a:cubicBezTo>
                    <a:pt x="636" y="142"/>
                    <a:pt x="494" y="0"/>
                    <a:pt x="318" y="0"/>
                  </a:cubicBezTo>
                  <a:close/>
                  <a:moveTo>
                    <a:pt x="594" y="308"/>
                  </a:moveTo>
                  <a:cubicBezTo>
                    <a:pt x="471" y="308"/>
                    <a:pt x="471" y="308"/>
                    <a:pt x="471" y="308"/>
                  </a:cubicBezTo>
                  <a:cubicBezTo>
                    <a:pt x="470" y="262"/>
                    <a:pt x="462" y="219"/>
                    <a:pt x="448" y="179"/>
                  </a:cubicBezTo>
                  <a:cubicBezTo>
                    <a:pt x="476" y="168"/>
                    <a:pt x="501" y="152"/>
                    <a:pt x="525" y="134"/>
                  </a:cubicBezTo>
                  <a:cubicBezTo>
                    <a:pt x="566" y="181"/>
                    <a:pt x="592" y="241"/>
                    <a:pt x="594" y="308"/>
                  </a:cubicBezTo>
                  <a:close/>
                  <a:moveTo>
                    <a:pt x="307" y="594"/>
                  </a:moveTo>
                  <a:cubicBezTo>
                    <a:pt x="273" y="566"/>
                    <a:pt x="244" y="529"/>
                    <a:pt x="223" y="486"/>
                  </a:cubicBezTo>
                  <a:cubicBezTo>
                    <a:pt x="250" y="478"/>
                    <a:pt x="278" y="473"/>
                    <a:pt x="308" y="472"/>
                  </a:cubicBezTo>
                  <a:cubicBezTo>
                    <a:pt x="308" y="594"/>
                    <a:pt x="308" y="594"/>
                    <a:pt x="308" y="594"/>
                  </a:cubicBezTo>
                  <a:cubicBezTo>
                    <a:pt x="307" y="594"/>
                    <a:pt x="307" y="594"/>
                    <a:pt x="307" y="594"/>
                  </a:cubicBezTo>
                  <a:close/>
                  <a:moveTo>
                    <a:pt x="329" y="42"/>
                  </a:moveTo>
                  <a:cubicBezTo>
                    <a:pt x="368" y="74"/>
                    <a:pt x="400" y="117"/>
                    <a:pt x="421" y="167"/>
                  </a:cubicBezTo>
                  <a:cubicBezTo>
                    <a:pt x="392" y="177"/>
                    <a:pt x="361" y="183"/>
                    <a:pt x="328" y="184"/>
                  </a:cubicBezTo>
                  <a:cubicBezTo>
                    <a:pt x="328" y="42"/>
                    <a:pt x="328" y="42"/>
                    <a:pt x="328" y="42"/>
                  </a:cubicBezTo>
                  <a:cubicBezTo>
                    <a:pt x="329" y="42"/>
                    <a:pt x="329" y="42"/>
                    <a:pt x="329" y="42"/>
                  </a:cubicBezTo>
                  <a:close/>
                  <a:moveTo>
                    <a:pt x="363" y="45"/>
                  </a:moveTo>
                  <a:cubicBezTo>
                    <a:pt x="420" y="55"/>
                    <a:pt x="471" y="81"/>
                    <a:pt x="510" y="119"/>
                  </a:cubicBezTo>
                  <a:cubicBezTo>
                    <a:pt x="489" y="136"/>
                    <a:pt x="466" y="150"/>
                    <a:pt x="440" y="160"/>
                  </a:cubicBezTo>
                  <a:cubicBezTo>
                    <a:pt x="421" y="116"/>
                    <a:pt x="395" y="77"/>
                    <a:pt x="363" y="45"/>
                  </a:cubicBezTo>
                  <a:close/>
                  <a:moveTo>
                    <a:pt x="308" y="42"/>
                  </a:moveTo>
                  <a:cubicBezTo>
                    <a:pt x="308" y="184"/>
                    <a:pt x="308" y="184"/>
                    <a:pt x="308" y="184"/>
                  </a:cubicBezTo>
                  <a:cubicBezTo>
                    <a:pt x="275" y="183"/>
                    <a:pt x="244" y="177"/>
                    <a:pt x="215" y="167"/>
                  </a:cubicBezTo>
                  <a:cubicBezTo>
                    <a:pt x="236" y="117"/>
                    <a:pt x="268" y="74"/>
                    <a:pt x="307" y="42"/>
                  </a:cubicBezTo>
                  <a:cubicBezTo>
                    <a:pt x="307" y="42"/>
                    <a:pt x="307" y="42"/>
                    <a:pt x="308" y="42"/>
                  </a:cubicBezTo>
                  <a:close/>
                  <a:moveTo>
                    <a:pt x="196" y="160"/>
                  </a:moveTo>
                  <a:cubicBezTo>
                    <a:pt x="171" y="150"/>
                    <a:pt x="147" y="136"/>
                    <a:pt x="126" y="119"/>
                  </a:cubicBezTo>
                  <a:cubicBezTo>
                    <a:pt x="165" y="81"/>
                    <a:pt x="216" y="55"/>
                    <a:pt x="273" y="45"/>
                  </a:cubicBezTo>
                  <a:cubicBezTo>
                    <a:pt x="241" y="77"/>
                    <a:pt x="215" y="116"/>
                    <a:pt x="196" y="160"/>
                  </a:cubicBezTo>
                  <a:close/>
                  <a:moveTo>
                    <a:pt x="207" y="186"/>
                  </a:moveTo>
                  <a:cubicBezTo>
                    <a:pt x="239" y="197"/>
                    <a:pt x="273" y="204"/>
                    <a:pt x="308" y="205"/>
                  </a:cubicBezTo>
                  <a:cubicBezTo>
                    <a:pt x="308" y="308"/>
                    <a:pt x="308" y="308"/>
                    <a:pt x="308" y="308"/>
                  </a:cubicBezTo>
                  <a:cubicBezTo>
                    <a:pt x="185" y="308"/>
                    <a:pt x="185" y="308"/>
                    <a:pt x="185" y="308"/>
                  </a:cubicBezTo>
                  <a:cubicBezTo>
                    <a:pt x="186" y="265"/>
                    <a:pt x="194" y="224"/>
                    <a:pt x="207" y="186"/>
                  </a:cubicBezTo>
                  <a:close/>
                  <a:moveTo>
                    <a:pt x="308" y="328"/>
                  </a:moveTo>
                  <a:cubicBezTo>
                    <a:pt x="308" y="452"/>
                    <a:pt x="308" y="452"/>
                    <a:pt x="308" y="452"/>
                  </a:cubicBezTo>
                  <a:cubicBezTo>
                    <a:pt x="275" y="453"/>
                    <a:pt x="244" y="458"/>
                    <a:pt x="215" y="468"/>
                  </a:cubicBezTo>
                  <a:cubicBezTo>
                    <a:pt x="197" y="425"/>
                    <a:pt x="186" y="378"/>
                    <a:pt x="185" y="328"/>
                  </a:cubicBezTo>
                  <a:lnTo>
                    <a:pt x="308" y="328"/>
                  </a:lnTo>
                  <a:close/>
                  <a:moveTo>
                    <a:pt x="273" y="591"/>
                  </a:moveTo>
                  <a:cubicBezTo>
                    <a:pt x="222" y="582"/>
                    <a:pt x="176" y="560"/>
                    <a:pt x="138" y="528"/>
                  </a:cubicBezTo>
                  <a:cubicBezTo>
                    <a:pt x="158" y="514"/>
                    <a:pt x="180" y="502"/>
                    <a:pt x="204" y="493"/>
                  </a:cubicBezTo>
                  <a:cubicBezTo>
                    <a:pt x="222" y="531"/>
                    <a:pt x="245" y="563"/>
                    <a:pt x="273" y="591"/>
                  </a:cubicBezTo>
                  <a:close/>
                  <a:moveTo>
                    <a:pt x="328" y="594"/>
                  </a:moveTo>
                  <a:cubicBezTo>
                    <a:pt x="328" y="472"/>
                    <a:pt x="328" y="472"/>
                    <a:pt x="328" y="472"/>
                  </a:cubicBezTo>
                  <a:cubicBezTo>
                    <a:pt x="358" y="473"/>
                    <a:pt x="386" y="478"/>
                    <a:pt x="413" y="486"/>
                  </a:cubicBezTo>
                  <a:cubicBezTo>
                    <a:pt x="392" y="529"/>
                    <a:pt x="363" y="566"/>
                    <a:pt x="329" y="594"/>
                  </a:cubicBezTo>
                  <a:cubicBezTo>
                    <a:pt x="329" y="594"/>
                    <a:pt x="329" y="594"/>
                    <a:pt x="328" y="594"/>
                  </a:cubicBezTo>
                  <a:close/>
                  <a:moveTo>
                    <a:pt x="432" y="493"/>
                  </a:moveTo>
                  <a:cubicBezTo>
                    <a:pt x="456" y="502"/>
                    <a:pt x="478" y="514"/>
                    <a:pt x="498" y="528"/>
                  </a:cubicBezTo>
                  <a:cubicBezTo>
                    <a:pt x="460" y="560"/>
                    <a:pt x="414" y="582"/>
                    <a:pt x="363" y="591"/>
                  </a:cubicBezTo>
                  <a:cubicBezTo>
                    <a:pt x="391" y="563"/>
                    <a:pt x="414" y="531"/>
                    <a:pt x="432" y="493"/>
                  </a:cubicBezTo>
                  <a:close/>
                  <a:moveTo>
                    <a:pt x="421" y="468"/>
                  </a:moveTo>
                  <a:cubicBezTo>
                    <a:pt x="392" y="458"/>
                    <a:pt x="361" y="453"/>
                    <a:pt x="328" y="452"/>
                  </a:cubicBezTo>
                  <a:cubicBezTo>
                    <a:pt x="328" y="328"/>
                    <a:pt x="328" y="328"/>
                    <a:pt x="328" y="328"/>
                  </a:cubicBezTo>
                  <a:cubicBezTo>
                    <a:pt x="451" y="328"/>
                    <a:pt x="451" y="328"/>
                    <a:pt x="451" y="328"/>
                  </a:cubicBezTo>
                  <a:cubicBezTo>
                    <a:pt x="450" y="378"/>
                    <a:pt x="439" y="425"/>
                    <a:pt x="421" y="468"/>
                  </a:cubicBezTo>
                  <a:close/>
                  <a:moveTo>
                    <a:pt x="328" y="308"/>
                  </a:moveTo>
                  <a:cubicBezTo>
                    <a:pt x="328" y="205"/>
                    <a:pt x="328" y="205"/>
                    <a:pt x="328" y="205"/>
                  </a:cubicBezTo>
                  <a:cubicBezTo>
                    <a:pt x="363" y="204"/>
                    <a:pt x="397" y="197"/>
                    <a:pt x="429" y="186"/>
                  </a:cubicBezTo>
                  <a:cubicBezTo>
                    <a:pt x="442" y="224"/>
                    <a:pt x="450" y="265"/>
                    <a:pt x="451" y="308"/>
                  </a:cubicBezTo>
                  <a:lnTo>
                    <a:pt x="328" y="308"/>
                  </a:lnTo>
                  <a:close/>
                  <a:moveTo>
                    <a:pt x="111" y="134"/>
                  </a:moveTo>
                  <a:cubicBezTo>
                    <a:pt x="135" y="152"/>
                    <a:pt x="160" y="168"/>
                    <a:pt x="188" y="179"/>
                  </a:cubicBezTo>
                  <a:cubicBezTo>
                    <a:pt x="174" y="219"/>
                    <a:pt x="166" y="262"/>
                    <a:pt x="165" y="308"/>
                  </a:cubicBezTo>
                  <a:cubicBezTo>
                    <a:pt x="42" y="308"/>
                    <a:pt x="42" y="308"/>
                    <a:pt x="42" y="308"/>
                  </a:cubicBezTo>
                  <a:cubicBezTo>
                    <a:pt x="44" y="241"/>
                    <a:pt x="70" y="181"/>
                    <a:pt x="111" y="134"/>
                  </a:cubicBezTo>
                  <a:close/>
                  <a:moveTo>
                    <a:pt x="42" y="328"/>
                  </a:moveTo>
                  <a:cubicBezTo>
                    <a:pt x="165" y="328"/>
                    <a:pt x="165" y="328"/>
                    <a:pt x="165" y="328"/>
                  </a:cubicBezTo>
                  <a:cubicBezTo>
                    <a:pt x="166" y="381"/>
                    <a:pt x="177" y="430"/>
                    <a:pt x="195" y="475"/>
                  </a:cubicBezTo>
                  <a:cubicBezTo>
                    <a:pt x="169" y="485"/>
                    <a:pt x="145" y="498"/>
                    <a:pt x="123" y="514"/>
                  </a:cubicBezTo>
                  <a:cubicBezTo>
                    <a:pt x="75" y="466"/>
                    <a:pt x="44" y="401"/>
                    <a:pt x="42" y="328"/>
                  </a:cubicBezTo>
                  <a:close/>
                  <a:moveTo>
                    <a:pt x="513" y="514"/>
                  </a:moveTo>
                  <a:cubicBezTo>
                    <a:pt x="491" y="498"/>
                    <a:pt x="467" y="485"/>
                    <a:pt x="441" y="475"/>
                  </a:cubicBezTo>
                  <a:cubicBezTo>
                    <a:pt x="459" y="430"/>
                    <a:pt x="470" y="381"/>
                    <a:pt x="471" y="328"/>
                  </a:cubicBezTo>
                  <a:cubicBezTo>
                    <a:pt x="594" y="328"/>
                    <a:pt x="594" y="328"/>
                    <a:pt x="594" y="328"/>
                  </a:cubicBezTo>
                  <a:cubicBezTo>
                    <a:pt x="592" y="401"/>
                    <a:pt x="561" y="466"/>
                    <a:pt x="513" y="514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d-ID" dirty="0">
                <a:latin typeface="Lato Light"/>
              </a:endParaRPr>
            </a:p>
          </p:txBody>
        </p:sp>
      </p:grp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EA08EBDD-D3B1-49F6-BC92-38ED9C8340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27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71A900A-8BF5-4238-B577-5FBBE4A75C4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pPr/>
            <a:r>
              <a:rPr lang="ru-RU" sz="1200">
                <a:solidFill>
                  <a:schemeClr val="tx1"/>
                </a:solidFill>
              </a:rPr>
              <a:t>Веб-дашборд «Контроль свободного габарита»: вид из кабины по статусу узла из Docker-прогона на doubleT_obstacle — STOP 56,1 м, путь свободен до 56 м; живой узел — через rosbridge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35CE154-6330-485C-8E80-D5D601B2BAD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pPr/>
            <a:r>
              <a:rPr lang="ru-RU" sz="1200">
                <a:solidFill>
                  <a:schemeClr val="tx1"/>
                </a:solidFill>
              </a:rPr>
              <a:t>Цепочка жюри в Docker: узел с RViz, bag play от обычного пользователя из другого контейнера, /resense/decision — STOP 56 м (видео 69 с)</a:t>
            </a:r>
          </a:p>
        </p:txBody>
      </p:sp>
      <p:pic>
        <p:nvPicPr>
          <p:cNvPr id="5" name="Рисунок 4" descr="dashboard-cab-real.png"/>
          <p:cNvPicPr>
            <a:picLocks noGrp="1" noChangeAspect="1"/>
          </p:cNvPicPr>
          <p:nvPr>
            <p:ph type="pic" sz="quarter" idx="14"/>
          </p:nvPr>
        </p:nvPicPr>
        <p:blipFill>
          <a:blip r:embed="rId3"/>
          <a:srcRect t="743" b="743"/>
          <a:stretch>
            <a:fillRect/>
          </a:stretch>
        </p:blipFill>
        <p:spPr/>
      </p:pic>
      <p:pic>
        <p:nvPicPr>
          <p:cNvPr id="6" name="Рисунок 5" descr="docker_chain_rviz.jpg"/>
          <p:cNvPicPr>
            <a:picLocks noGrp="1" noChangeAspect="1"/>
          </p:cNvPicPr>
          <p:nvPr>
            <p:ph type="pic" sz="quarter" idx="18"/>
          </p:nvPr>
        </p:nvPicPr>
        <p:blipFill>
          <a:blip r:embed="rId4"/>
          <a:srcRect t="743" b="743"/>
          <a:stretch>
            <a:fillRect/>
          </a:stretch>
        </p:blipFill>
        <p:spPr/>
      </p:pic>
      <p:sp>
        <p:nvSpPr>
          <p:cNvPr id="55" name="Заголовок 13">
            <a:extLst>
              <a:ext uri="{FF2B5EF4-FFF2-40B4-BE49-F238E27FC236}">
                <a16:creationId xmlns:a16="http://schemas.microsoft.com/office/drawing/2014/main" id="{F83D1BEE-59E5-12AF-CCDA-133537DF5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ДЕМОНСТРАЦИЯ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10643" y="5700000"/>
            <a:ext cx="9770000" cy="4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ru-RU" b="1" sz="1600">
                <a:solidFill>
                  <a:srgbClr val="520978"/>
                </a:solidFill>
              </a:rPr>
              <a:t>docker load → docker run → ros2 bag play → /resense/decision</a:t>
            </a:r>
          </a:p>
        </p:txBody>
      </p:sp>
    </p:spTree>
    <p:extLst>
      <p:ext uri="{BB962C8B-B14F-4D97-AF65-F5344CB8AC3E}">
        <p14:creationId xmlns:p14="http://schemas.microsoft.com/office/powerpoint/2010/main" val="1163964322"/>
      </p:ext>
    </p:extLst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 rtlCol="0" anchor="t"/>
      <a:lstStyle>
        <a:defPPr algn="ctr">
          <a:defRPr b="1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Для Академия инноваторов 16_9" id="{1723B771-A24B-45DA-B7CE-887A7FB91DED}" vid="{FE7ADCA1-0705-4BF5-AEC5-34FB9D7ACE5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11023</TotalTime>
  <Words>633</Words>
  <Application>Microsoft Macintosh PowerPoint</Application>
  <PresentationFormat>Широкоэкранный</PresentationFormat>
  <Paragraphs>192</Paragraphs>
  <Slides>37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37</vt:i4>
      </vt:variant>
    </vt:vector>
  </HeadingPairs>
  <TitlesOfParts>
    <vt:vector size="45" baseType="lpstr">
      <vt:lpstr>Arial</vt:lpstr>
      <vt:lpstr>Calibri</vt:lpstr>
      <vt:lpstr>Lato Light</vt:lpstr>
      <vt:lpstr>Montserrat</vt:lpstr>
      <vt:lpstr>Montserrat Medium</vt:lpstr>
      <vt:lpstr>Poppins Light</vt:lpstr>
      <vt:lpstr>Wingdings</vt:lpstr>
      <vt:lpstr>Для Академия инноваторов 16_9</vt:lpstr>
      <vt:lpstr>Презентация PowerPoint</vt:lpstr>
      <vt:lpstr>ВВОДНЫЕ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КОРОТКО О РЕШЕНИИ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Полезные материалы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ReSense — ЛЦТ 2026, кейс 05: посторонние объекты в тоннеле метро по данным 3D-лидара</dc:title>
  <dc:creator>Команда «Молоток»</dc:creator>
  <cp:lastModifiedBy>Команда «Молоток»</cp:lastModifiedBy>
  <cp:revision>95</cp:revision>
  <dcterms:created xsi:type="dcterms:W3CDTF">2023-05-15T07:36:23Z</dcterms:created>
  <dcterms:modified xsi:type="dcterms:W3CDTF">2026-09-14T11:14:59Z</dcterms:modified>
  <dc:subject>Лидеры цифровой трансформации 2026</dc:subject>
  <cp:keywords>LiDAR, ROS 2, метро, габарит, обнаружение препятствий</cp:keywords>
</cp:coreProperties>
</file>