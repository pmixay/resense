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369" r:id="rId13"/>
    <p:sldId id="267" r:id="rId26"/>
    <p:sldId id="372" r:id="rId14"/>
    <p:sldId id="270" r:id="rId28"/>
    <p:sldId id="262" r:id="rId21"/>
    <p:sldId id="266" r:id="rId23"/>
    <p:sldId id="263" r:id="rId22"/>
    <p:sldId id="371" r:id="rId17"/>
    <p:sldId id="370" r:id="rId16"/>
    <p:sldId id="374" r:id="rId18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8" Type="http://schemas.openxmlformats.org/officeDocument/2006/relationships/slide" Target="slides/slide27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первый STOP, м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dPt>
            <c:idx val="0"/>
            <c:spPr>
              <a:solidFill>
                <a:srgbClr val="FF0053"/>
              </a:solidFill>
            </c:spPr>
          </c:dPt>
          <c:dPt>
            <c:idx val="1"/>
            <c:spPr>
              <a:solidFill>
                <a:srgbClr val="8A83D1"/>
              </a:solidFill>
            </c:spPr>
          </c:dPt>
          <c:dPt>
            <c:idx val="2"/>
            <c:spPr>
              <a:solidFill>
                <a:srgbClr val="8A83D1"/>
              </a:solidFill>
            </c:spPr>
          </c:dPt>
          <c:dPt>
            <c:idx val="3"/>
            <c:spPr>
              <a:solidFill>
                <a:srgbClr val="FF0053"/>
              </a:solidFill>
            </c:spPr>
          </c:dPt>
          <c:dPt>
            <c:idx val="4"/>
            <c:spPr>
              <a:solidFill>
                <a:srgbClr val="FF0053"/>
              </a:solidFill>
            </c:spPr>
          </c:dPt>
          <c:dPt>
            <c:idx val="5"/>
            <c:spPr>
              <a:solidFill>
                <a:srgbClr val="FF0053"/>
              </a:solidFill>
            </c:spPr>
          </c:dPt>
          <c:dPt>
            <c:idx val="6"/>
            <c:spPr>
              <a:solidFill>
                <a:srgbClr val="FF0053"/>
              </a:solidFill>
            </c:spPr>
          </c:dPt>
          <c:dPt>
            <c:idx val="7"/>
            <c:spPr>
              <a:solidFill>
                <a:srgbClr val="FF0053"/>
              </a:solidFill>
            </c:spPr>
          </c:dPt>
          <c:dLbls>
            <c:numFmt formatCode="0&quot; м&quot;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висящий предмет 5 см</c:v>
                </c:pt>
                <c:pt idx="1">
                  <c:v>ящик 2 × 2 м у края</c:v>
                </c:pt>
                <c:pt idx="2">
                  <c:v>куб 0,3 м у края</c:v>
                </c:pt>
                <c:pt idx="3">
                  <c:v>куб 0,3 м в воздухе</c:v>
                </c:pt>
                <c:pt idx="4">
                  <c:v>куб 0,3 м на рельсе</c:v>
                </c:pt>
                <c:pt idx="5">
                  <c:v>доска поперёк рельсов</c:v>
                </c:pt>
                <c:pt idx="6">
                  <c:v>ящик 2 × 2 м в центре</c:v>
                </c:pt>
                <c:pt idx="7">
                  <c:v>ящик 2 × 2 м, верх габарита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30</c:v>
                </c:pt>
                <c:pt idx="1">
                  <c:v>10</c:v>
                </c:pt>
                <c:pt idx="2">
                  <c:v>5</c:v>
                </c:pt>
                <c:pt idx="3">
                  <c:v>53</c:v>
                </c:pt>
                <c:pt idx="4">
                  <c:v>43</c:v>
                </c:pt>
                <c:pt idx="5">
                  <c:v>82</c:v>
                </c:pt>
                <c:pt idx="6">
                  <c:v>98</c:v>
                </c:pt>
                <c:pt idx="7">
                  <c:v>101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15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первое подтверждение, м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C3777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rgbClr val="FFD6E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rgbClr val="8A83D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rgbClr val="520978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dPt>
            <c:idx val="4"/>
            <c:spPr>
              <a:solidFill>
                <a:srgbClr val="310F53"/>
              </a:solidFill>
            </c:spPr>
          </c:dPt>
          <c:dPt>
            <c:idx val="5"/>
            <c:spPr>
              <a:solidFill>
                <a:srgbClr val="FC3777"/>
              </a:solidFill>
            </c:spPr>
          </c:dPt>
          <c:dPt>
            <c:idx val="6"/>
            <c:spPr>
              <a:solidFill>
                <a:srgbClr val="FF0053"/>
              </a:solidFill>
            </c:spPr>
          </c:dPt>
          <c:dLbls>
            <c:numFmt formatCode="0&quot; м&quot;" sourceLinked="0"/>
            <c:txPr>
              <a:bodyPr/>
              <a:lstStyle/>
              <a:p>
                <a:pPr>
                  <a:defRPr sz="12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предмет поперёк рельса</c:v>
                </c:pt>
                <c:pt idx="1">
                  <c:v>ящик 30 см на рельсе</c:v>
                </c:pt>
                <c:pt idx="2">
                  <c:v>висящий кабель 3 см</c:v>
                </c:pt>
                <c:pt idx="3">
                  <c:v>ящик 1 м</c:v>
                </c:pt>
                <c:pt idx="4">
                  <c:v>тележка</c:v>
                </c:pt>
                <c:pt idx="5">
                  <c:v>человек 1,7 м</c:v>
                </c:pt>
                <c:pt idx="6">
                  <c:v>человек 1,7 м · от рельсов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46</c:v>
                </c:pt>
                <c:pt idx="1">
                  <c:v>49</c:v>
                </c:pt>
                <c:pt idx="2">
                  <c:v>95</c:v>
                </c:pt>
                <c:pt idx="3">
                  <c:v>111</c:v>
                </c:pt>
                <c:pt idx="4">
                  <c:v>144</c:v>
                </c:pt>
                <c:pt idx="5">
                  <c:v>148</c:v>
                </c:pt>
                <c:pt idx="6">
                  <c:v>154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20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Роли: капитан — ROS 2, Docker и интеграция; визуализация и презентация; компьютерное зрение — модель пути и трекинг; данные, синтетика, метрики и тесты. Каждый отвечал за свою часть, код общий.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Почему эта задача: метро — наша ежедневная дорога, а препятствий в данных почти нет, поэтому мы не учим сеть на объектах, а описываем нормальный тоннель. Главные трудности — ложные остановки на станциях и разные записи; обе решены в самой системе.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— команда «Молоток», четверо друзей из одного лицея; на конкурсы всегда выходим этим составом. Наше решение называется ReSense. Одной фразой: описываем нормальный тоннель и сообщаем всё, что попадает в габарит поезда.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Одной фразой: описываем нормальный тоннель и сообщаем всё, что попадает в габарит поезда. Работает в ROS 2 и Docker, без обучения на объектах. GPU мы оценили и не используем: выигрыш — десятки миллисекунд, а контейнер с запросом GPU не стартует на машине без nvidia-container-toolkit.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не нейросеть: реальных препятствий в данных почти нет, а на 100+ м у объекта единицы точек. Геометрия среды переносится между тоннелями, внешний вид объектов —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числа дальше — на всех 13 759 кадрах организаторов. Каждая запись обрывается на 209–210 м: дальше в тоннеле нет ни одного отражения, и это предел для любого алгоритма на этих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шагов на каждый кадр, 23–31 мс в среднем на одном ядре; это с необязательными ядрами на C++, без них время детектора в 1,6–2,3 раза больше при том же выходе бит в бит. Калибровка крепления — сама, по рельсам; кривизна — по стенам, поэтому коридор осмыслен и там, где рельсов уже не видно.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тоннель — двухпутный, поезд стоит, лидар на кабине. Вот облако: 350 тысяч точек за 0,1 с. Зелёным — габарит поезда, который алгоритм сам протянул вдоль оси пути по рельсам и стенам. Жёлтым — всё, что попало в коридор. И вот человек, который переходит путь: красная рамка, 55,8 метра, решение STOP. Справа — его точки крупно. Когда человек уходит, на рельсе остаётся предмет 45 × 60 × 30 см — его алгоритм тоже держит.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Цепочка организаторов прогнана в Docker на реальных записях: узел в одном контейнере, bag play из другого, от обычного пользователя. Решение — топик /resense/decision: GO, CAUTION, STOP, FAULT. Слева — наш дашборд: вид из кабины по статусу того же узла.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Человек на пути — 58 из 61 кадра, предмет на рельсе — 125 из 126. Ложных событий в 20-минутной поездке — 3,5 на км, почти вдвое меньше, чем в v0.6.1. На объектах самих организаторов большой ящик — с 98 м, кубы 30 см — только с 43–53 м; STOP у всех восьми, но у края — лишь 2 и 6 кадров, о них — через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Первое подтверждение человека — 148 м, медиана шести подходов. В пяти парных подходах — 150 м, а если ставить его по ближним рельсам, а не по нашей же дальней оси, — 154 м: дальность на прямой не зависит от оси детектора. Со скоростью поезда — 167 м; свою скорость мы меряем по лидару с ошибкой 0,07 м/с, но раньше STOP она не даёт, поэтому это опция. Дальше 210 м отражений нет. Всё это синтетика в реальных кадрах поездки.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единственная внешняя проверка — объекты, которые вставили сами организаторы, поезд едет к ним до 20 м/с. Большой ящик — с первого появления, 98 м; доска поперёк рельсов — с 82 м. Кубы 30 см — только с 43–53 м: на 60–115 м от них 2–4 точки в кадре. Висящий предмет 5 см — с 30 м; ящик у верха габарита — непрерывно с 101 м; у края — STOP лишь в 2 и 6 кадрах: объекты ставили от оси лидара, а наш габарит идёт по рельсам.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Надёжность: сами находим крепление и вход, при проблемах с данными говорим FAULT, а не молчим.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не сработало и почему: полотно полно железа, станции — главный источник ложных остановок, мелкие объекты организаторов видим поздно, тонкие — только вблизи, у края — лишь в нескольких кадрах.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Итог: работающий модуль, честные цифры, понятные следующие шаги — мелкие объекты раньше, скорость от одометрии и замер на 8-ядерной машине.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  <p:txBody>
          <a:bodyPr/>
          <a:p/>
        </p:txBody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  <p:txBody>
          <a:bodyPr/>
          <a:p/>
        </p:txBody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2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827.jpg"/><Relationship Id="rId4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30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828.png"/><Relationship Id="rId4" Type="http://schemas.openxmlformats.org/officeDocument/2006/relationships/image" Target="../media/image829.jpg"/><Relationship Id="rId5" Type="http://schemas.openxmlformats.org/officeDocument/2006/relationships/notesSlide" Target="../notesSlides/notesSlide10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 sz="4800"/>
              <a:t>Молоток</a:t>
            </a:r>
          </a:p>
        </p:txBody>
      </p:sp>
      <p:pic>
        <p:nvPicPr>
          <p:cNvPr id="4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305186" y="535493"/>
            <a:ext cx="2455420" cy="671205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0" marL="268288"/>
            <a:r>
              <a:rPr lang="ru-RU" sz="1500"/>
              <a:t>Кейс 05 · решение ReSense</a:t>
            </a:r>
          </a:p>
          <a:p>
            <a:pPr indent="0" marL="268288"/>
            <a:r>
              <a:rPr lang="ru-RU" sz="1500"/>
              <a:t>Обнаружение посторонних объектов в тоннеле метро по данным 3D-лидара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135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Описываем среду, а не объекты: крепление лидара и ось пути калибруются по рельсам в каждом кадре, кривизна — по стенам и рядам колонн, поэтому коридор осмыслен и там, где рельсов уже не видно. Публикуем оценку дальности контроля; возможны пропуски объектов. Настройка и оценка — на препятствиях, вставленных трассировкой лучей в реальные кадры.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Капитан:</a:t>
            </a:r>
            <a:r>
              <a:rPr lang="ru-RU">
                <a:solidFill>
                  <a:schemeClr val="tx1"/>
                </a:solidFill>
              </a:rPr>
              <a:t xml:space="preserve"> &lt;ФИО&gt;, &lt;специальность&gt;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Кол-во участников:</a:t>
            </a:r>
            <a:r>
              <a:rPr lang="ru-RU">
                <a:solidFill>
                  <a:schemeClr val="tx1"/>
                </a:solidFill>
              </a:rPr>
              <a:t xml:space="preserve"> 4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Краткое описание: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&lt;как образовалась команда&gt;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место учёбы: &lt;место учёбы / работы&gt;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Город и регион:</a:t>
            </a:r>
            <a:r>
              <a:rPr lang="ru-RU">
                <a:solidFill>
                  <a:schemeClr val="tx1"/>
                </a:solidFill>
              </a:rPr>
              <a:t xml:space="preserve"> &lt;город&gt;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pPr/>
            <a:r>
              <a:rPr lang="ru-RU" sz="2400">
                <a:solidFill>
                  <a:schemeClr val="accent5"/>
                </a:solidFill>
                <a:latin typeface="+mn-lt"/>
              </a:rPr>
              <a:t>КОМАНДА «Молоток»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178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ROS 2-модуль: по потоку 3D-лидара 10 раз в секунду строит модель «нормального тоннеля» — полотно, рельсы, ось пути с кривизной по стенам, — проверяет габарит поезда 2,1 × 3,0 м и отвечает GO / CAUTION / STOP / FAULT с расстоянием до препятствия. Без обучения на объектах, без GPU, в Docker.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384698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401926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Визуализация, демо, презентация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401926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615230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632458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Компьютерное зрение: модель пути, трекинг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632458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845762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862990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Данные, синтетика, метрики, тесты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862990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154166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177698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408205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638737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8715798" y="1809238"/>
            <a:ext cx="1722567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КОМАНДА «Молоток»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71395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Капитан · ROS 2, Docker, интеграция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171394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Четыре инженерных направления — ROS 2 и интеграция, визуализация, компьютерное зрение, данные и тесты — собраны вокруг задачи контроля габарита тоннеля по 3D-лидару.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Препятствий в записях почти нет — «ставили» людей и ящики в реальные кадры трассировкой лучей лидара; эти примеры оцениваются отдельно от реальных записей. Станции и стрелки давали ложные остановки — помогли ось по стенам, зона доверия и подтверждение 0,5 с. Записи разные (два топика, 120° и 360°, наклон крепления 3°) — узел сам находит вход и калибруется по рельсам.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В записях почти нет реальных препятствий, а станции и стрелки похожи на объекты. Поэтому система оценивает геометрию тоннеля и ищет препятствия в габарите; пропуски возможны и в пределах расчётной дальности контроля.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ROS 2 Humble-узел на Python (numpy / scipy / scikit-learn) и необязательные ядра на C++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Вход — PointCloud2 любого из двух наборов топик / frame_id; выход — решение GO / CAUTION / STOP / FAULT, дистанция до препятствия и оценка дальности контроля, Detection3DArray, маркеры RViz, JSON-статус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 каждом кадре: автокалибровка крепления → модель пути (полотно, рельсы, ось, кривизна по стенам) → габарит 2,1 × 3,0 м + низкие объекты на рельсах → кластеры → фильтры инфраструктуры → подтверждение 0,5 с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23–31 мс на кадр (p95 ≤ 42 мс) на одном ядре с ядрами на C++ (они сокращают время детектора на 38–57 %, выход тот же)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Все 13 759 реальных кадров: человек на пути найден в 58 из 61 кадров, 3,5 ложных события на км поездки (правила решались на ней же)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Только CPU: GPU оценили и не берём — выигрыш ≤ 30–45 мс на кадр, а контейнер с GPU не стартует без nvidia-container-toolkit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Применение:</a:t>
            </a:r>
            <a:r>
              <a:rPr lang="ru-RU" sz="1200">
                <a:solidFill>
                  <a:schemeClr val="tx1"/>
                </a:solidFill>
              </a:rPr>
              <a:t xml:space="preserve"> «взгляд вперёд» для беспилотного поезда (GoA3/4) и хозяйственных поездов; контроль габарита при обкатке линий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Развитие:</a:t>
            </a:r>
            <a:r>
              <a:rPr lang="ru-RU" sz="1200">
                <a:solidFill>
                  <a:schemeClr val="tx1"/>
                </a:solidFill>
              </a:rPr>
              <a:t xml:space="preserve"> скорость поезда от одометрии — узел её уже принимает (своя оценка по лидару: ошибка 0,07 м/с, пока опция); опора высоты по своду тоннеля — мелкие объекты дальше 100 м; «второе мнение» на реальных препятствиях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Внедрение:</a:t>
            </a:r>
            <a:r>
              <a:rPr lang="ru-RU" sz="1200">
                <a:solidFill>
                  <a:schemeClr val="tx1"/>
                </a:solidFill>
              </a:rPr>
              <a:t xml:space="preserve"> docker load → docker run → ros2 bag play; один файл параметров; стандартные сообщения ROS 2 — стыкуется с системой торможения без переделки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13 759 кадров</a:t>
            </a:r>
            <a:r>
              <a:rPr lang="ru-RU" sz="1300">
                <a:solidFill>
                  <a:schemeClr val="tx1"/>
                </a:solidFill>
              </a:rPr>
              <a:t xml:space="preserve"> — 6 записей (2 488) и 20-минутная поездка (11 271 кадр, 13 км, 7 остановок, кривые до R ≈ 350 м)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Hesai Pandar128</a:t>
            </a:r>
            <a:r>
              <a:rPr lang="ru-RU" sz="1300">
                <a:solidFill>
                  <a:schemeClr val="tx1"/>
                </a:solidFill>
              </a:rPr>
              <a:t>, 10 Гц, ~190 тыс. точек в кадре: стены видны на 150–200 м, полотно — до ~100 м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~210 м — предел отражений в тоннеле:</a:t>
            </a:r>
            <a:r>
              <a:rPr lang="ru-RU" sz="1300">
                <a:solidFill>
                  <a:schemeClr val="tx1"/>
                </a:solidFill>
              </a:rPr>
              <a:t xml:space="preserve"> каждая запись обрывается на 209–210 м, дальше нет ни одной точки (паспорт: 200 м при 10 % отражения)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Объект 0,5 м даёт ~7 точек на 100 м и 1–2 точки на 200 м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Реальные препятствия: человек и предмет на рельсе в записи doubleT_obstacle; всё остальное — синтетика в реальных кадрах, каждое число помечено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ДАННЫЕ И СЕНСОР</a:t>
            </a: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pPr/>
            <a:r>
              <a:rPr lang="ru-RU" sz="3600">
                <a:solidFill>
                  <a:schemeClr val="bg1"/>
                </a:solidFill>
              </a:rPr>
              <a:t>ГЛАВНЫЙ КАДР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3"/>
          <a:srcRect l="0" r="0"/>
          <a:stretch>
            <a:fillRect/>
          </a:stretch>
        </p:blipFill>
        <p:spPr>
          <a:xfrm>
            <a:off x="495170" y="1474256"/>
            <a:ext cx="8377070" cy="471210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72240" y="1474256"/>
            <a:ext cx="2624589" cy="471210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lang="ru-RU" b="1" sz="1400">
                <a:solidFill>
                  <a:srgbClr val="520978"/>
                </a:solidFill>
              </a:rPr>
              <a:t>Реальная запись организаторов</a:t>
            </a:r>
          </a:p>
          <a:p>
            <a:pPr>
              <a:spcBef>
                <a:spcPts val="1000"/>
              </a:spcBef>
            </a:pPr>
            <a:r>
              <a:rPr lang="ru-RU" sz="1200">
                <a:solidFill>
                  <a:srgbClr val="1C1D22"/>
                </a:solidFill>
              </a:rPr>
              <a:t>Человек переходит путь на 55–57 м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Найден в </a:t>
            </a:r>
            <a:r>
              <a:rPr lang="ru-RU" b="1" sz="1200">
                <a:solidFill>
                  <a:srgbClr val="1C1D22"/>
                </a:solidFill>
              </a:rPr>
              <a:t>58 из 61</a:t>
            </a:r>
            <a:r>
              <a:rPr lang="ru-RU" sz="1200">
                <a:solidFill>
                  <a:srgbClr val="1C1D22"/>
                </a:solidFill>
              </a:rPr>
              <a:t xml:space="preserve"> кадров внутри габарита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>Тревога через 0,3 с после входа в габарит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>Ошибка дальности ≤ 0,23 м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Предмет на рельсе — в </a:t>
            </a:r>
            <a:r>
              <a:rPr lang="ru-RU" b="1" sz="1200">
                <a:solidFill>
                  <a:srgbClr val="1C1D22"/>
                </a:solidFill>
              </a:rPr>
              <a:t>125 из 126</a:t>
            </a:r>
            <a:r>
              <a:rPr lang="ru-RU" sz="1200">
                <a:solidFill>
                  <a:srgbClr val="1C1D22"/>
                </a:solidFill>
              </a:rPr>
              <a:t xml:space="preserve"> кадров после ухода человека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СЛОЖНЫЕ СЛУЧАИ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Полотно полно предметов.</a:t>
            </a:r>
            <a:r>
              <a:rPr lang="ru-RU" sz="1300">
                <a:solidFill>
                  <a:schemeClr val="tx1"/>
                </a:solidFill>
              </a:rPr>
              <a:t xml:space="preserve"> «Всё выше полотна» — 1 482 ложных события за 20 мин; порог «≥ 3 см над головкой рельса + 0,5 с» — единицы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Предмет на рельсе делился на две ступени.</a:t>
            </a:r>
            <a:r>
              <a:rPr lang="ru-RU" sz="1300">
                <a:solidFill>
                  <a:schemeClr val="tx1"/>
                </a:solidFill>
              </a:rPr>
              <a:t xml:space="preserve"> Верх на 0,10–0,15 м — между ступенью низких объектов и габаритом; кластеризуем его целиком: 2 → 125 из 126 кадров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Станции и стрелки.</a:t>
            </a:r>
            <a:r>
              <a:rPr lang="ru-RU" sz="1300">
                <a:solidFill>
                  <a:schemeClr val="tx1"/>
                </a:solidFill>
              </a:rPr>
              <a:t xml:space="preserve"> Край платформы и конструкции у торца — главный источник ложных остановок; без рельсов в ближней зоне дальше 40 м — только предупреждение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Дальше 100 м — 1–5 точек на объект.</a:t>
            </a:r>
            <a:r>
              <a:rPr lang="ru-RU" sz="1300">
                <a:solidFill>
                  <a:schemeClr val="tx1"/>
                </a:solidFill>
              </a:rPr>
              <a:t xml:space="preserve"> Высокие объекты — по дальнему правилу до ~150 м; мелкие (&lt; 0,6 м) — ближе: кубы 0,3 м организаторов — только с 43–53 м (на 60–115 м — 2–4 точки)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Объекты организаторов у края и тонкие.</a:t>
            </a:r>
            <a:r>
              <a:rPr lang="ru-RU" sz="1300">
                <a:solidFill>
                  <a:schemeClr val="tx1"/>
                </a:solidFill>
              </a:rPr>
              <a:t xml:space="preserve"> Ящик 2 × 2 м у края — STOP лишь с 10 м (6 кадров): их объекты стоят от оси лидара (−0,24° к рельсам), наш габарит — от рельсов; висящий предмет 5 см — STOP только с 30 м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Любое крепление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8 ориентаций, крен и тангаж по рельсам и полотну; проверено на повёрнутых реальных кадрах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Монитор исправности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ошибки входа → FAULT; задержка → предупреждение без смены решения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Любой вход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оба набора топик / frame_id, поиск топика, перезапуск на новой записи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Воспроизводимо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667+ тестов на путях numpy и C++ (выход совпадает бит в бит); CI собирает образ и проигрывает бэги через узел; цепочка организаторов прогнана в Docker на реальных записях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НАДЁЖНОСТЬ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получилось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ROS 2-модуль в Docker; все 13 759 реальных кадров: человек и предмет на рельсе найдены, 3,5 ложных события на км (на данных, где решались правила); ящик организаторов — с 98 м; 667+ тестов и CI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дальше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мелкие объекты раньше: короткие сигнатуры инфраструктуры, опора высоты по своду тоннеля; скорость от одометрии (своя по лидару — опция); «второе мнение» на реальных препятствиях; репетиция офлайн-запуска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Внедрение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docker load → run → ros2 bag play; один файл параметров; стандартные сообщения ROS 2 — стыкуется с системой торможения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ИТОГИ И ПЛАНЫ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 marL="0" indent="0">
              <a:buNone/>
            </a:pPr>
            <a:r>
              <a:rPr lang="ru-RU" sz="3600" b="1">
                <a:solidFill>
                  <a:srgbClr val="FF0053"/>
                </a:solidFill>
              </a:rPr>
              <a:t>13 759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реальных кадров прогнаны целиком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58 из 61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кадров с человеком на пути — тревога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3,5 на км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ложных событий в поездке (45 за 13 км; правила решались на ней же)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Реальная запись:</a:t>
            </a:r>
            <a:r>
              <a:rPr lang="ru-RU" sz="1200">
                <a:solidFill>
                  <a:schemeClr val="tx1"/>
                </a:solidFill>
              </a:rPr>
              <a:t xml:space="preserve"> человек на пути — 58 из 61 кадров, тревога через 0,3 с, ошибка ≤ 0,23 м; предмет на рельсе — 125 из 126 кадров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Ложные остановки</a:t>
            </a:r>
            <a:r>
              <a:rPr lang="ru-RU" sz="1200">
                <a:solidFill>
                  <a:schemeClr val="tx1"/>
                </a:solidFill>
              </a:rPr>
              <a:t xml:space="preserve"> (реальные; правила решались на этих же записях): поездка 13 км — 45 событий, пять пустых записей — 13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Объекты организаторов</a:t>
            </a:r>
            <a:r>
              <a:rPr lang="ru-RU" sz="1200">
                <a:solidFill>
                  <a:schemeClr val="tx1"/>
                </a:solidFill>
              </a:rPr>
              <a:t xml:space="preserve"> [их синтетика]: ящик 2 × 2 м — с 98 м, доска — с 82 м, кубы 0,3 м — с 43–53 м; висящий 5 см — с 30 м; у края — лишь 2 и 6 кадров STOP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Человек на подходе</a:t>
            </a:r>
            <a:r>
              <a:rPr lang="ru-RU" sz="1200">
                <a:solidFill>
                  <a:schemeClr val="tx1"/>
                </a:solidFill>
              </a:rPr>
              <a:t xml:space="preserve"> [наша синтетика]: первое подтверждение 148 м (в 5 парах: 150 → 154 м от ближних рельсов), в каждой полосе 10 м — со 115 м; 167 м со скоростью поезда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Задержка</a:t>
            </a:r>
            <a:r>
              <a:rPr lang="ru-RU" sz="1200">
                <a:solidFill>
                  <a:schemeClr val="tx1"/>
                </a:solidFill>
              </a:rPr>
              <a:t xml:space="preserve"> 23–31 мс на кадр (p95 ≤ 42 мс) на одном ядре с ядрами на C++; через ROS в Docker на 4 ядрах — p95 58–81 мс при 10 кадрах/с; без GPU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РЕЗУЛЬТАТЫ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482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STOP у 8 из 8, у края — лишь вблизи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ящик 2 × 2 м в центре — с 98 м, с первого появления; доска поперёк рельсов — с 82 м; кубы 0,3 м — с 43–53 м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Мелкое вдали — поздно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на 60–115 м от куба 0,3 м 2–4 точки в кадре, кластеру нужно 5; ящик у верха габарита — STOP в 51 из 124 кадров — непрерывно с 101 м, дальше CAUTION или ничего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Ограничения — говорим честно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краевые объекты дают лишь 2 и 6 STOP кадров; висящий предмет 5 см: STOP с 30 м; объекты ставили от оси лидара (−0,24° к рельсам), мы строим габарит по рельсам. Ложных STOP: 6 кадров у ящика снаружи, 3 — вне объектов</a:t>
            </a: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1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465516" cy="376138"/>
          </a:xfrm>
        </p:spPr>
        <p:txBody>
          <a:bodyPr/>
          <a:lstStyle/>
          <a:p>
            <a:pPr/>
            <a:r>
              <a:rPr lang="ru-RU"/>
              <a:t>ОБЪЕКТЫ ОРГАНИЗАТОРОВ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075" y="5566258"/>
            <a:ext cx="5749925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E6E1F5"/>
                </a:solidFill>
              </a:rPr>
              <a:t>первый STOP, м; сиреневым — без устойчивого STOP · cloud_with_fake_obj: 10 объектов, 1 510 кадров, поезд едет к ним 1,4–20 м/с, скорость узлу не дана · синтетика организаторов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~210 м — предел отражений в тоннеле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дальше 210 м во всех 13 759 кадрах нет ни одной точки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Со скоростью поезда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накопление 5 кадров: человек 167 м; своя скорость по лидару (ошибка 0,07 м/с) STOP раньше не даёт — опция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Устойчиво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человек в ≥ 90 % кадров каждой полосы 10 м — со 115 м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В кривых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6 из 7 подходов, с 58–86 м — предел видимости за стеной (R ≈ 350 м)</a:t>
            </a: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ДАЛЬНОСТЬ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075" y="5820000"/>
            <a:ext cx="58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6B6B6B"/>
                </a:solidFill>
              </a:rPr>
              <a:t>первое подтверждение на прямой, медиана 6 подходов; «от рельсов» — объект поставлен по ближним рельсам, а не по дальней оси детектора (5 пар, прежняя постановка — 150 м); поезд 17–21 м/с без датчика скорости · синтетика в реальных кадрах поездки</a:t>
            </a:r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00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Проблема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Поезд без машиниста должен видеть путь: 100 м — хорошо, 200 — очень хорошо, 300 — отлично. Тормозной путь на 80 км/ч — 190–250 м. Тоннель однороден и почти всегда пуст: классов объектов для обучения нет.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Альтернативы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Обученный 3D-детектор (PointPillars, CenterPoint) — нужны тысячи размеченных препятствий, дальше 100 м — единицы процентов AP. Сравнение с картой — нужна сантиметровая локализация и повторный проезд.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Наше решение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Описать нормальный тоннель и сообщать всё, что попадает в габарит поезда 2,1 × 3,0 м. Модель пути строится заново в каждом кадре по рельсам, полотну и стенам — без карты и без классов объектов.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ПРОБЛЕМА И ПОДХОД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Автокалибровка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вертикальная ось вращения; ориентация и наклон — по рельсам и полотну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Габарит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коридор 2,1 × 3,0 м вдоль оси и ступень низких объектов на рельсах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Решение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подтверждение 0,5 с → GO / CAUTION / STOP / FAULT и дальность контроля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Модель пути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полотно, головки рельсов, ось; кривизна по стенам и колоннам до 150–200 м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Кластеры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радиус растёт с дальностью; фильтры инфраструктуры; дальнее правило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АЛГОРИТМ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localhost:8080</a:t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docker run resense</a:t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Веб-дашборд «Контроль свободного габарита»: вид из кабины по статусу узла из Docker-прогона на doubleT_obstacle — STOP 56,1 м, оценка дальности контроля 56 м; живой узел — через rosbridge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Цепочка жюри в Docker: узел с RViz, bag play от обычного пользователя из другого контейнера, /resense/decision — STOP 56 м (видео 69 с)</a:t>
            </a:r>
          </a:p>
        </p:txBody>
      </p:sp>
      <p:pic>
        <p:nvPicPr>
          <p:cNvPr id="5" name="Рисунок 4" descr="dashboard-cab-real.png"/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t="743" b="743"/>
          <a:stretch>
            <a:fillRect/>
          </a:stretch>
        </p:blipFill>
        <p:spPr/>
      </p:pic>
      <p:pic>
        <p:nvPicPr>
          <p:cNvPr id="6" name="Рисунок 5" descr="docker_chain_rviz.jp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t="743" b="743"/>
          <a:stretch>
            <a:fillRect/>
          </a:stretch>
        </p:blipFill>
        <p:spPr/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ДЕМОНСТРАЦИЯ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10643" y="5700000"/>
            <a:ext cx="9770000" cy="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b="1" sz="1600">
                <a:solidFill>
                  <a:srgbClr val="520978"/>
                </a:solidFill>
              </a:rPr>
              <a:t>docker load → docker run → ros2 bag play → /resense/decision</a:t>
            </a: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ReSense — ЛЦТ 2026, кейс 05: посторонние объекты в тоннеле метро по данным 3D-лидара</dc:title>
  <dc:creator>Команда «Молоток»</dc:creator>
  <cp:lastModifiedBy>Команда «Молоток»</cp:lastModifiedBy>
  <cp:revision>95</cp:revision>
  <dcterms:created xsi:type="dcterms:W3CDTF">2023-05-15T07:36:23Z</dcterms:created>
  <dcterms:modified xsi:type="dcterms:W3CDTF">2026-09-14T11:14:59Z</dcterms:modified>
  <dc:subject>Лидеры цифровой трансформации 2026</dc:subject>
  <cp:keywords>LiDAR, ROS 2, метро, габарит, обнаружение препятствий</cp:keywords>
</cp:coreProperties>
</file>