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2.xml" ContentType="application/vnd.openxmlformats-officedocument.drawingml.chart+xml"/>
  <Override PartName="/ppt/charts/colors2.xml" ContentType="application/vnd.ms-office.chartcolor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0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369" r:id="rId13"/>
    <p:sldId id="267" r:id="rId26"/>
    <p:sldId id="372" r:id="rId14"/>
    <p:sldId id="270" r:id="rId28"/>
    <p:sldId id="262" r:id="rId21"/>
    <p:sldId id="266" r:id="rId23"/>
    <p:sldId id="371" r:id="rId17"/>
    <p:sldId id="370" r:id="rId16"/>
    <p:sldId id="374" r:id="rId18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1" Type="http://schemas.openxmlformats.org/officeDocument/2006/relationships/slide" Target="slides/slide20.xml"/><Relationship Id="rId23" Type="http://schemas.openxmlformats.org/officeDocument/2006/relationships/slide" Target="slides/slide22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261129492993"/>
          <c:y val="0.12693525390367644"/>
          <c:w val="0.86424170750053264"/>
          <c:h val="0.66747142271661164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первое подтверждение, м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C3777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rgbClr val="FFD6E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rgbClr val="8A83D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rgbClr val="520978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dPt>
            <c:idx val="4"/>
            <c:spPr>
              <a:solidFill>
                <a:srgbClr val="310F53"/>
              </a:solidFill>
            </c:spPr>
          </c:dPt>
          <c:dPt>
            <c:idx val="5"/>
            <c:spPr>
              <a:solidFill>
                <a:srgbClr val="FF0053"/>
              </a:solidFill>
            </c:spPr>
          </c:dPt>
          <c:cat>
            <c:strRef>
              <c:f>Sheet1!$A$2:$A$7</c:f>
              <c:strCache>
                <c:ptCount val="6"/>
                <c:pt idx="0">
                  <c:v>ящик 30 см на рельсе</c:v>
                </c:pt>
                <c:pt idx="1">
                  <c:v>предмет поперёк рельса</c:v>
                </c:pt>
                <c:pt idx="2">
                  <c:v>висящий кабель 3 см</c:v>
                </c:pt>
                <c:pt idx="3">
                  <c:v>ящик 1 м</c:v>
                </c:pt>
                <c:pt idx="4">
                  <c:v>тележка</c:v>
                </c:pt>
                <c:pt idx="5">
                  <c:v>человек 1,7 м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44</c:v>
                </c:pt>
                <c:pt idx="1">
                  <c:v>46</c:v>
                </c:pt>
                <c:pt idx="2">
                  <c:v>95</c:v>
                </c:pt>
                <c:pt idx="3">
                  <c:v>111</c:v>
                </c:pt>
                <c:pt idx="4">
                  <c:v>144</c:v>
                </c:pt>
                <c:pt idx="5">
                  <c:v>148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200" b="1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20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Одной фразой: описываем нормальный тоннель и сообщаем всё, что попадает в габарит поезда. Работает в ROS 2 и Docker, без GPU и без обучения на объектах.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не нейросеть: реальных препятствий в данных почти нет, а на 100+ м у объекта единицы точек. Геометрия среды переносится между тоннелями, внешний вид объектов —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числа дальше — на всех 13 759 кадрах организаторов. Дальше 210 м датчик не возвращает ни одной точки — поэтому 300 м недостижимы этим лидаром; честно говорим об этом.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шагов на каждый кадр, 60–100 мс. Калибровка крепления — сама, по рельсам; кривизна — по стенам, поэтому коридор осмыслен и там, где рельсов уже не видно.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тоннель — двухпутный, поезд стоит, лидар на кабине. Вот облако: 350 тысяч точек за 0,1 с. Зелёным — габарит поезда, который алгоритм сам протянул вдоль оси пути по рельсам и стенам. Жёлтым — всё, что попало в коридор. И вот человек, который переходит путь: красная рамка, 55,8 метра, решение STOP. Справа — его точки крупно. Когда человек уходит, на рельсе остаётся предмет 45 × 60 × 30 см — его алгоритм тоже держит.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Цепочка организаторов прогнана в Docker на реальных записях: узел в одном контейнере, bag play из другого, от обычного пользователя. Решение — топик /resense/decision: GO, CAUTION, STOP, FAULT.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Человек на пути — 58 из 61 кадра, предмет на рельсе — 118 из 126. Ложных событий в 20-минутной поездке — 3,6 на км, почти вдвое меньше, чем в v0.6.1, и меньше в 12 из 13 частей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Первое подтверждение человека — 148 м, в 90 % кадров — со 135 м. Со скоростью поезда — 167 м. Мелкие предметы на головке рельса — с 42–44 м. Всё это синтетика в реальных кадрах поездки.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Надёжность: сами находим крепление и вход, при проблемах с данными говорим FAULT, а не молчим.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не сработало и почему: полотно полно железа, станции — главный источник ложных остановок.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Итог: работающий модуль, честные цифры, понятные следующие шаги — опора высоты по своду и замер на стенде.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  <p:txBody>
          <a:bodyPr/>
          <a:p/>
        </p:txBody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  <p:txBody>
          <a:bodyPr/>
          <a:p/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2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827.jpg"/><Relationship Id="rId4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30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828.png"/><Relationship Id="rId4" Type="http://schemas.openxmlformats.org/officeDocument/2006/relationships/image" Target="../media/image829.png"/><Relationship Id="rId5" Type="http://schemas.openxmlformats.org/officeDocument/2006/relationships/notesSlide" Target="../notesSlides/notesSlide9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800"/>
              <a:t>ReSense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305186" y="535493"/>
            <a:ext cx="2455420" cy="671205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0" marL="268288"/>
            <a:r>
              <a:rPr lang="ru-RU" sz="1500"/>
              <a:t>Кейс 05</a:t>
            </a:r>
          </a:p>
          <a:p>
            <a:pPr indent="0" marL="268288"/>
            <a:r>
              <a:rPr lang="ru-RU" sz="1500"/>
              <a:t>Обнаружение посторонних объектов в тоннеле метро по данным 3D-лидара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35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Описываем среду, а не объекты: крепление лидара и ось пути калибруются по рельсам в каждом кадре, кривизна — по стенам и рядам колонн, поэтому коридор осмыслен и там, где рельсов уже не видно. Вместо молчания — «проверенно свободная» дистанция. Настройка и оценка — на препятствиях, вставленных трассировкой лучей в реальные кадры.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Капитан:</a:t>
            </a:r>
            <a:r>
              <a:rPr lang="ru-RU">
                <a:solidFill>
                  <a:schemeClr val="tx1"/>
                </a:solidFill>
              </a:rPr>
              <a:t xml:space="preserve"> &lt;ФИО&gt;, &lt;специальность&gt;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Кол-во участников:</a:t>
            </a:r>
            <a:r>
              <a:rPr lang="ru-RU">
                <a:solidFill>
                  <a:schemeClr val="tx1"/>
                </a:solidFill>
              </a:rPr>
              <a:t xml:space="preserve"> 4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Краткое описание: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собрались под этот кейс из четырёх специализаций: ROS 2 и интеграция, визуализация, компьютерное зрение, данные и оценка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место работы / учёбы: &lt;организации участников&gt;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Город и регион:</a:t>
            </a:r>
            <a:r>
              <a:rPr lang="ru-RU">
                <a:solidFill>
                  <a:schemeClr val="tx1"/>
                </a:solidFill>
              </a:rPr>
              <a:t xml:space="preserve"> &lt;город&gt;, &lt;регион&gt;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pPr/>
            <a:r>
              <a:rPr lang="ru-RU" sz="2400">
                <a:solidFill>
                  <a:schemeClr val="accent5"/>
                </a:solidFill>
                <a:latin typeface="+mn-lt"/>
              </a:rPr>
              <a:t>КОМАНДА «ReSense»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78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ROS 2-модуль: по потоку 3D-лидара 10 раз в секунду строит модель «нормального тоннеля» — полотно, рельсы, ось пути с кривизной по стенам, — проверяет габарит поезда 2,1 × 3,0 м и отвечает GO / CAUTION / STOP / FAULT с расстоянием до препятствия. Без обучения на объектах, без GPU, в Docker.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384698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401926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Визуализация, демо, презентация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&lt;телефон&gt;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работы / учёбы&gt;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401926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615230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632458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Компьютерное зрение: модель пути, трекинг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&lt;телефон&gt;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работы / учёбы&gt;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632458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845762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862990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Данные, синтетика, метрики, тесты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&lt;телефон&gt;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работы / учёбы&gt;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862990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154166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177698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408205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638737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8715798" y="1809238"/>
            <a:ext cx="1722567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КОМАНДА «ReSense»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71395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Капитан · ROS 2, Docker, интеграция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&lt;телефон&gt;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работы / учёбы&gt;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171394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Собрались под этот кейс вчетвером: системный анализ и ROS 2, фронтенд и визуализация, компьютерное зрение, данные и оценка. &lt;личная история, одна фраза&gt;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Препятствий в данных почти нет — «поставили» людей и ящики в реальные кадры трассировкой лучей лидара. Станции и стрелки давали ложные остановки — ось по стенам, зона доверия, фильтры инфраструктуры, подтверждение 0,5 с. Записи разные (топик, frame_id, 120° и 360°, наклон стенда 3°) — узел сам находит вход и калибруется по рельсам.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Задача безопасности на настоящих данных метро: поезд без машиниста должен сам ответить «путь свободен» или «тормозить». Вдохновил сам лидар — стены видны на 150–200 м, значит, ось пути можно вести по стенам там, где рельсов уже не видно.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ROS 2 Humble-узел на Python (numpy / scipy / scikit-learn), только CPU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Вход — PointCloud2 любого из двух наборов топик / frame_id; выход — решение GO / CAUTION / STOP / FAULT, дистанция до препятствия и «проверенно свободная» дистанция, Detection3DArray, маркеры RViz, JSON-статус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 каждом кадре: автокалибровка крепления → модель пути (полотно, рельсы, ось, кривизна по стенам) → габарит 2,1 × 3,0 м + низкие объекты на рельсах → кластеры → фильтры инфраструктуры → подтверждение 0,5 с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42–58 мс на кадр (p95 ≤ 69 мс), одно ядро CPU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Все 13 759 реальных кадров: человек на пути найден в 58 из 61 кадров, 3,6 ложных события на км поездки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Применение:</a:t>
            </a:r>
            <a:r>
              <a:rPr lang="ru-RU" sz="1200">
                <a:solidFill>
                  <a:schemeClr val="tx1"/>
                </a:solidFill>
              </a:rPr>
              <a:t xml:space="preserve"> «взгляд вперёд» для беспилотного поезда (GoA3/4) и хозяйственных поездов; контроль габарита при обкатке линий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Развитие:</a:t>
            </a:r>
            <a:r>
              <a:rPr lang="ru-RU" sz="1200">
                <a:solidFill>
                  <a:schemeClr val="tx1"/>
                </a:solidFill>
              </a:rPr>
              <a:t xml:space="preserve"> опора высоты по своду тоннеля — мелкие объекты дальше 100 м; накопление кадров со скоростью поезда; дообучение «второго мнения» на реальных препятствиях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Внедрение:</a:t>
            </a:r>
            <a:r>
              <a:rPr lang="ru-RU" sz="1200">
                <a:solidFill>
                  <a:schemeClr val="tx1"/>
                </a:solidFill>
              </a:rPr>
              <a:t xml:space="preserve"> docker build → docker run → ros2 bag play; один файл параметров; стандартные сообщения ROS 2 — стыкуется с системой торможения без переделки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13 759 кадров</a:t>
            </a:r>
            <a:r>
              <a:rPr lang="ru-RU" sz="1300">
                <a:solidFill>
                  <a:schemeClr val="tx1"/>
                </a:solidFill>
              </a:rPr>
              <a:t xml:space="preserve"> — 6 записей (2 488) и 20-минутная поездка (11 271 кадр, 13 км, 7 остановок, кривые до R ≈ 350 м)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Hesai Pandar128</a:t>
            </a:r>
            <a:r>
              <a:rPr lang="ru-RU" sz="1300">
                <a:solidFill>
                  <a:schemeClr val="tx1"/>
                </a:solidFill>
              </a:rPr>
              <a:t>, 10 Гц, ~190 тыс. точек в кадре: стены видны на 150–200 м, полотно — до ~100 м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Дальше 210 м во всех данных нет ни одной точки</a:t>
            </a:r>
            <a:r>
              <a:rPr lang="ru-RU" sz="1300">
                <a:solidFill>
                  <a:schemeClr val="tx1"/>
                </a:solidFill>
              </a:rPr>
              <a:t>: 300 м этим лидаром физически недостижимы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Объект 0,5 м даёт ~7 точек на 100 м и 1–2 точки на 200 м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Реальные препятствия: человек и предмет на рельсе в записи doubleT_obstacle; всё остальное — синтетика в реальных кадрах, каждое число помечено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ДАННЫЕ И СЕНСОР</a:t>
            </a: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pPr/>
            <a:r>
              <a:rPr lang="ru-RU" sz="3600">
                <a:solidFill>
                  <a:schemeClr val="bg1"/>
                </a:solidFill>
              </a:rPr>
              <a:t>ГЛАВНЫЙ КАДР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3"/>
          <a:srcRect l="0" r="0"/>
          <a:stretch>
            <a:fillRect/>
          </a:stretch>
        </p:blipFill>
        <p:spPr>
          <a:xfrm>
            <a:off x="495170" y="1474256"/>
            <a:ext cx="8377070" cy="471210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72240" y="1474256"/>
            <a:ext cx="2624589" cy="471210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lang="ru-RU" b="1" sz="1400">
                <a:solidFill>
                  <a:srgbClr val="520978"/>
                </a:solidFill>
              </a:rPr>
              <a:t>Реальная запись организаторов</a:t>
            </a:r>
          </a:p>
          <a:p>
            <a:pPr>
              <a:spcBef>
                <a:spcPts val="1000"/>
              </a:spcBef>
            </a:pPr>
            <a:r>
              <a:rPr lang="ru-RU" sz="1200">
                <a:solidFill>
                  <a:srgbClr val="1C1D22"/>
                </a:solidFill>
              </a:rPr>
              <a:t>Человек переходит путь на 55–57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Найден в </a:t>
            </a:r>
            <a:r>
              <a:rPr lang="ru-RU" b="1" sz="1200">
                <a:solidFill>
                  <a:srgbClr val="1C1D22"/>
                </a:solidFill>
              </a:rPr>
              <a:t>58 из 61</a:t>
            </a:r>
            <a:r>
              <a:rPr lang="ru-RU" sz="1200">
                <a:solidFill>
                  <a:srgbClr val="1C1D22"/>
                </a:solidFill>
              </a:rPr>
              <a:t xml:space="preserve"> кадров внутри габарита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Тревога через 0,3 с после входа в габарит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Ошибка дальности &lt; 0,35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Предмет на рельсе — в </a:t>
            </a:r>
            <a:r>
              <a:rPr lang="ru-RU" b="1" sz="1200">
                <a:solidFill>
                  <a:srgbClr val="1C1D22"/>
                </a:solidFill>
              </a:rPr>
              <a:t>118 из 126</a:t>
            </a:r>
            <a:r>
              <a:rPr lang="ru-RU" sz="1200">
                <a:solidFill>
                  <a:srgbClr val="1C1D22"/>
                </a:solidFill>
              </a:rPr>
              <a:t xml:space="preserve"> кадров после ухода человека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СЛОЖНЫЕ СЛУЧАИ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Полотно полно предметов.</a:t>
            </a:r>
            <a:r>
              <a:rPr lang="ru-RU" sz="1300">
                <a:solidFill>
                  <a:schemeClr val="tx1"/>
                </a:solidFill>
              </a:rPr>
              <a:t xml:space="preserve"> «Всё выше полотна» — 1 482 ложных события за 20 мин; порог «≥ 3 см над головкой рельса + 0,5 с» — единицы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Предмет на рельсе делился на две ступени.</a:t>
            </a:r>
            <a:r>
              <a:rPr lang="ru-RU" sz="1300">
                <a:solidFill>
                  <a:schemeClr val="tx1"/>
                </a:solidFill>
              </a:rPr>
              <a:t xml:space="preserve"> Верх на 0,10–0,15 м — между ступенью низких объектов и габаритом; кластеризуем его целиком: 2 → 118 из 126 кадров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Станции и стрелки.</a:t>
            </a:r>
            <a:r>
              <a:rPr lang="ru-RU" sz="1300">
                <a:solidFill>
                  <a:schemeClr val="tx1"/>
                </a:solidFill>
              </a:rPr>
              <a:t xml:space="preserve"> Край платформы и конструкции у торца — главный источник ложных остановок; без рельсов в ближней зоне дальше 40 м — только предупреждение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Дальше 100 м — 1–5 точек на объект.</a:t>
            </a:r>
            <a:r>
              <a:rPr lang="ru-RU" sz="1300">
                <a:solidFill>
                  <a:schemeClr val="tx1"/>
                </a:solidFill>
              </a:rPr>
              <a:t xml:space="preserve"> Высокие объекты — по дальнему правилу до ~150 м; мелкие (&lt; 0,6 м) тревожат не дальше ~100 м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Записи разные.</a:t>
            </a:r>
            <a:r>
              <a:rPr lang="ru-RU" sz="1300">
                <a:solidFill>
                  <a:schemeClr val="tx1"/>
                </a:solidFill>
              </a:rPr>
              <a:t xml:space="preserve"> Топик, frame_id, 120° и 360°, наклон стенда 3° — узел сам находит вход и калибруется по рельсам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Любое крепление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8 ориентаций, крен и тангаж по рельсам и полотну; проверено на повёрнутых реальных кадрах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Монитор исправности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мало точек, закрытый обзор, потеря рельсов, задержка → FAULT и честная свободная дистанция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Любой вход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оба набора топик / frame_id, поиск топика, перезапуск на новой записи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Воспроизводимо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150 тестов; CI собирает образ и проигрывает бэги через узел; цепочка организаторов прогнана в Docker на реальных записях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НАДЁЖНОСТЬ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получилось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ROS 2-модуль в Docker; все 13 759 реальных кадров: человек и предмет на рельсе найдены, 3,6 ложных события на км; 150 тестов и CI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дальше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опора высоты по своду тоннеля — мелкие объекты дальше 100 м; скорость поезда в узел; «второе мнение» на реальных препятствиях; замер на i7-9700E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Внедрение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docker build → run → ros2 bag play; один файл параметров; стандартные сообщения ROS 2 — стыкуется с системой торможения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ИТОГИ И ПЛАНЫ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 marL="0" indent="0">
              <a:buNone/>
            </a:pPr>
            <a:r>
              <a:rPr lang="ru-RU" sz="3600" b="1">
                <a:solidFill>
                  <a:srgbClr val="FF0053"/>
                </a:solidFill>
              </a:rPr>
              <a:t>13 759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реальных кадров прогнаны целиком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58 из 61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кадров с человеком на пути — тревога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3,6 на км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ложных событий в поездке (47 за 13 км)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Человек на пути</a:t>
            </a:r>
            <a:r>
              <a:rPr lang="ru-RU" sz="1200">
                <a:solidFill>
                  <a:schemeClr val="tx1"/>
                </a:solidFill>
              </a:rPr>
              <a:t xml:space="preserve"> (реальная запись): 58 из 61 кадров, тревога через 0,3 с, ошибка &lt; 0,35 м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Предмет на рельсе</a:t>
            </a:r>
            <a:r>
              <a:rPr lang="ru-RU" sz="1200">
                <a:solidFill>
                  <a:schemeClr val="tx1"/>
                </a:solidFill>
              </a:rPr>
              <a:t xml:space="preserve"> (реальная): 118 из 126 кадров после ухода человека (v0.6.1: 2)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Ложные остановки:</a:t>
            </a:r>
            <a:r>
              <a:rPr lang="ru-RU" sz="1200">
                <a:solidFill>
                  <a:schemeClr val="tx1"/>
                </a:solidFill>
              </a:rPr>
              <a:t xml:space="preserve"> поездка 13 км — 47 событий, пять пустых записей — 20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Человек на подходе</a:t>
            </a:r>
            <a:r>
              <a:rPr lang="ru-RU" sz="1200">
                <a:solidFill>
                  <a:schemeClr val="tx1"/>
                </a:solidFill>
              </a:rPr>
              <a:t xml:space="preserve"> [синтетика]: устойчиво со 115 м (≥ 90 % кадров в каждой полосе 10 м), первое подтверждение ~148 м; 167 м со скоростью поезда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Задержка</a:t>
            </a:r>
            <a:r>
              <a:rPr lang="ru-RU" sz="1200">
                <a:solidFill>
                  <a:schemeClr val="tx1"/>
                </a:solidFill>
              </a:rPr>
              <a:t xml:space="preserve"> детектора 42–58 мс на кадр (p95 ≤ 69 мс); через ROS в Docker 65 мс (120°) и ~96 мс (360°); одно ядро CPU, без GPU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РЕЗУЛЬТАТЫ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300 м — предел лидара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дальше 210 м в данных нет ни одной точки: это предел сенсора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Со скоростью поезда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накопление 5 кадров: человек 167 м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Устойчиво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≥ 90 % кадров: человек с ~135 м, в каждых 10 м — со 115 м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В кривых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6 из 7 подходов, с 58–86 м — предел видимости за стеной (R ≈ 350 м)</a:t>
            </a: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ДАЛЬНОСТЬ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075" y="5900000"/>
            <a:ext cx="58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6B6B6B"/>
                </a:solidFill>
              </a:rPr>
              <a:t>первое подтверждение на прямой, медиана 6 подходов, поезд 17–21 м/с без датчика скорости · синтетика в реальных кадрах поездки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00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Проблема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Поезд без машиниста должен видеть путь: 100 м — хорошо, 200 — очень хорошо, 300 — отлично. Тормозной путь на 80 км/ч — 190–250 м. Тоннель однороден и почти всегда пуст: классов объектов для обучения нет.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Альтернативы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Обученный 3D-детектор (PointPillars, CenterPoint) — нужны тысячи размеченных препятствий, дальше 100 м — единицы процентов AP. Сравнение с картой — нужна сантиметровая локализация и повторный проезд.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Наше решение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Описать нормальный тоннель и сообщать всё, что попадает в габарит поезда 2,1 × 3,0 м. Модель пути строится заново в каждом кадре по рельсам, полотну и стенам — без карты и без классов объектов.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ПРОБЛЕМА И ПОДХОД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Автокалибровка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ориентация, крен и тангаж лидара — по рельсам и полотну: любое крепление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Габарит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коридор 2,1 × 3,0 м вдоль оси и ступень низких объектов на рельсах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Решение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подтверждение 0,5 с → GO / CAUTION / STOP / FAULT и свободная дистанция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Модель пути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полотно, головки рельсов, ось; кривизна по стенам и колоннам до 150–200 м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Кластеры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радиус растёт с дальностью; фильтры инфраструктуры; дальнее правило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АЛГОРИТМ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localhost:8080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resense run --render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Веб-дашборд: живой узел через rosbridge или воспроизведение results.jsonl — решение, дистанция, детекции, исправность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Офлайн-рендер кадра: вид сверху и сбоку, коридор габарита, подтверждённое препятствие; RViz и Foxglove — готовые раскладки</a:t>
            </a:r>
          </a:p>
        </p:txBody>
      </p:sp>
      <p:pic>
        <p:nvPicPr>
          <p:cNvPr id="5" name="Рисунок 4" descr="dashboard_doubleT_obstacle.pn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t="5669" b="5669"/>
          <a:stretch>
            <a:fillRect/>
          </a:stretch>
        </p:blipFill>
        <p:spPr/>
      </p:pic>
      <p:pic>
        <p:nvPicPr>
          <p:cNvPr id="6" name="Рисунок 5" descr="doubleT_obstacle_0024_v062.pn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743" b="743"/>
          <a:stretch>
            <a:fillRect/>
          </a:stretch>
        </p:blipFill>
        <p:spPr/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ДЕМОНСТРАЦИЯ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10643" y="5700000"/>
            <a:ext cx="9770000" cy="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b="1" sz="1600">
                <a:solidFill>
                  <a:srgbClr val="520978"/>
                </a:solidFill>
              </a:rPr>
              <a:t>docker build → docker run → ros2 bag play → /resense/decision</a:t>
            </a: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ReSense — ЛЦТ 2026, кейс 05: посторонние объекты в тоннеле метро по данным 3D-лидара</dc:title>
  <dc:creator>Команда ReSense</dc:creator>
  <cp:lastModifiedBy>Команда ReSense</cp:lastModifiedBy>
  <cp:revision>95</cp:revision>
  <dcterms:created xsi:type="dcterms:W3CDTF">2023-05-15T07:36:23Z</dcterms:created>
  <dcterms:modified xsi:type="dcterms:W3CDTF">2026-09-14T11:14:59Z</dcterms:modified>
  <dc:subject>Лидеры цифровой трансформации 2026</dc:subject>
  <cp:keywords>LiDAR, ROS 2, метро, габарит, обнаружение препятствий</cp:keywords>
</cp:coreProperties>
</file>