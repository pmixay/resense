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8" r:id="rId25"/>
    <p:sldId id="369" r:id="rId13"/>
    <p:sldId id="267" r:id="rId26"/>
    <p:sldId id="372" r:id="rId14"/>
    <p:sldId id="270" r:id="rId28"/>
    <p:sldId id="262" r:id="rId21"/>
    <p:sldId id="266" r:id="rId23"/>
    <p:sldId id="263" r:id="rId22"/>
    <p:sldId id="371" r:id="rId17"/>
    <p:sldId id="370" r:id="rId16"/>
    <p:sldId id="374" r:id="rId18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первый STOP, м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dPt>
            <c:idx val="0"/>
            <c:spPr>
              <a:solidFill>
                <a:srgbClr val="FF0053"/>
              </a:solidFill>
            </c:spPr>
          </c:dPt>
          <c:dPt>
            <c:idx val="1"/>
            <c:spPr>
              <a:solidFill>
                <a:srgbClr val="8A83D1"/>
              </a:solidFill>
            </c:spPr>
          </c:dPt>
          <c:dPt>
            <c:idx val="2"/>
            <c:spPr>
              <a:solidFill>
                <a:srgbClr val="FF0053"/>
              </a:solidFill>
            </c:spPr>
          </c:dPt>
          <c:dPt>
            <c:idx val="3"/>
            <c:spPr>
              <a:solidFill>
                <a:srgbClr val="FF0053"/>
              </a:solidFill>
            </c:spPr>
          </c:dPt>
          <c:dPt>
            <c:idx val="4"/>
            <c:spPr>
              <a:solidFill>
                <a:srgbClr val="FF0053"/>
              </a:solidFill>
            </c:spPr>
          </c:dPt>
          <c:dPt>
            <c:idx val="5"/>
            <c:spPr>
              <a:solidFill>
                <a:srgbClr val="FF0053"/>
              </a:solidFill>
            </c:spPr>
          </c:dPt>
          <c:dPt>
            <c:idx val="6"/>
            <c:spPr>
              <a:solidFill>
                <a:srgbClr val="FF0053"/>
              </a:solidFill>
            </c:spPr>
          </c:dPt>
          <c:dPt>
            <c:idx val="7"/>
            <c:spPr>
              <a:solidFill>
                <a:srgbClr val="FF0053"/>
              </a:solidFill>
            </c:spPr>
          </c:dPt>
          <c:dLbls>
            <c:numFmt formatCode="0&quot; м&quot;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висящий 5 см</c:v>
                </c:pt>
                <c:pt idx="1">
                  <c:v>ящик 2 м: край</c:v>
                </c:pt>
                <c:pt idx="2">
                  <c:v>куб 0,3 м: край</c:v>
                </c:pt>
                <c:pt idx="3">
                  <c:v>куб 0,3 м: центр</c:v>
                </c:pt>
                <c:pt idx="4">
                  <c:v>куб 0,3 м: рельс</c:v>
                </c:pt>
                <c:pt idx="5">
                  <c:v>доска</c:v>
                </c:pt>
                <c:pt idx="6">
                  <c:v>ящик 2 м: центр</c:v>
                </c:pt>
                <c:pt idx="7">
                  <c:v>ящик 2 м: верх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</c:v>
                </c:pt>
                <c:pt idx="1">
                  <c:v>18</c:v>
                </c:pt>
                <c:pt idx="2">
                  <c:v>35</c:v>
                </c:pt>
                <c:pt idx="3">
                  <c:v>56</c:v>
                </c:pt>
                <c:pt idx="4">
                  <c:v>43</c:v>
                </c:pt>
                <c:pt idx="5">
                  <c:v>87</c:v>
                </c:pt>
                <c:pt idx="6">
                  <c:v>98</c:v>
                </c:pt>
                <c:pt idx="7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dLbls>
          <c:numFmt formatCode="0&quot; м&quot;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tickLblSkip val="1"/>
        <c:noMultiLvlLbl val="0"/>
      </c:catAx>
      <c:valAx>
        <c:axId val="1173587135"/>
        <c:scaling>
          <c:orientation val="minMax"/>
          <c:max val="15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50.0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первое подтверждение, м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C3777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rgbClr val="FFD6E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rgbClr val="8A83D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rgbClr val="520978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dPt>
            <c:idx val="4"/>
            <c:spPr>
              <a:solidFill>
                <a:srgbClr val="310F53"/>
              </a:solidFill>
            </c:spPr>
          </c:dPt>
          <c:dPt>
            <c:idx val="5"/>
            <c:spPr>
              <a:solidFill>
                <a:srgbClr val="FC3777"/>
              </a:solidFill>
            </c:spPr>
          </c:dPt>
          <c:dPt>
            <c:idx val="6"/>
            <c:spPr>
              <a:solidFill>
                <a:srgbClr val="FF0053"/>
              </a:solidFill>
            </c:spPr>
          </c:dPt>
          <c:dLbls>
            <c:numFmt formatCode="0&quot; м&quot;" sourceLinked="0"/>
            <c:txPr>
              <a:bodyPr/>
              <a:lstStyle/>
              <a:p>
                <a:pPr>
                  <a:defRPr sz="12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предмет поперёк рельса</c:v>
                </c:pt>
                <c:pt idx="1">
                  <c:v>ящик 30 см на рельсе</c:v>
                </c:pt>
                <c:pt idx="2">
                  <c:v>висящий кабель 3 см</c:v>
                </c:pt>
                <c:pt idx="3">
                  <c:v>ящик 1 м</c:v>
                </c:pt>
                <c:pt idx="4">
                  <c:v>тележка</c:v>
                </c:pt>
                <c:pt idx="5">
                  <c:v>человек 1,7 м</c:v>
                </c:pt>
                <c:pt idx="6">
                  <c:v>человек 1,7 м · от рельсов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</c:v>
                </c:pt>
                <c:pt idx="1">
                  <c:v>49</c:v>
                </c:pt>
                <c:pt idx="2">
                  <c:v>99</c:v>
                </c:pt>
                <c:pt idx="3">
                  <c:v>124</c:v>
                </c:pt>
                <c:pt idx="4">
                  <c:v>151</c:v>
                </c:pt>
                <c:pt idx="5">
                  <c:v>151</c:v>
                </c:pt>
                <c:pt idx="6">
                  <c:v>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numFmt formatCode="0&quot; м&quot;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tickLblSkip val="1"/>
        <c:noMultiLvlLbl val="0"/>
      </c:catAx>
      <c:valAx>
        <c:axId val="1173587135"/>
        <c:scaling>
          <c:orientation val="minMax"/>
          <c:max val="20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50.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Роли: капитан — ROS 2, Docker, интеграция и питч; визуализация, дашборд, презентация и видео; компьютерное зрение — модель пути и трекинг; данные, синтетика, метрики и тесты. Каждый отвечал за свою часть, код общий.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Почему эта задача: реальных препятствий в данных почти нет. Мы описываем нормальный тоннель, а обученное мнение о треке работает на отрицательных примерах из поездок. Ложные остановки сократились, но остались. Как мы работали с чужими идеями: 8 идей из открытых решений других команд кейса 05 прогнали через полный гейт на всех записях: 5 отклонили, 3 включили 29.09. Своя проверка безопасности в тот же вечер выключила третье («обделка»): висящий от свода кабель получал STOP с 21 м вместо 74 м. Проверка на новых данных нужна. Станции и стрелки похожи на препятствия; нужны доверенная ось и подтверждение 0,5 с. Входы 120°/360° и два топика; крепление калибруется по рельсам.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— команда «Молоток», четыре инженерные роли. Наше решение называется ReSense. Описываем нормальный тоннель и ищем препятствия в габарите; возможны пропуски и ложные тревоги. Модель включает полотно, рельсы, ось и кривизну по стенам. Выходы GO / CAUTION / STOP / FAULT и расстояние; обученное мнение только задерживает сомнительный STOP в ограниченном бюджете. Дальность контроля — оценка, пропуски возможны и внутри неё.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Одной фразой: описываем нормальный тоннель и ищем препятствия в габарите поезда. Работает в ROS 2 и Docker. Решает геометрия; обученная часть одна — «мнение» о треке, и оно может только отложить сомнительный STOP, не больше чем на 10 обработанных кадров за жизнь трека (~1 с при 10 Гц, ~2 с при 5 Гц, до ~3 с, пока узел догоняет очередь), но не отменить его. Задержку называем с машиной: p95 от публикации кадра до решения через ROS в Docker: 81–82 мс при 360° (ВМ, 4 ядра; с холодного диска 88–96 мс) и 49–78 мс при 120° (4 vCPU), замер 28.09; правила 29.09 добавляют ~2 мс; стенд организаторов мы не мерили. GPU мы оценили и не используем: выигрыш — десятки миллисекунд, а контейнер с запросом GPU не стартует на машине без nvidia-container-toolkit. Реальный человек — 61 из 61 кадра; кэш шлюза 29.09: 2,1 события/км, не node-path. 13.10 на 4 vCPU нода 360° дала p95 111 мс, только 35/201 актуальных результатов; исторические 81–82 мс на ВМ команды 28.09 этого не опровергают.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Почему не нейросеть: реальных препятствий в данных почти нет, а на 100+ м у объекта единицы точек. Переносимость правил и обученного мнения на другой маршрут требует независимой проверки. Цели ТЗ: 100 / 200 / 300 м. При 80 км/ч и замедлении 1–1,3 м/с² тормозной путь 190–250 м без задержек. Сравнение с картой требует локализации. Качество обученного 3D-детектора на этих тоннелях не измерялось.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Все числа дальше — на всех 13 759 кадрах организаторов. Каждая запись обрывается на 209–210 м: дальше в тоннеле нет ни одного отражения, и это предел для любого алгоритма на этих данных. Шесть записей: 2 488 кадров; поездка 11 271, 20 минут, 13 км, 7 остановок, кривые R≈350 м. Дополнительно набор O: 1 510 кадров синтетики организаторов. Объект 0,5 м: около 7 точек на 100 м и 1–2 на 200 м; стены видны на 150–200 м, полотно примерно до 100 м. Предел ~210 м относится к исходным реальным отражениям, не добавленной синтетике: судья 13.10 нашёл добавленные точки набора O до ~298 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шагов на каждый кадр. На одном ядре 4 vCPU Xeon 2,1 ГГц детектор тратит 24–31 мс в среднем (p95 34–47 мс; замер 28.09, правила 29.09 добавляют ~2 мс); это с необязательными ядрами на C++, без них время детектора в 1,6–2,3 раза больше при том же выходе бит в бит. Калибровка крепления — сама, по рельсам; кривизна — по стенам, поэтому коридор осмыслен и там, где рельсов уже не видно. Запрет эго-движения: пока поезд едет быстрее 4 м/с, трек, расстояние до которого не сокращается вместе с ходом поезда, STOP не начинает.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Вот тоннель — двухпутный, поезд стоит, лидар на кабине. Вот облако одного кадра — сотни тысяч точек за 0,1 с. Зелёным — габарит поезда, который алгоритм сам протянул вдоль оси пути по рельсам и стенам. Жёлтым — всё, что попало в коридор. А вот препятствие, которое наш алгоритм увидел за 56 метров: человек переходит путь, красная рамка, решение STOP — с первого кадра в габарите. Справа — его точки крупно. Когда человек уходит, на рельсе остаётся предмет 45 × 60 × 30 см — алгоритм держит и его: STOP на 193 из 201 кадра — с кадра 8 до конца, без пропусков; предмет на рельсе — 126 из 126 кадров. До 29.09 в кадре 111 был один GO: верх предмета на 4–7 мм ниже порога высоты. Исправили правилом удержания уже подтверждённого низкого STOP на 0,3 с — подобрано на этой же записи, и мы это говорим. Здесь поезд стоит; на едущем поезде — синтетика организаторов: ящик 2 × 2 м алгоритм увидел за 98 метров, с первого появления (слайд «Объекты организаторов»).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Цепочка организаторов прогнана в Docker на реальных записях: узел в одном контейнере, bag play из другого, от обычного пользователя. Решение — топик /resense/decision: GO, CAUTION, STOP, FAULT. Слева — дашборд по статусу того же узла. Для исторического проигрывания нужен freshness_mode:=replay и поддерживаемая процедура из README. Потребителю недостаточно одного decision: проверяйте время действия /resense/status.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Человек на пути — 61 из 61 кадра, тревога с первого кадра в габарите; три кадра из них — благодаря добавке до 0,2 м по оси лидара ближе 60 м, строго от рельсов было бы 58. Вся запись — STOP на 193 из 201 кадра — с кадра 8 до конца, без пропусков (на кэше гейта; через узел ROS в Docker без пропусков — прогон CI 29.09, до правил 29.09); предмет на рельсе — 126 из 126. Одиночный GO в кадре 111 закрыт 29.09 правилом, подобранным на этой же записи. Задержка — p95 от публикации кадра до решения через ROS в Docker: 81–82 мс при 360° (ВМ, 4 ядра; с холодного диска 88–96 мс) и 49–78 мс при 120° (4 vCPU), замер 28.09; правила 29.09 добавляют ~2 мс. Ложных событий в 20-минутной поездке — 2,1 на км (27 за 13 км, было 32 до правил 29.09), но это на тех же данных, где мы подбирали правила и откуда взяты отрицательные примеры «мнения» о треке. Вне выборки мы мерили только «мнение», на детекторе 27.09: каждую пару кусков поездки прогнали с моделью, которая их не видела, — 37 событий, 2,8 на км (в выборке тогда было 32). На объектах организаторов большой ящик — с 98 м, кубы 30 см — с 43–56 м, у края — с 35 и 18 м. Пять пустых записей на кэше: 8 событий, 12 эпизодов; поездка 27 событий / 30 эпизодов. Проверка 13.10 v1.0.0: пять бэгов 4 эпизода / 13 кадров; поездка 32 эпизода / 160 кадров, ≈2,5 эпизода/км. Эпизод — серия STOP, событие шлюза — подтверждённый трек; сравнивать их как одну метрику нельзя. Все частоты в выборке. Нода на 4 vCPU: p95 111 мс на 360°, 84 мс на 120°; это время обработки, не возраст результата. Первая версия графиков — подготовка PT1; окончательные числа и речь обновляет P1 после J1 и O1.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Первое подтверждение человека — 151 м, медиана шести подходов. В пяти парных подходах — 150 м, а если ставить его по ближним рельсам, а не по нашей же дальней оси, — 154 м: пять пар на знакомых фонах не доказывают независимость. Со скоростью поезда — 167 м; свою скорость мы меряем по лидару с ошибкой 0,07 м/с, но раньше STOP она не даёт; с 29.09 она питает запрет эго-движения. Дальше 210 м отражений нет. Всё это синтетика в реальных кадрах поездки. Исторические кривые набора F, 24.09: 6 из 7 подходов, 58–86 м. Устойчивость человека ≥90% каждой 10-метровой полосы — с 115 м. Нынешняя оценка 13.10 v1.0.0: лучевой человекообразный бокс 218 м на прямой, 52 м на кривой в двухпутность, 74 м на кривой с гермозатвором, 106 м перед платформой; идеальные возвраты на собственной оси — благоприятная постановка. Это не реальные люди и не J1 следующей печати. После J1 заменить этот исторический график на ≥3 геометрии пути.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синтетика организаторов на использованных фонах, не скрытая проверка: поезд едет к объектам до 20 м/с. Большой ящик — с первого появления, 98 м; доска поперёк рельсов — с 87 м. Кубы 30 см — только с 43–56 м: на 60–115 м от них 2–4 точки в кадре. Висящий предмет 5 см — с 30 м; ящик у верха габарита — непрерывно с 111 м. У края — с 35 и 18 м; трек ящика у края — STOP с 28,7 м, а счётчик засчитывает кадры с 18 м: он ищет обнаружение в метре от центра двухметрового ящика. Габарит организаторы отсчитывают от головки рельсов (их ответ 29.09); ближе 60 м на прямой мы добавляем к нему до 0,2 м по оси лидара — нигде не уже, чем от рельсов; без этой добавки куб у края — лишь с 5,2 м. Синтетика, по словам организаторов, расставлена приблизительно, и при проверке они это учтут. Дальние слабые треки дали ящику у верха габарита и доске 111 и 87 м вместо 101 и 82. Ложный STOP у ящика снаружи габарита — 6 кадров на кэше гейта, с 142 м; на исходной записи детектор 27.09 давал 9 кадров подряд на 126–142 м: обнаружение на его внутреннем крае. Ящик у верха габарита на кэше: 56 из 124 кадров STOP. Куб на рельсе / по центру: 42,7 / 55,8 м на кэше; 48,0 / 55,8 м node-path 13.10, краевой куб 35 м в обоих. Ранее заявленная проверка новых мест относится к старому детектору 27.09, не к выпущенной или будущей версии.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Калибруем поддерживаемое крепление и находим вход. При потере свежести — FAULT либо удержание STOP с последней дистанцией; потребителю нужен свой таймер статуса. Ложный STOP на пустой сцене больше не зависит от того, как узел получал кадры: в записанных историях узла — 0 (было 2), в стресс-тесте с пропусками и догонялками — 55 событий (было 78; 28.09). 8 проверенных ориентаций вокруг вертикальной оси — не любое крепление. Свежесть проверяет также потребитель. Удаление двойных возвратов меняет модель пути и решения (проверка 13.10); побитовое совпадение numpy/C++ этого не исключает.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не сработало и почему: полотно полно железа, станции — главный источник ложных остановок, мелкие объекты организаторов видим поздно, тонкие — только вблизи. Два правила 29.09 взяты из открытых решений других команд (TunnelGuard, Tactical-Inventor) и прошли полный гейт: «чистая серия» — новый STOP у известной инфраструктуры ждёт пять чистых попаданий; запрет эго-движения — трек дальше 25 м, который едет вместе с поездом, STOP не начинает, пока поезд быстрее 4 м/с. Третье — «обделку» — мы выключили после своей проверки безопасности: висящий от свода кабель получал STOP лишь с 21 м вместо 74 м. Независимая проверка 13.10 нашла другие пропуски v1.0.0, описанные ниже. «Мнение» о треке обучено на синтетике: непохожий реальный объект — мусор, лежащий человек — оно может задержать, но не больше 10 обработанных кадров за жизнь трека (~1 с при 10 Гц, ~2 с при 5 Гц, до ~3 с, пока узел догоняет очередь), не ближе 25 м и не для стоящего тела ≥ 1 м ближе 40 м; предел 25 м действует и по предсказанной дистанции, пока трек не виден; STOP оно никогда не отменяет. Порог — половина наибольшего, который не задерживает ни одного отложенного синтетического объекта; без этого запаса на детекторе 27.09 было бы 25 событий в поездке и 33 на невиданных кусках — запас оставили ради безопасности. История: наивный порог полотна давал 1 482 события за 20 минут; набор F box0.5 на кэше найден в 2 из 6 подходов. На рельсе — 126 из 126 кадров; правило удержания 0,3 с подобрано на doubleT_obstacle. Два критичных пропуска обнаружены независимо 13.10: tall narrow → column и oversize merge на кривой. Исправления final/silent-misses ещё не прошли весь цикл выпуска; не объявлять их готовыми.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Итог: работающий модуль, честные цифры, понятные следующие шаги — мелкие объекты раньше, скорость от одометрии, независимая проверка двух правил 29.09 и замер на стенде организаторов. План после оценки: BACKLOG, H1–H6 перед выпуском, затем J1. Новая печать, проверка на нетронутых данных G3, дальность по геометриям, свежесть S1, стенд S5; подключение к торможению требует отдельной разработки и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/>
            </a:r>
          </a:p>
          <a:p>
            <a:pPr lvl="1"/>
            <a:r>
              <a:rPr lang="ru-RU" dirty="0"/>
              <a:t/>
            </a:r>
          </a:p>
          <a:p>
            <a:pPr lvl="2"/>
            <a:r>
              <a:rPr lang="ru-RU" dirty="0"/>
              <a:t/>
            </a:r>
          </a:p>
          <a:p>
            <a:pPr lvl="3"/>
            <a:r>
              <a:rPr lang="ru-RU" dirty="0"/>
              <a:t/>
            </a:r>
          </a:p>
          <a:p>
            <a:pPr lvl="4"/>
            <a:r>
              <a:rPr lang="ru-RU" dirty="0"/>
              <a:t/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  <p:txBody>
          <a:bodyPr/>
          <a:p/>
        </p:txBody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826.jpg"/><Relationship Id="rId4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27.jpg"/><Relationship Id="rId5" Type="http://schemas.openxmlformats.org/officeDocument/2006/relationships/image" Target="../media/image828.jpg"/><Relationship Id="rId6" Type="http://schemas.openxmlformats.org/officeDocument/2006/relationships/image" Target="../media/image829.jpg"/><Relationship Id="rId7" Type="http://schemas.openxmlformats.org/officeDocument/2006/relationships/image" Target="../media/image83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3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832.jpg"/><Relationship Id="rId4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0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833.png"/><Relationship Id="rId4" Type="http://schemas.openxmlformats.org/officeDocument/2006/relationships/image" Target="../media/image834.jpg"/><Relationship Id="rId5" Type="http://schemas.openxmlformats.org/officeDocument/2006/relationships/notesSlide" Target="../notesSlides/notesSlide10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/>
              <a:t>Молоток</a:t>
            </a:r>
          </a:p>
        </p:txBody>
      </p:sp>
      <p:pic>
        <p:nvPicPr>
          <p:cNvPr id="4" name="Рисунок 3" descr="image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305186" y="535493"/>
            <a:ext cx="2455420" cy="671205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0" marL="268288"/>
            <a:r>
              <a:rPr lang="ru-RU" sz="1500"/>
              <a:t>Кейс 05 · решение ReSense</a:t>
            </a:r>
          </a:p>
          <a:p>
            <a:pPr indent="0" marL="268288"/>
            <a:r>
              <a:rPr lang="ru-RU" sz="1500"/>
              <a:t>Обнаружение посторонних объектов в тоннеле метро по данным 3D-лидара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19" name="Picture 18" descr="team.jpg"/>
          <p:cNvPicPr>
            <a:picLocks noChangeAspect="1"/>
          </p:cNvPicPr>
          <p:nvPr/>
        </p:nvPicPr>
        <p:blipFill>
          <a:blip r:embed="rId3"/>
          <a:srcRect t="29" b="29"/>
          <a:stretch>
            <a:fillRect/>
          </a:stretch>
        </p:blipFill>
        <p:spPr>
          <a:xfrm>
            <a:off x="0" y="335267"/>
            <a:ext cx="6456363" cy="297178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350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500">
                <a:solidFill>
                  <a:schemeClr val="tx1"/>
                </a:solidFill>
              </a:rPr>
              <a:t>Модель среды без карты и классов объектов. Возможны пропуски и ложные тревоги.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Капитан:</a:t>
            </a:r>
            <a:r>
              <a:rPr lang="ru-RU">
                <a:solidFill>
                  <a:schemeClr val="tx1"/>
                </a:solidFill>
              </a:rPr>
              <a:t xml:space="preserve"> Кузнецов Пётр, системный аналитик, ROS 2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Кол-во участников:</a:t>
            </a:r>
            <a:r>
              <a:rPr lang="ru-RU">
                <a:solidFill>
                  <a:schemeClr val="tx1"/>
                </a:solidFill>
              </a:rPr>
              <a:t xml:space="preserve"> 4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>
                <a:solidFill>
                  <a:schemeClr val="tx1"/>
                </a:solidFill>
              </a:rPr>
              <a:t>Краткое описание:</a:t>
            </a:r>
          </a:p>
          <a:p>
            <a:pPr rtl="0" marL="289376" indent="-14468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ru-RU">
                <a:solidFill>
                  <a:schemeClr val="tx1"/>
                </a:solidFill>
              </a:rPr>
              <a:t>P1 — узел ROS 2, Docker и питч; P2 — интерфейс</a:t>
            </a:r>
          </a:p>
          <a:p>
            <a:pPr rtl="0" marL="289376" indent="-14468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–"/>
            </a:pPr>
            <a:r>
              <a:rPr lang="ru-RU">
                <a:solidFill>
                  <a:schemeClr val="tx1"/>
                </a:solidFill>
              </a:rPr>
              <a:t>P3 — алгоритм, P4 — данные, метрики и тесты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pPr/>
            <a:r>
              <a:rPr lang="ru-RU" sz="2400">
                <a:solidFill>
                  <a:schemeClr val="accent5"/>
                </a:solidFill>
                <a:latin typeface="+mn-lt"/>
              </a:rPr>
              <a:t>КОМАНДА «Молоток»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7800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500">
                <a:solidFill>
                  <a:schemeClr val="tx1"/>
                </a:solidFill>
              </a:rPr>
              <a:t>LiDAR → модель тоннеля → препятствие в габарите 2,1 × 3,0 м → решение и расстояние. ROS 2, Docker, CPU.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384698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4019268" y="457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Разработчик ПО (Python / JS)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RViz, Foxglove, веб-дашборд, разметка, слайды, ролик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4019267" y="394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>
                <a:solidFill>
                  <a:schemeClr val="accent5"/>
                </a:solidFill>
              </a:rPr>
              <a:t>P2 · фронтенд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615230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6324586" y="457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Инженер компьютерного зрения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модель пути, габарит, кластеры, трекинг, дальность, скорость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6324585" y="394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>
                <a:solidFill>
                  <a:schemeClr val="accent5"/>
                </a:solidFill>
              </a:rPr>
              <a:t>P3 · зрение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845762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8629905" y="457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Специалист по данным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датасет, синтетические препятствия, разметка, метрики, тесты, CI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8629904" y="394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>
                <a:solidFill>
                  <a:schemeClr val="accent5"/>
                </a:solidFill>
              </a:rPr>
              <a:t>P4 · данные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154166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66" name="Picture 65" descr="member-66.jpg"/>
          <p:cNvPicPr>
            <a:picLocks noChangeAspect="1"/>
          </p:cNvPicPr>
          <p:nvPr/>
        </p:nvPicPr>
        <p:blipFill>
          <a:blip r:embed="rId4"/>
          <a:srcRect t="138" b="138"/>
          <a:stretch>
            <a:fillRect/>
          </a:stretch>
        </p:blipFill>
        <p:spPr>
          <a:xfrm>
            <a:off x="1776987" y="1816054"/>
            <a:ext cx="1722566" cy="1552901"/>
          </a:xfrm>
          <a:prstGeom prst="rect">
            <a:avLst/>
          </a:prstGeom>
        </p:spPr>
      </p:pic>
      <p:pic>
        <p:nvPicPr>
          <p:cNvPr id="68" name="Picture 67" descr="member-68.jpg"/>
          <p:cNvPicPr>
            <a:picLocks noChangeAspect="1"/>
          </p:cNvPicPr>
          <p:nvPr/>
        </p:nvPicPr>
        <p:blipFill>
          <a:blip r:embed="rId5"/>
          <a:srcRect t="475" b="475"/>
          <a:stretch>
            <a:fillRect/>
          </a:stretch>
        </p:blipFill>
        <p:spPr>
          <a:xfrm>
            <a:off x="4082057" y="1826554"/>
            <a:ext cx="1722566" cy="1542401"/>
          </a:xfrm>
          <a:prstGeom prst="rect">
            <a:avLst/>
          </a:prstGeom>
        </p:spPr>
      </p:pic>
      <p:pic>
        <p:nvPicPr>
          <p:cNvPr id="70" name="Picture 69" descr="member-70.jpg"/>
          <p:cNvPicPr>
            <a:picLocks noChangeAspect="1"/>
          </p:cNvPicPr>
          <p:nvPr/>
        </p:nvPicPr>
        <p:blipFill>
          <a:blip r:embed="rId6"/>
          <a:srcRect l="81" r="81"/>
          <a:stretch>
            <a:fillRect/>
          </a:stretch>
        </p:blipFill>
        <p:spPr>
          <a:xfrm>
            <a:off x="6387374" y="1809238"/>
            <a:ext cx="1722567" cy="1559717"/>
          </a:xfrm>
          <a:prstGeom prst="rect">
            <a:avLst/>
          </a:prstGeom>
        </p:spPr>
      </p:pic>
      <p:pic>
        <p:nvPicPr>
          <p:cNvPr id="72" name="Picture 71" descr="member-72.jpg"/>
          <p:cNvPicPr>
            <a:picLocks noChangeAspect="1"/>
          </p:cNvPicPr>
          <p:nvPr/>
        </p:nvPicPr>
        <p:blipFill>
          <a:blip r:embed="rId7"/>
          <a:srcRect l="81" r="81"/>
          <a:stretch>
            <a:fillRect/>
          </a:stretch>
        </p:blipFill>
        <p:spPr>
          <a:xfrm>
            <a:off x="8715798" y="1809238"/>
            <a:ext cx="1722567" cy="155971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pPr/>
            <a:r>
              <a:rPr lang="ru-RU">
                <a:latin typeface="+mn-lt"/>
              </a:rPr>
              <a:t>КОМАНДА «Молоток»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713950" y="457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Системный аналитик, ROS 2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требования, архитектура, узел ROS 2 и Docker, питч, сдача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1713949" y="394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>
                <a:solidFill>
                  <a:schemeClr val="accent5"/>
                </a:solidFill>
              </a:rPr>
              <a:t>P1 · капитан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13949" y="3418955"/>
            <a:ext cx="1785604" cy="513163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Кузнецов</a:t>
            </a:r>
          </a:p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Пётр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19267" y="3418955"/>
            <a:ext cx="1785356" cy="513163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Максимов</a:t>
            </a:r>
          </a:p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Тимофей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24585" y="3418955"/>
            <a:ext cx="1785356" cy="513163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Лихатин</a:t>
            </a:r>
          </a:p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Андрей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29904" y="3418955"/>
            <a:ext cx="1808461" cy="513163"/>
          </a:xfrm>
          <a:prstGeom prst="rect">
            <a:avLst/>
          </a:prstGeom>
          <a:noFill/>
        </p:spPr>
        <p:txBody>
          <a:bodyPr wrap="square" rIns="0"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Голубев</a:t>
            </a:r>
          </a:p>
          <a:p>
            <a:pPr>
              <a:lnSpc>
                <a:spcPct val="90000"/>
              </a:lnSpc>
            </a:pPr>
            <a:r>
              <a:rPr lang="ru-RU" b="1" sz="1400">
                <a:solidFill>
                  <a:srgbClr val="4B0E73"/>
                </a:solidFill>
              </a:rPr>
              <a:t>Павел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pPr/>
            <a:r>
              <a:rPr lang="ru-RU">
                <a:latin typeface="+mn-lt"/>
              </a:rPr>
              <a:t>ИСТОРИЯ КОМАНДЫ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500">
                <a:solidFill>
                  <a:schemeClr val="tx1"/>
                </a:solidFill>
              </a:rPr>
              <a:t>Четыре роли: ROS 2 и интеграция, визуализация, компьютерное зрение, данные и тесты.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>
                <a:solidFill>
                  <a:schemeClr val="tx1"/>
                </a:solidFill>
              </a:rPr>
              <a:t>Идеи других команд: 8 проверили, 5 отклонили, 3 включили. Одно правило выключили после своей проверки: оно скрывало кабель. Изменения — через шлюз.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500">
                <a:solidFill>
                  <a:schemeClr val="tx1"/>
                </a:solidFill>
              </a:rPr>
              <a:t>Реальных препятствий мало. Ищем отклонения от геометрии тоннеля; синтетические объекты проверяем на реальных фонах.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ru-RU" sz="1500">
                <a:solidFill>
                  <a:schemeClr val="tx1"/>
                </a:solidFill>
              </a:rPr>
              <a:t>ROS 2 Humble · Python + C++ · Docker · CPU</a:t>
            </a:r>
          </a:p>
          <a:p>
            <a:pPr>
              <a:spcBef>
                <a:spcPts val="600"/>
              </a:spcBef>
            </a:pPr>
            <a:r>
              <a:rPr lang="ru-RU" sz="1500">
                <a:solidFill>
                  <a:schemeClr val="tx1"/>
                </a:solidFill>
              </a:rPr>
              <a:t>PointCloud2 → модель пути → габарит 2,1 × 3,0 м → кластеры</a:t>
            </a:r>
          </a:p>
          <a:p>
            <a:pPr>
              <a:spcBef>
                <a:spcPts val="600"/>
              </a:spcBef>
            </a:pPr>
            <a:r>
              <a:rPr lang="ru-RU" sz="1500">
                <a:solidFill>
                  <a:schemeClr val="tx1"/>
                </a:solidFill>
              </a:rPr>
              <a:t>GO / CAUTION / STOP / FAULT, расстояние, /resense/status</a:t>
            </a:r>
          </a:p>
          <a:p>
            <a:pPr>
              <a:spcBef>
                <a:spcPts val="600"/>
              </a:spcBef>
            </a:pPr>
            <a:r>
              <a:rPr lang="ru-RU" sz="1500">
                <a:solidFill>
                  <a:schemeClr val="tx1"/>
                </a:solidFill>
              </a:rPr>
              <a:t>Подтверждение 0,5 с; пропуски и ложные тревоги возможны</a:t>
            </a:r>
          </a:p>
          <a:p>
            <a:pPr>
              <a:spcBef>
                <a:spcPts val="600"/>
              </a:spcBef>
            </a:pPr>
            <a:r>
              <a:rPr lang="ru-RU" sz="1500">
                <a:solidFill>
                  <a:schemeClr val="tx1"/>
                </a:solidFill>
              </a:rPr>
              <a:t>360°: задержка зависит от машины; см. результаты и заметки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1500" b="1">
                <a:solidFill>
                  <a:schemeClr val="tx1"/>
                </a:solidFill>
              </a:rPr>
              <a:t>Применение:</a:t>
            </a:r>
            <a:r>
              <a:rPr lang="ru-RU" sz="1500">
                <a:solidFill>
                  <a:schemeClr val="tx1"/>
                </a:solidFill>
              </a:rPr>
              <a:t xml:space="preserve"> контроль габарита поезда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500" b="1">
                <a:solidFill>
                  <a:schemeClr val="tx1"/>
                </a:solidFill>
              </a:rPr>
              <a:t>Дальше:</a:t>
            </a:r>
            <a:r>
              <a:rPr lang="ru-RU" sz="1500">
                <a:solidFill>
                  <a:schemeClr val="tx1"/>
                </a:solidFill>
              </a:rPr>
              <a:t xml:space="preserve"> мелкие объекты и новые тоннели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500" b="1">
                <a:solidFill>
                  <a:schemeClr val="tx1"/>
                </a:solidFill>
              </a:rPr>
              <a:t>Внедрение:</a:t>
            </a:r>
            <a:r>
              <a:rPr lang="ru-RU" sz="1500">
                <a:solidFill>
                  <a:schemeClr val="tx1"/>
                </a:solidFill>
              </a:rPr>
              <a:t xml:space="preserve"> адаптер торможения — отдельный этап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ru-RU" b="1" sz="1500">
                <a:solidFill>
                  <a:schemeClr val="tx1"/>
                </a:solidFill>
              </a:rPr>
              <a:t>13 759 реальных кадров:</a:t>
            </a:r>
            <a:r>
              <a:rPr lang="ru-RU" sz="1500">
                <a:solidFill>
                  <a:schemeClr val="tx1"/>
                </a:solidFill>
              </a:rPr>
              <a:t xml:space="preserve"> 6 записей и 20-минутная поездка</a:t>
            </a:r>
          </a:p>
          <a:p>
            <a:pPr>
              <a:spcBef>
                <a:spcPts val="800"/>
              </a:spcBef>
            </a:pPr>
            <a:r>
              <a:rPr lang="ru-RU" b="1" sz="1500">
                <a:solidFill>
                  <a:schemeClr val="tx1"/>
                </a:solidFill>
              </a:rPr>
              <a:t>Hesai Pandar128:</a:t>
            </a:r>
            <a:r>
              <a:rPr lang="ru-RU" sz="1500">
                <a:solidFill>
                  <a:schemeClr val="tx1"/>
                </a:solidFill>
              </a:rPr>
              <a:t xml:space="preserve"> 10 Гц, окна 120° и 360°</a:t>
            </a:r>
          </a:p>
          <a:p>
            <a:pPr>
              <a:spcBef>
                <a:spcPts val="800"/>
              </a:spcBef>
            </a:pPr>
            <a:r>
              <a:rPr lang="ru-RU" b="1" sz="1500">
                <a:solidFill>
                  <a:schemeClr val="tx1"/>
                </a:solidFill>
              </a:rPr>
              <a:t>~210 м:</a:t>
            </a:r>
            <a:r>
              <a:rPr lang="ru-RU" sz="1500">
                <a:solidFill>
                  <a:schemeClr val="tx1"/>
                </a:solidFill>
              </a:rPr>
              <a:t xml:space="preserve"> предел реальных отражений в этих записях; не дальность гарантированного STOP</a:t>
            </a:r>
          </a:p>
          <a:p>
            <a:pPr>
              <a:spcBef>
                <a:spcPts val="800"/>
              </a:spcBef>
            </a:pPr>
            <a:r>
              <a:rPr lang="ru-RU" sz="1500">
                <a:solidFill>
                  <a:schemeClr val="tx1"/>
                </a:solidFill>
              </a:rPr>
              <a:t>Реальные препятствия — человек и предмет на рельсе в doubleT_obstacle</a:t>
            </a:r>
          </a:p>
          <a:p>
            <a:pPr>
              <a:spcBef>
                <a:spcPts val="800"/>
              </a:spcBef>
            </a:pPr>
            <a:r>
              <a:rPr lang="ru-RU" sz="1500">
                <a:solidFill>
                  <a:schemeClr val="tx1"/>
                </a:solidFill>
              </a:rPr>
              <a:t>Остальные положительные примеры — синтетика на реальных фонах</a:t>
            </a:r>
          </a:p>
          <a:p>
            <a:pPr>
              <a:spcBef>
                <a:spcPts val="800"/>
              </a:spcBef>
            </a:pPr>
            <a:r>
              <a:rPr lang="ru-RU" sz="1500">
                <a:solidFill>
                  <a:schemeClr val="tx1"/>
                </a:solidFill>
              </a:rPr>
              <a:t>Все эти записи использовались при настройке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pPr/>
            <a:r>
              <a:rPr lang="ru-RU" sz="2000">
                <a:solidFill>
                  <a:schemeClr val="accent5"/>
                </a:solidFill>
              </a:rPr>
              <a:t>ДАННЫЕ И СЕНСОР</a:t>
            </a: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pPr/>
            <a:r>
              <a:rPr lang="ru-RU" sz="3600">
                <a:solidFill>
                  <a:schemeClr val="bg1"/>
                </a:solidFill>
              </a:rPr>
              <a:t>ГЛАВНЫЙ КАДР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495170" y="1474256"/>
            <a:ext cx="8377070" cy="47121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72240" y="1474256"/>
            <a:ext cx="2624589" cy="47121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/>
            <a:r>
              <a:rPr lang="ru-RU" b="1" sz="1400">
                <a:solidFill>
                  <a:srgbClr val="520978"/>
                </a:solidFill>
              </a:rPr>
              <a:t>Реальная запись организаторов</a:t>
            </a:r>
          </a:p>
          <a:p>
            <a:pPr>
              <a:spcBef>
                <a:spcPts val="600"/>
              </a:spcBef>
            </a:pPr>
            <a:r>
              <a:rPr lang="ru-RU" b="1" sz="2600">
                <a:solidFill>
                  <a:srgbClr val="FF0053"/>
                </a:solidFill>
              </a:rPr>
              <a:t>Увидел за 56 м</a:t>
            </a:r>
          </a:p>
          <a:p>
            <a:pPr/>
            <a:r>
              <a:rPr lang="ru-RU" sz="1300">
                <a:solidFill>
                  <a:srgbClr val="1C1D22"/>
                </a:solidFill>
              </a:rPr>
              <a:t>человек переходит путь — STOP</a:t>
            </a:r>
          </a:p>
          <a:p>
            <a:pPr>
              <a:spcBef>
                <a:spcPts val="800"/>
              </a:spcBef>
            </a:pPr>
            <a:r>
              <a:rPr lang="ru-RU" sz="1200">
                <a:solidFill>
                  <a:srgbClr val="1C1D22"/>
                </a:solidFill>
              </a:rPr>
              <a:t xml:space="preserve">Найден в </a:t>
            </a:r>
            <a:r>
              <a:rPr lang="ru-RU" b="1" sz="1200">
                <a:solidFill>
                  <a:srgbClr val="1C1D22"/>
                </a:solidFill>
              </a:rPr>
              <a:t>61 из 61</a:t>
            </a:r>
            <a:r>
              <a:rPr lang="ru-RU" sz="1200">
                <a:solidFill>
                  <a:srgbClr val="1C1D22"/>
                </a:solidFill>
              </a:rPr>
              <a:t xml:space="preserve"> кадра внутри габарита</a:t>
            </a:r>
          </a:p>
          <a:p>
            <a:pPr>
              <a:spcBef>
                <a:spcPts val="600"/>
              </a:spcBef>
            </a:pPr>
            <a:r>
              <a:rPr lang="ru-RU" sz="1200">
                <a:solidFill>
                  <a:srgbClr val="1C1D22"/>
                </a:solidFill>
              </a:rPr>
              <a:t>Тревога с первого кадра в габарите</a:t>
            </a:r>
          </a:p>
          <a:p>
            <a:pPr>
              <a:spcBef>
                <a:spcPts val="600"/>
              </a:spcBef>
            </a:pPr>
            <a:r>
              <a:rPr lang="ru-RU" sz="1200">
                <a:solidFill>
                  <a:srgbClr val="1C1D22"/>
                </a:solidFill>
              </a:rPr>
              <a:t>Ошибка дальности ≤ 0,23 м</a:t>
            </a:r>
          </a:p>
          <a:p>
            <a:pPr>
              <a:spcBef>
                <a:spcPts val="600"/>
              </a:spcBef>
            </a:pPr>
            <a:r>
              <a:rPr lang="ru-RU" sz="1200">
                <a:solidFill>
                  <a:srgbClr val="1C1D22"/>
                </a:solidFill>
              </a:rPr>
              <a:t xml:space="preserve">Вся запись: STOP на </a:t>
            </a:r>
            <a:r>
              <a:rPr lang="ru-RU" b="1" sz="1200">
                <a:solidFill>
                  <a:srgbClr val="1C1D22"/>
                </a:solidFill>
              </a:rPr>
              <a:t>193 из 201</a:t>
            </a:r>
            <a:r>
              <a:rPr lang="ru-RU" sz="1200">
                <a:solidFill>
                  <a:srgbClr val="1C1D22"/>
                </a:solidFill>
              </a:rPr>
              <a:t xml:space="preserve"> кадра — с кадра 8 до конца без пропусков; предмет на рельсе — 126 из 126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pPr/>
            <a:r>
              <a:rPr lang="ru-RU" sz="2000">
                <a:solidFill>
                  <a:schemeClr val="accent5"/>
                </a:solidFill>
              </a:rPr>
              <a:t>СЛОЖНЫЕ СЛУЧАИ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11200000" cy="712587"/>
          </a:xfrm>
        </p:spPr>
        <p:txBody>
          <a:bodyPr/>
          <a:lstStyle/>
          <a:p>
            <a:pPr marL="0" indent="0">
              <a:buNone/>
            </a:pPr>
            <a:r>
              <a:rPr lang="ru-RU" b="1" sz="1300">
                <a:solidFill>
                  <a:schemeClr val="tx1"/>
                </a:solidFill>
              </a:rPr>
              <a:t>Столбы:</a:t>
            </a:r>
            <a:r>
              <a:rPr lang="ru-RU" sz="1300">
                <a:solidFill>
                  <a:schemeClr val="tx1"/>
                </a:solidFill>
              </a:rPr>
              <a:t xml:space="preserve"> v1.0.0 понижает высокие узкие объекты до CAUTION; исправление ещё не выпущено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11200000" cy="712587"/>
          </a:xfrm>
        </p:spPr>
        <p:txBody>
          <a:bodyPr/>
          <a:lstStyle/>
          <a:p>
            <a:pPr marL="0" indent="0">
              <a:buNone/>
            </a:pPr>
            <a:r>
              <a:rPr lang="ru-RU" b="1" sz="1300">
                <a:solidFill>
                  <a:schemeClr val="tx1"/>
                </a:solidFill>
              </a:rPr>
              <a:t>Кривые:</a:t>
            </a:r>
            <a:r>
              <a:rPr lang="ru-RU" sz="1300">
                <a:solidFill>
                  <a:schemeClr val="tx1"/>
                </a:solidFill>
              </a:rPr>
              <a:t xml:space="preserve"> объект может слиться с длинной структурой и получить GO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11200000" cy="712587"/>
          </a:xfrm>
        </p:spPr>
        <p:txBody>
          <a:bodyPr/>
          <a:lstStyle/>
          <a:p>
            <a:pPr marL="0" indent="0">
              <a:buNone/>
            </a:pPr>
            <a:r>
              <a:rPr lang="ru-RU" b="1" sz="1300">
                <a:solidFill>
                  <a:schemeClr val="tx1"/>
                </a:solidFill>
              </a:rPr>
              <a:t>Платформы:</a:t>
            </a:r>
            <a:r>
              <a:rPr lang="ru-RU" sz="1300">
                <a:solidFill>
                  <a:schemeClr val="tx1"/>
                </a:solidFill>
              </a:rPr>
              <a:t xml:space="preserve"> основной источник ложных STOP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11200000" cy="712587"/>
          </a:xfrm>
        </p:spPr>
        <p:txBody>
          <a:bodyPr/>
          <a:lstStyle/>
          <a:p>
            <a:pPr marL="0" indent="0">
              <a:buNone/>
            </a:pPr>
            <a:r>
              <a:rPr lang="ru-RU" b="1" sz="1300">
                <a:solidFill>
                  <a:schemeClr val="tx1"/>
                </a:solidFill>
              </a:rPr>
              <a:t>Мелкое:</a:t>
            </a:r>
            <a:r>
              <a:rPr lang="ru-RU" sz="1300">
                <a:solidFill>
                  <a:schemeClr val="tx1"/>
                </a:solidFill>
              </a:rPr>
              <a:t xml:space="preserve"> кубы O на кэше 43–56 м; node-path 48–56 м без краевого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11200000" cy="712587"/>
          </a:xfrm>
        </p:spPr>
        <p:txBody>
          <a:bodyPr/>
          <a:lstStyle/>
          <a:p>
            <a:pPr marL="0" indent="0">
              <a:buNone/>
            </a:pPr>
            <a:r>
              <a:rPr lang="ru-RU" b="1" sz="1300">
                <a:solidFill>
                  <a:schemeClr val="tx1"/>
                </a:solidFill>
              </a:rPr>
              <a:t>Висящее:</a:t>
            </a:r>
            <a:r>
              <a:rPr lang="ru-RU" sz="1300">
                <a:solidFill>
                  <a:schemeClr val="tx1"/>
                </a:solidFill>
              </a:rPr>
              <a:t xml:space="preserve"> предмет 5 см — с 30 м; требуются более ранние STOP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/>
            <a:r>
              <a:rPr lang="ru-RU" sz="1500">
                <a:solidFill>
                  <a:srgbClr val="F92571"/>
                </a:solidFill>
              </a:rPr>
              <a:t>Калибровка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/>
            <a:r>
              <a:rPr lang="ru-RU" sz="1200">
                <a:solidFill>
                  <a:schemeClr val="tx1"/>
                </a:solidFill>
              </a:rPr>
              <a:t>Поддерживаемые ориентации; наклон по рельсам и полотну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/>
            <a:r>
              <a:rPr lang="ru-RU" sz="1500">
                <a:solidFill>
                  <a:srgbClr val="F92571"/>
                </a:solidFill>
              </a:rPr>
              <a:t>Свежесть данных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/>
            <a:r>
              <a:rPr lang="ru-RU" sz="1200">
                <a:solidFill>
                  <a:schemeClr val="tx1"/>
                </a:solidFill>
              </a:rPr>
              <a:t>нет актуального статуса → FAULT или удержание STOP; потребитель проверяет /resense/status своим таймером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/>
            <a:r>
              <a:rPr lang="ru-RU" sz="1500">
                <a:solidFill>
                  <a:srgbClr val="F92571"/>
                </a:solidFill>
              </a:rPr>
              <a:t>Вход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/>
            <a:r>
              <a:rPr lang="ru-RU" sz="1200">
                <a:solidFill>
                  <a:schemeClr val="tx1"/>
                </a:solidFill>
              </a:rPr>
              <a:t>Поиск PointCloud2; перезапуск на новой записи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/>
            <a:r>
              <a:rPr lang="ru-RU" sz="1500">
                <a:solidFill>
                  <a:srgbClr val="F92571"/>
                </a:solidFill>
              </a:rPr>
              <a:t>Воспроизводимо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/>
            <a:r>
              <a:rPr lang="ru-RU" sz="1200">
                <a:solidFill>
                  <a:schemeClr val="tx1"/>
                </a:solidFill>
              </a:rPr>
              <a:t>1 284 теста на путях numpy и C++ (выход совпадает бит в бит); CI: образ, архив, бэги через ноду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НАДЁЖНОСТЬ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pPr/>
            <a:r>
              <a:rPr lang="ru-RU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/>
            <a:r>
              <a:rPr lang="ru-RU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/>
            <a:r>
              <a:rPr lang="ru-RU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pPr/>
            <a:r>
              <a:rPr lang="ru-RU">
                <a:solidFill>
                  <a:schemeClr val="accent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/>
            <a:r>
              <a:rPr lang="ru-RU" sz="1600">
                <a:solidFill>
                  <a:srgbClr val="F92571"/>
                </a:solidFill>
              </a:rPr>
              <a:t>Что получилось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/>
            <a:r>
              <a:rPr lang="ru-RU" sz="1300">
                <a:solidFill>
                  <a:schemeClr val="tx1"/>
                </a:solidFill>
              </a:rPr>
              <a:t>Работающий ROS 2-модуль на CPU, офлайн-архив, решение и дистанция; реальные препятствия на демонстрационной записи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/>
            <a:r>
              <a:rPr lang="ru-RU" sz="1600">
                <a:solidFill>
                  <a:srgbClr val="F92571"/>
                </a:solidFill>
              </a:rPr>
              <a:t>Что дальше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/>
            <a:r>
              <a:rPr lang="ru-RU" sz="1300">
                <a:solidFill>
                  <a:schemeClr val="tx1"/>
                </a:solidFill>
              </a:rPr>
              <a:t>Закрыть пропуски столбов и кривых, подтвердить дальность по геометриям пути; независимая проверка новой печати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/>
            <a:r>
              <a:rPr lang="ru-RU" sz="1600">
                <a:solidFill>
                  <a:srgbClr val="F92571"/>
                </a:solidFill>
              </a:rPr>
              <a:t>Внедрение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/>
            <a:r>
              <a:rPr lang="ru-RU" sz="1300">
                <a:solidFill>
                  <a:schemeClr val="tx1"/>
                </a:solidFill>
              </a:rPr>
              <a:t>docker load → run → ros2 bag play. scripts/play_bag.sh — одной командой. Адаптер торможения требует разработки и проверки.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pPr/>
            <a:r>
              <a:rPr lang="ru-RU">
                <a:solidFill>
                  <a:schemeClr val="accent5"/>
                </a:solidFill>
              </a:rPr>
              <a:t>ИТОГИ И ПЛАНЫ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/>
            <a:r>
              <a:rPr lang="ru-RU" sz="440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/>
            <a:r>
              <a:rPr lang="ru-RU" sz="440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/>
            <a:r>
              <a:rPr lang="ru-RU" sz="440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 marL="0" indent="0">
              <a:buNone/>
            </a:pPr>
            <a:r>
              <a:rPr lang="ru-RU" sz="3600" b="1">
                <a:solidFill>
                  <a:srgbClr val="FF0053"/>
                </a:solidFill>
              </a:rPr>
              <a:t>13 759</a:t>
            </a:r>
          </a:p>
          <a:p>
            <a:pPr algn="l" marL="0" indent="0">
              <a:buNone/>
            </a:pPr>
            <a:r>
              <a:rPr lang="ru-RU" sz="1300">
                <a:solidFill>
                  <a:srgbClr val="1C1D22"/>
                </a:solidFill>
              </a:rPr>
              <a:t>реальных кадров · кэш шлюза 29.09</a:t>
            </a:r>
          </a:p>
          <a:p>
            <a:pPr algn="l" marL="0" indent="0">
              <a:spcBef>
                <a:spcPts val="1400"/>
              </a:spcBef>
              <a:buNone/>
            </a:pPr>
            <a:r>
              <a:rPr lang="ru-RU" sz="3600" b="1">
                <a:solidFill>
                  <a:srgbClr val="FF0053"/>
                </a:solidFill>
              </a:rPr>
              <a:t>61 из 61</a:t>
            </a:r>
          </a:p>
          <a:p>
            <a:pPr algn="l" marL="0" indent="0">
              <a:buNone/>
            </a:pPr>
            <a:r>
              <a:rPr lang="ru-RU" sz="1300">
                <a:solidFill>
                  <a:srgbClr val="1C1D22"/>
                </a:solidFill>
              </a:rPr>
              <a:t>кадра с человеком в габарите</a:t>
            </a:r>
          </a:p>
          <a:p>
            <a:pPr algn="l" marL="0" indent="0">
              <a:spcBef>
                <a:spcPts val="1400"/>
              </a:spcBef>
              <a:buNone/>
            </a:pPr>
            <a:r>
              <a:rPr lang="ru-RU" sz="3600" b="1">
                <a:solidFill>
                  <a:srgbClr val="FF0053"/>
                </a:solidFill>
              </a:rPr>
              <a:t>2,1 на км</a:t>
            </a:r>
          </a:p>
          <a:p>
            <a:pPr algn="l" marL="0" indent="0">
              <a:buNone/>
            </a:pPr>
            <a:r>
              <a:rPr lang="ru-RU" sz="1300">
                <a:solidFill>
                  <a:srgbClr val="1C1D22"/>
                </a:solidFill>
              </a:rPr>
              <a:t>события на кэше (27 за 13 км), в выборке; не node-path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b="1" sz="1200">
                <a:solidFill>
                  <a:schemeClr val="tx1"/>
                </a:solidFill>
              </a:rPr>
              <a:t>Реальное:</a:t>
            </a:r>
            <a:r>
              <a:rPr lang="ru-RU" sz="1200">
                <a:solidFill>
                  <a:schemeClr val="tx1"/>
                </a:solidFill>
              </a:rPr>
              <a:t xml:space="preserve"> STOP 193 из 201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b="1" sz="1200">
                <a:solidFill>
                  <a:schemeClr val="tx1"/>
                </a:solidFill>
              </a:rPr>
              <a:t>Пять пустых записей:</a:t>
            </a:r>
            <a:r>
              <a:rPr lang="ru-RU" sz="1200">
                <a:solidFill>
                  <a:schemeClr val="tx1"/>
                </a:solidFill>
              </a:rPr>
              <a:t xml:space="preserve"> 8 событий на кэше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b="1" sz="1200">
                <a:solidFill>
                  <a:schemeClr val="tx1"/>
                </a:solidFill>
              </a:rPr>
              <a:t>Синтетика организаторов:</a:t>
            </a:r>
            <a:r>
              <a:rPr lang="ru-RU" sz="1200">
                <a:solidFill>
                  <a:schemeClr val="tx1"/>
                </a:solidFill>
              </a:rPr>
              <a:t xml:space="preserve"> STOP у 8 из 8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b="1" sz="1200">
                <a:solidFill>
                  <a:schemeClr val="tx1"/>
                </a:solidFill>
              </a:rPr>
              <a:t>13.10, node-path:</a:t>
            </a:r>
            <a:r>
              <a:rPr lang="ru-RU" sz="1200">
                <a:solidFill>
                  <a:schemeClr val="tx1"/>
                </a:solidFill>
              </a:rPr>
              <a:t xml:space="preserve"> поездка ≈2,5 эпизода/км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b="1" sz="1200">
                <a:solidFill>
                  <a:schemeClr val="tx1"/>
                </a:solidFill>
              </a:rPr>
              <a:t>13.10, 4 vCPU, нода 360°:</a:t>
            </a:r>
            <a:r>
              <a:rPr lang="ru-RU" sz="1200">
                <a:solidFill>
                  <a:schemeClr val="tx1"/>
                </a:solidFill>
              </a:rPr>
              <a:t xml:space="preserve"> p95 111 мс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РЕЗУЛЬТАТЫ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4825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b="1" sz="1500">
                <a:solidFill>
                  <a:schemeClr val="tx1"/>
                </a:solidFill>
              </a:rPr>
              <a:t>Доска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доска — с 87 м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b="1" sz="1500">
                <a:solidFill>
                  <a:schemeClr val="tx1"/>
                </a:solidFill>
              </a:rPr>
              <a:t>Верх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56 из 124; непрерывно с 111 м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b="1" sz="1500">
                <a:solidFill>
                  <a:schemeClr val="tx1"/>
                </a:solidFill>
              </a:rPr>
              <a:t>Кубы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Кэш: 43–56 м; node-path: 48–56 м.</a:t>
            </a: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1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4465516" cy="376138"/>
          </a:xfrm>
        </p:spPr>
        <p:txBody>
          <a:bodyPr/>
          <a:lstStyle/>
          <a:p>
            <a:pPr/>
            <a:r>
              <a:rPr lang="ru-RU"/>
              <a:t>ОБЪЕКТЫ ОРГАНИЗАТОРОВ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075" y="5566258"/>
            <a:ext cx="5749925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ru-RU" sz="1000">
                <a:solidFill>
                  <a:srgbClr val="E6E1F5"/>
                </a:solidFill>
              </a:rPr>
              <a:t>Синтетика; кэш 29.09. Сиреневый: неустойчиво.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600">
                <a:solidFill>
                  <a:schemeClr val="accent5"/>
                </a:solidFill>
              </a:rPr>
              <a:t>Только синтетика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chemeClr val="accent5"/>
                </a:solidFill>
              </a:rPr>
              <a:t>Прямая поездка; знакомые фоны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600">
                <a:solidFill>
                  <a:schemeClr val="accent5"/>
                </a:solidFill>
              </a:rPr>
              <a:t>Первый STOP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chemeClr val="accent5"/>
                </a:solidFill>
              </a:rPr>
              <a:t>Медиана; не гарантия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600">
                <a:solidFill>
                  <a:schemeClr val="accent5"/>
                </a:solidFill>
              </a:rPr>
              <a:t>Кривые и двухпутность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chemeClr val="accent5"/>
                </a:solidFill>
              </a:rPr>
              <a:t>Дальность короче; см. SCORECARD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/>
            <a:r>
              <a:rPr lang="ru-RU" sz="1600">
                <a:solidFill>
                  <a:schemeClr val="accent5"/>
                </a:solidFill>
              </a:rPr>
              <a:t>После J1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 sz="1200">
                <a:solidFill>
                  <a:schemeClr val="accent5"/>
                </a:solidFill>
              </a:rPr>
              <a:t>График геометрий новой печати</a:t>
            </a: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ДАЛЬНОСТЬ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075" y="5820000"/>
            <a:ext cx="580000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ru-RU" sz="1000">
                <a:solidFill>
                  <a:srgbClr val="6B6B6B"/>
                </a:solidFill>
              </a:rPr>
              <a:t>Кэш 29.09 · синтетика команды. График геометрий — после J1.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005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600">
                <a:solidFill>
                  <a:srgbClr val="FF0053"/>
                </a:solidFill>
              </a:rPr>
              <a:t>Проблема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ru-RU" sz="1300">
                <a:solidFill>
                  <a:schemeClr val="tx1"/>
                </a:solidFill>
              </a:rPr>
              <a:t>Беспилотному поезду нужно видеть препятствия заранее. Реальных размеченных объектов почти нет.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600">
                <a:solidFill>
                  <a:srgbClr val="FF0053"/>
                </a:solidFill>
              </a:rPr>
              <a:t>Альтернативы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ru-RU" sz="1300">
                <a:solidFill>
                  <a:schemeClr val="tx1"/>
                </a:solidFill>
              </a:rPr>
              <a:t>3D-детектору нужны примеры препятствий; карте — локализация и повторный проезд.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600">
                <a:solidFill>
                  <a:srgbClr val="FF0053"/>
                </a:solidFill>
              </a:rPr>
              <a:t>Наше решение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ru-RU" sz="1300">
                <a:solidFill>
                  <a:schemeClr val="tx1"/>
                </a:solidFill>
              </a:rPr>
              <a:t>Описать нормальный тоннель по рельсам и стенам. Искать постороннее внутри габарита без карты. Проверять дальность по геометриям пути.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ПРОБЛЕМА И ПОДХОД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accent5"/>
                </a:solidFill>
              </a:rPr>
              <a:t>Автокалибровка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ориентация и наклон по рельсам и полотну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accent5"/>
                </a:solidFill>
              </a:rPr>
              <a:t>Габарит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коридор 2,1 × 3,0 м вдоль оси пути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accent5"/>
                </a:solidFill>
              </a:rPr>
              <a:t>Решение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подтверждение 0,5 с → GO / CAUTION / STOP / FAULT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accent5"/>
                </a:solidFill>
              </a:rPr>
              <a:t>Модель пути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полотно, рельсы, ось; кривизна по стенам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sz="1500">
                <a:solidFill>
                  <a:schemeClr val="accent5"/>
                </a:solidFill>
              </a:rPr>
              <a:t>Кластеры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 sz="1100">
                <a:solidFill>
                  <a:schemeClr val="tx1"/>
                </a:solidFill>
              </a:rPr>
              <a:t>адаптивный радиус; проверка инфраструктуры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АЛГОРИТМ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ru-RU" sz="100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localhost:8080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/>
              <a:r>
                <a:rPr lang="ru-RU" sz="100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docker run resense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/>
            <a:r>
              <a:rPr lang="ru-RU" sz="1400">
                <a:solidFill>
                  <a:schemeClr val="tx1"/>
                </a:solidFill>
              </a:rPr>
              <a:t>Дашборд по статусу ноды: doubleT_obstacle, STOP 56,1 м. Живой поток — через rosbridge.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/>
            <a:r>
              <a:rPr lang="ru-RU" sz="1400">
                <a:solidFill>
                  <a:schemeClr val="tx1"/>
                </a:solidFill>
              </a:rPr>
              <a:t>Запасной показ: Docker + RViz, STOP около 56 м. Архив 23.09, 69 с; не текущий прогон.</a:t>
            </a:r>
          </a:p>
        </p:txBody>
      </p:sp>
      <p:pic>
        <p:nvPicPr>
          <p:cNvPr id="5" name="Рисунок 4" descr="dashboard-cab-real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743" b="743"/>
          <a:stretch>
            <a:fillRect/>
          </a:stretch>
        </p:blipFill>
        <p:spPr/>
      </p:pic>
      <p:pic>
        <p:nvPicPr>
          <p:cNvPr id="6" name="Рисунок 5" descr="docker_chain_rviz.jpg"/>
          <p:cNvPicPr>
            <a:picLocks noGrp="1" noChangeAspect="1"/>
          </p:cNvPicPr>
          <p:nvPr>
            <p:ph type="pic" sz="quarter" idx="18"/>
          </p:nvPr>
        </p:nvPicPr>
        <p:blipFill>
          <a:blip r:embed="rId4"/>
          <a:srcRect t="743" b="743"/>
          <a:stretch>
            <a:fillRect/>
          </a:stretch>
        </p:blipFill>
        <p:spPr/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pPr/>
            <a:r>
              <a:rPr lang="ru-RU"/>
              <a:t>ДЕМОНСТРАЦИЯ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0643" y="5640000"/>
            <a:ext cx="9770000" cy="6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ru-RU" b="1" sz="1600">
                <a:solidFill>
                  <a:srgbClr val="520978"/>
                </a:solidFill>
              </a:rPr>
              <a:t>docker load → docker run → ros2 bag play → /resense/decision</a:t>
            </a:r>
          </a:p>
          <a:p>
            <a:pPr algn="ctr">
              <a:spcBef>
                <a:spcPts val="400"/>
              </a:spcBef>
            </a:pPr>
            <a:r>
              <a:rPr lang="ru-RU" sz="1200">
                <a:solidFill>
                  <a:srgbClr val="520978"/>
                </a:solidFill>
              </a:rPr>
              <a:t>или одной командой: scripts/play_bag.sh путь_к_бэгу [--archive resense-image-версия.tar.gz]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ReSense — ЛЦТ 2026, кейс 05: посторонние объекты в тоннеле метро по данным 3D-лидара</dc:title>
  <dc:creator>Команда «Молоток»</dc:creator>
  <cp:lastModifiedBy>Команда «Молоток»</cp:lastModifiedBy>
  <cp:revision>95</cp:revision>
  <dcterms:created xsi:type="dcterms:W3CDTF">2023-05-15T07:36:23Z</dcterms:created>
  <dcterms:modified xsi:type="dcterms:W3CDTF">2026-09-14T11:14:59Z</dcterms:modified>
  <dc:subject>Лидеры цифровой трансформации 2026</dc:subject>
  <cp:keywords>LiDAR, ROS 2, метро, габарит, обнаружение препятствий</cp:keywords>
</cp:coreProperties>
</file>