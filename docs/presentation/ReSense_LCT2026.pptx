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olors1.xml" ContentType="application/vnd.ms-office.chartcolorstyle+xml"/>
  <Override PartName="/ppt/charts/colors2.xml" ContentType="application/vnd.ms-office.chartcolorstyle+xml"/>
  <Override PartName="/ppt/charts/style1.xml" ContentType="application/vnd.ms-office.chart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369" r:id="rId13"/>
    <p:sldId id="267" r:id="rId26"/>
    <p:sldId id="372" r:id="rId14"/>
    <p:sldId id="270" r:id="rId28"/>
    <p:sldId id="262" r:id="rId21"/>
    <p:sldId id="266" r:id="rId23"/>
    <p:sldId id="263" r:id="rId22"/>
    <p:sldId id="371" r:id="rId17"/>
    <p:sldId id="370" r:id="rId16"/>
    <p:sldId id="374" r:id="rId18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8" Type="http://schemas.openxmlformats.org/officeDocument/2006/relationships/slide" Target="slides/slide27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_____Microsoft_Excel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первый STOP, м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dPt>
            <c:idx val="0"/>
            <c:spPr>
              <a:solidFill>
                <a:srgbClr val="FF0053"/>
              </a:solidFill>
            </c:spPr>
          </c:dPt>
          <c:dPt>
            <c:idx val="1"/>
            <c:spPr>
              <a:solidFill>
                <a:srgbClr val="8A83D1"/>
              </a:solidFill>
            </c:spPr>
          </c:dPt>
          <c:dPt>
            <c:idx val="2"/>
            <c:spPr>
              <a:solidFill>
                <a:srgbClr val="FF0053"/>
              </a:solidFill>
            </c:spPr>
          </c:dPt>
          <c:dPt>
            <c:idx val="3"/>
            <c:spPr>
              <a:solidFill>
                <a:srgbClr val="FF0053"/>
              </a:solidFill>
            </c:spPr>
          </c:dPt>
          <c:dPt>
            <c:idx val="4"/>
            <c:spPr>
              <a:solidFill>
                <a:srgbClr val="FF0053"/>
              </a:solidFill>
            </c:spPr>
          </c:dPt>
          <c:dPt>
            <c:idx val="5"/>
            <c:spPr>
              <a:solidFill>
                <a:srgbClr val="FF0053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Pt>
            <c:idx val="7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висящий предмет 5 см</c:v>
                </c:pt>
                <c:pt idx="1">
                  <c:v>ящик 2 × 2 м у края</c:v>
                </c:pt>
                <c:pt idx="2">
                  <c:v>куб 0,3 м у края</c:v>
                </c:pt>
                <c:pt idx="3">
                  <c:v>куб 0,3 м в воздухе</c:v>
                </c:pt>
                <c:pt idx="4">
                  <c:v>куб 0,3 м на рельсе</c:v>
                </c:pt>
                <c:pt idx="5">
                  <c:v>доска поперёк рельсов</c:v>
                </c:pt>
                <c:pt idx="6">
                  <c:v>ящик 2 × 2 м в центре</c:v>
                </c:pt>
                <c:pt idx="7">
                  <c:v>ящик 2 × 2 м, верх габарита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30</c:v>
                </c:pt>
                <c:pt idx="1">
                  <c:v>18</c:v>
                </c:pt>
                <c:pt idx="2">
                  <c:v>35</c:v>
                </c:pt>
                <c:pt idx="3">
                  <c:v>56</c:v>
                </c:pt>
                <c:pt idx="4">
                  <c:v>43</c:v>
                </c:pt>
                <c:pt idx="5">
                  <c:v>87</c:v>
                </c:pt>
                <c:pt idx="6">
                  <c:v>98</c:v>
                </c:pt>
                <c:pt idx="7">
                  <c:v>111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15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1"/>
          <c:order val="0"/>
          <c:tx>
            <c:strRef>
              <c:f>Sheet1!$B$1</c:f>
              <c:strCache>
                <c:ptCount val="1"/>
                <c:pt idx="0">
                  <c:v>первое подтверждение, м</c:v>
                </c:pt>
              </c:strCache>
            </c:strRef>
          </c:tx>
          <c:spPr>
            <a:solidFill>
              <a:schemeClr val="accent2"/>
            </a:solidFill>
            <a:ln w="63500">
              <a:solidFill>
                <a:schemeClr val="accent2"/>
              </a:solidFill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FC3777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92C0-E743-BC6B-AB142BB83263}"/>
              </c:ext>
            </c:extLst>
          </c:dPt>
          <c:dPt>
            <c:idx val="1"/>
            <c:invertIfNegative val="0"/>
            <c:bubble3D val="0"/>
            <c:spPr>
              <a:solidFill>
                <a:srgbClr val="FFD6E4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B35E-4C45-8CA2-C11611997942}"/>
              </c:ext>
            </c:extLst>
          </c:dPt>
          <c:dPt>
            <c:idx val="2"/>
            <c:invertIfNegative val="0"/>
            <c:bubble3D val="0"/>
            <c:spPr>
              <a:solidFill>
                <a:srgbClr val="8A83D1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B35E-4C45-8CA2-C11611997942}"/>
              </c:ext>
            </c:extLst>
          </c:dPt>
          <c:dPt>
            <c:idx val="3"/>
            <c:invertIfNegative val="0"/>
            <c:bubble3D val="0"/>
            <c:spPr>
              <a:solidFill>
                <a:srgbClr val="520978"/>
              </a:solidFill>
              <a:ln w="63500"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B35E-4C45-8CA2-C11611997942}"/>
              </c:ext>
            </c:extLst>
          </c:dPt>
          <c:dPt>
            <c:idx val="4"/>
            <c:spPr>
              <a:solidFill>
                <a:srgbClr val="310F53"/>
              </a:solidFill>
            </c:spPr>
          </c:dPt>
          <c:dPt>
            <c:idx val="5"/>
            <c:spPr>
              <a:solidFill>
                <a:srgbClr val="FC3777"/>
              </a:solidFill>
            </c:spPr>
          </c:dPt>
          <c:dPt>
            <c:idx val="6"/>
            <c:spPr>
              <a:solidFill>
                <a:srgbClr val="FF0053"/>
              </a:solidFill>
            </c:spPr>
          </c:dPt>
          <c:dLbls>
            <c:numFmt formatCode="0&quot; м&quot;" sourceLinked="0"/>
            <c:txPr>
              <a:bodyPr/>
              <a:lstStyle/>
              <a:p>
                <a:pPr>
                  <a:defRPr sz="12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предмет поперёк рельса</c:v>
                </c:pt>
                <c:pt idx="1">
                  <c:v>ящик 30 см на рельсе</c:v>
                </c:pt>
                <c:pt idx="2">
                  <c:v>висящий кабель 3 см</c:v>
                </c:pt>
                <c:pt idx="3">
                  <c:v>ящик 1 м</c:v>
                </c:pt>
                <c:pt idx="4">
                  <c:v>тележка</c:v>
                </c:pt>
                <c:pt idx="5">
                  <c:v>человек 1,7 м</c:v>
                </c:pt>
                <c:pt idx="6">
                  <c:v>человек 1,7 м · от рельсов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46</c:v>
                </c:pt>
                <c:pt idx="1">
                  <c:v>49</c:v>
                </c:pt>
                <c:pt idx="2">
                  <c:v>95</c:v>
                </c:pt>
                <c:pt idx="3">
                  <c:v>111</c:v>
                </c:pt>
                <c:pt idx="4">
                  <c:v>144</c:v>
                </c:pt>
                <c:pt idx="5">
                  <c:v>148</c:v>
                </c:pt>
                <c:pt idx="6">
                  <c:v>154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numFmt formatCode="0&quot; м&quot;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axId val="1688540351"/>
        <c:axId val="1173587135"/>
      </c:barChart>
      <c:catAx>
        <c:axId val="1688540351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tickLblSkip val="1"/>
        <c:noMultiLvlLbl val="0"/>
      </c:catAx>
      <c:valAx>
        <c:axId val="1173587135"/>
        <c:scaling>
          <c:orientation val="minMax"/>
          <c:max val="200.0"/>
          <c:min val="0.0"/>
        </c:scaling>
        <c:delete val="0"/>
        <c:axPos val="b"/>
        <c:majorGridlines>
          <c:spPr>
            <a:ln w="9525" cap="flat" cmpd="sng" algn="ctr">
              <a:solidFill>
                <a:schemeClr val="tx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50.0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tx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Роли: капитан — ROS 2, Docker и интеграция; визуализация и презентация; компьютерное зрение — модель пути и трекинг; данные, синтетика, метрики и тесты. Каждый отвечал за свою часть, код общий.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Почему эта задача: метро — наша ежедневная дорога, а препятствий в данных почти нет, поэтому мы не учим сеть на объектах, а описываем нормальный тоннель. Главные трудности — ложные остановки на станциях и разные записи; обе решены в самой системе.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— команда «Молоток», четверо друзей из одного лицея; на конкурсы всегда выходим этим составом. Наше решение называется ReSense. Одной фразой: описываем нормальный тоннель и сообщаем всё, что попадает в габарит поезда.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Одной фразой: описываем нормальный тоннель и сообщаем всё, что попадает в габарит поезда. Работает в ROS 2 и Docker. Решает геометрия; обученная часть одна — «мнение» о треке, и оно может только отложить сомнительный STOP, не больше чем на 10 кадров (~1 с), но не отменить его. GPU мы оценили и не используем: выигрыш — десятки миллисекунд, а контейнер с запросом GPU не стартует на машине без nvidia-container-toolkit.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Почему не нейросеть: реальных препятствий в данных почти нет, а на 100+ м у объекта единицы точек. Геометрия среды переносится между тоннелями, внешний вид объектов —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Все числа дальше — на всех 13 759 кадрах организаторов. Каждая запись обрывается на 209–210 м: дальше в тоннеле нет ни одного отражения, и это предел для любого алгоритма на этих данных.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Пять шагов на каждый кадр, 18–23 мс в среднем на одном ядре; это с необязательными ядрами на C++, без них время детектора в 1,6–2,3 раза больше при том же выходе бит в бит. Калибровка крепления — сама, по рельсам; кривизна — по стенам, поэтому коридор осмыслен и там, где рельсов уже не видно.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Вот тоннель — двухпутный, поезд стоит, лидар на кабине. Вот облако: 350 тысяч точек за 0,1 с. Зелёным — габарит поезда, который алгоритм сам протянул вдоль оси пути по рельсам и стенам. Жёлтым — всё, что попало в коридор. И вот человек, который переходит путь: красная рамка, 55,8 метра, решение STOP. Справа — его точки крупно. Когда человек уходит, на рельсе остаётся предмет 45 × 60 × 30 см — его алгоритм тоже держит.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Цепочка организаторов прогнана в Docker на реальных записях: узел в одном контейнере, bag play из другого, от обычного пользователя. Решение — топик /resense/decision: GO, CAUTION, STOP, FAULT. Слева — наш дашборд: вид из кабины по статусу того же узла.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Человек на пути — 61 из 61 кадра, тревога с первого кадра в габарите; все добавленные кадры — от отсчёта по оси лидара, как у организаторов, по габариту от рельсов было бы 58. Предмет на рельсе — 125 из 126. Ложных событий в 20-минутной поездке — 1,8 на км, но это на тех же данных, где мы подбирали правила и откуда взяты отрицательные примеры «мнения» о треке; без «мнения» одни правила дают 43 события. Если «мнение» обучать без проверяемого куска поездки, остаётся до 33 из 42 событий, это 2,5 на км. На объектах организаторов большой ящик — с 98 м, кубы 30 см — с 43–56 м, у края — с 35 и 18 м. Проверка, на которой мы ничего не настраивали и которую заявили заранее, — те же объекты организаторов на новых местах: 723 из 2 458 кадров (было 544). Это новые сочетания знакомых форм и фонов, а не новые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Первое подтверждение человека — 148 м, медиана шести подходов. В пяти парных подходах — 150 м, а если ставить его по ближним рельсам, а не по нашей же дальней оси, — 154 м: дальность на прямой не зависит от оси детектора. Со скоростью поезда — 167 м; свою скорость мы меряем по лидару с ошибкой 0,07 м/с, но раньше STOP она не даёт, поэтому это опция. Дальше 210 м отражений нет. Всё это синтетика в реальных кадрах поездки.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единственная внешняя проверка — объекты, которые вставили сами организаторы, поезд едет к ним до 20 м/с. Большой ящик — с первого появления, 98 м; доска поперёк рельсов — с 87 м. Кубы 30 см — только с 43–56 м: на 60–115 м от них 2–4 точки в кадре. Висящий предмет 5 см — с 30 м; ящик у верха габарита — непрерывно с 111 м. У края — с 35 и 18 м; трек ящика у края — STOP с 28,7 м, а счётчик засчитывает кадры с 18 м: он ищет обнаружение в метре от центра двухметрового ящика. Организаторы ставили объекты от оси лидара, и ближе 60 м на прямой точку в габарите мы засчитываем и по ней. Габарит от рельсов при этом нигде не сужается — только добавляется; прирост есть потому, что организаторы меряют от оси, а вопрос, от рельсов или от оси, открыт: без этого куб у края — лишь с 5,2 м. Дальние слабые треки дали ящику у верха габарита и доске 111 и 87 м вместо 101 и 82.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Надёжность: сами находим крепление и вход, при проблемах с данными говорим FAULT, а не молчим. Ложный STOP на пустой сцене больше не зависит от того, как узел получал кадры: в записанных историях узла — 0 (было 2), в стресс-тесте с пропусками и догонялками — 51 событие (было 78).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 не сработало и почему: полотно полно железа, станции — главный источник ложных остановок, мелкие объекты организаторов видим поздно, тонкие — только вблизи. «Мнение» о треке обучено на синтетике: непохожий реальный объект — мусор, лежащий человек — оно может задержать, но не больше 10 кадров (~1 с) за жизнь трека, не ближе 25 м и не для стоящего тела ≥ 1 м ближе 40 м, и никогда не отменяет STOP; с двойным запасом порога в поездке было бы 36 событий вместо 24. После независимой проверки первой версии (два независимых судьи) исправили три вещи: габарит стал объединением — от рельсов нигде не уже; задержку «мнения» ограничили; дальний слабый трек, пока не приближается, — CAUTION, а не скрыт.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работающий модуль, честные цифры, понятные следующие шаги — мелкие объекты раньше, скорость от одометрии и замер на 8-ядерной машине.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/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/>
            </a:r>
          </a:p>
          <a:p>
            <a:pPr lvl="0"/>
            <a:r>
              <a:rPr lang="en-US" dirty="0"/>
              <a:t/>
            </a:r>
          </a:p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/>
            </a:r>
          </a:p>
          <a:p>
            <a:pPr lvl="1"/>
            <a:r>
              <a:rPr lang="ru-RU" dirty="0"/>
              <a:t/>
            </a:r>
          </a:p>
          <a:p>
            <a:pPr lvl="2"/>
            <a:r>
              <a:rPr lang="ru-RU" dirty="0"/>
              <a:t/>
            </a:r>
          </a:p>
          <a:p>
            <a:pPr lvl="3"/>
            <a:r>
              <a:rPr lang="ru-RU" dirty="0"/>
              <a:t/>
            </a:r>
          </a:p>
          <a:p>
            <a:pPr lvl="4"/>
            <a:r>
              <a:rPr lang="ru-RU" dirty="0"/>
              <a:t/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/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/>
            </a:r>
          </a:p>
          <a:p>
            <a:pPr lvl="1"/>
            <a:r>
              <a:rPr lang="ru-RU"/>
              <a:t/>
            </a:r>
          </a:p>
          <a:p>
            <a:pPr lvl="2"/>
            <a:r>
              <a:rPr lang="ru-RU"/>
              <a:t/>
            </a:r>
          </a:p>
          <a:p>
            <a:pPr lvl="3"/>
            <a:r>
              <a:rPr lang="ru-RU"/>
              <a:t/>
            </a:r>
          </a:p>
          <a:p>
            <a:pPr lvl="4"/>
            <a:r>
              <a:rPr lang="ru-RU"/>
              <a:t/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  <p:txBody>
          <a:bodyPr/>
          <a:p/>
        </p:txBody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  <p:txBody>
          <a:bodyPr/>
          <a:p/>
        </p:txBody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2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Relationship Id="rId3" Type="http://schemas.openxmlformats.org/officeDocument/2006/relationships/image" Target="../media/image827.jpg"/><Relationship Id="rId4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0.png"/><Relationship Id="rId3" Type="http://schemas.openxmlformats.org/officeDocument/2006/relationships/notesSlide" Target="../notesSlides/notesSlide1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notesSlide" Target="../notesSlides/notesSlide1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0.png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4.png"/><Relationship Id="rId3" Type="http://schemas.openxmlformats.org/officeDocument/2006/relationships/image" Target="../media/image828.png"/><Relationship Id="rId4" Type="http://schemas.openxmlformats.org/officeDocument/2006/relationships/image" Target="../media/image829.jpg"/><Relationship Id="rId5" Type="http://schemas.openxmlformats.org/officeDocument/2006/relationships/notesSlide" Target="../notesSlides/notesSlide10.xml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800"/>
              <a:t>Молоток</a:t>
            </a:r>
          </a:p>
        </p:txBody>
      </p:sp>
      <p:pic>
        <p:nvPicPr>
          <p:cNvPr id="4" name="Рисунок 3" descr="image.png"/>
          <p:cNvPicPr>
            <a:picLocks noGrp="1" noChangeAspect="1"/>
          </p:cNvPicPr>
          <p:nvPr>
            <p:ph type="pic" sz="quarter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305186" y="535493"/>
            <a:ext cx="2455420" cy="671205"/>
          </a:xfrm>
        </p:spPr>
      </p:pic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pPr indent="0" marL="268288"/>
            <a:r>
              <a:rPr lang="ru-RU" sz="1500"/>
              <a:t>Кейс 05 · решение ReSense</a:t>
            </a:r>
          </a:p>
          <a:p>
            <a:pPr indent="0" marL="268288"/>
            <a:r>
              <a:rPr lang="ru-RU" sz="1500"/>
              <a:t>Обнаружение посторонних объектов в тоннеле метро по данным 3D-лидара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135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Описываем среду, а не объекты: крепление лидара и ось пути калибруются по рельсам в каждом кадре, кривизна — по стенам и рядам колонн, поэтому коридор осмыслен и там, где рельсов уже не видно. Публикуем оценку дальности контроля; возможны пропуски объектов. Настройка и оценка — на препятствиях, вставленных трассировкой лучей в реальные кадры.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Капитан:</a:t>
            </a:r>
            <a:r>
              <a:rPr lang="ru-RU">
                <a:solidFill>
                  <a:schemeClr val="tx1"/>
                </a:solidFill>
              </a:rPr>
              <a:t xml:space="preserve"> &lt;ФИО&gt;, &lt;специальность&gt;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Кол-во участников:</a:t>
            </a:r>
            <a:r>
              <a:rPr lang="ru-RU">
                <a:solidFill>
                  <a:schemeClr val="tx1"/>
                </a:solidFill>
              </a:rPr>
              <a:t xml:space="preserve"> 4 человека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Краткое описание: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&lt;как образовалась команда&gt;</a:t>
            </a:r>
          </a:p>
          <a:p>
            <a:pPr rtl="0" marL="289376" indent="-144688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–"/>
            </a:pPr>
            <a:r>
              <a:rPr lang="ru-RU">
                <a:solidFill>
                  <a:schemeClr val="tx1"/>
                </a:solidFill>
              </a:rPr>
              <a:t>место учёбы: &lt;место учёбы / работы&gt;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>
                <a:solidFill>
                  <a:schemeClr val="tx1"/>
                </a:solidFill>
              </a:rPr>
              <a:t>Город и регион:</a:t>
            </a:r>
            <a:r>
              <a:rPr lang="ru-RU">
                <a:solidFill>
                  <a:schemeClr val="tx1"/>
                </a:solidFill>
              </a:rPr>
              <a:t xml:space="preserve"> &lt;город&gt;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pPr/>
            <a:r>
              <a:rPr lang="ru-RU" sz="2400">
                <a:solidFill>
                  <a:schemeClr val="accent5"/>
                </a:solidFill>
                <a:latin typeface="+mn-lt"/>
              </a:rPr>
              <a:t>КОМАНДА «Молоток»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17800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sz="1200">
                <a:solidFill>
                  <a:schemeClr val="tx1"/>
                </a:solidFill>
              </a:rPr>
              <a:t>ROS 2-модуль: по потоку 3D-лидара 10 раз в секунду строит модель «нормального тоннеля» — полотно, рельсы, ось пути с кривизной по стенам, — проверяет габарит поезда 2,1 × 3,0 м и отвечает GO / CAUTION / STOP / FAULT с расстоянием до препятствия. Решает геометрия; обученное «мнение» о треке лишь откладывает сомнительный STOP, не больше чем на ~1 с. Без GPU, в Docker.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8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384698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401926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Визуализация, демо, презентация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401926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615230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632458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Компьютерное зрение: модель пути, трекинг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632458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845762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862990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Данные, синтетика, метрики, тесты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862990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154166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9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7698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408205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638737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8715798" y="1809238"/>
            <a:ext cx="1722567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КОМАНДА «Молоток»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171395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Капитан · ROS 2, Docker, интеграция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&lt;@ник&gt;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100">
                <a:solidFill>
                  <a:schemeClr val="tx1"/>
                </a:solidFill>
              </a:rPr>
              <a:t>&lt;место учёбы / работы&gt;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171394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>
                <a:solidFill>
                  <a:schemeClr val="accent5"/>
                </a:solidFill>
              </a:rPr>
              <a:t>&lt;Имя Фамилия&gt;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pPr/>
            <a:r>
              <a:rPr lang="ru-RU">
                <a:latin typeface="+mn-lt"/>
              </a:rPr>
              <a:t>ИСТОРИЯ КОМАНДЫ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Четыре инженерных направления — ROS 2 и интеграция, визуализация, компьютерное зрение, данные и тесты — собраны вокруг задачи контроля габарита тоннеля по 3D-лидару.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Препятствий в записях почти нет — «ставили» людей и ящики в реальные кадры трассировкой лучей лидара; эти примеры оцениваются отдельно от реальных записей. Станции и стрелки давали ложные остановки — помогли ось по стенам, зона доверия и подтверждение 0,5 с. Записи разные (два топика, 120° и 360°, наклон крепления 3°) — узел сам находит вход и калибруется по рельсам.</a:t>
            </a: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200">
                <a:solidFill>
                  <a:schemeClr val="tx1"/>
                </a:solidFill>
              </a:rPr>
              <a:t>В записях почти нет реальных препятствий, а станции и стрелки похожи на объекты. Поэтому система оценивает геометрию тоннеля и ищет препятствия в габарите; пропуски возможны и в пределах расчётной дальности контроля.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11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ROS 2 Humble-узел на Python (numpy / scipy / scikit-learn) и необязательные ядра на C++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Вход — PointCloud2 любого из двух наборов топик / frame_id; выход — решение GO / CAUTION / STOP / FAULT, дистанция до препятствия и оценка дальности контроля, Detection3DArray, маркеры RViz, JSON-статус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 каждом кадре: автокалибровка крепления → модель пути (полотно, рельсы, ось, кривизна по стенам) → габарит 2,1 × 3,0 м + низкие объекты на рельсах → кластеры → фильтры инфраструктуры → подтверждение 0,5 с и «мнение» о треке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18–23 мс на кадр (p95 ≤ 33 мс; с декодированием облака p95 ≤ 48 мс) на одном ядре с ядрами на C++ (они сокращают время детектора на 38–57 %, выход тот же)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Все 13 759 реальных кадров: человек на пути найден в 61 из 61 кадра (от рельсов — 58), 1,8 ложных события на км поездки — на ней же подбирались правила (отложенная проверка «мнения» — до 2,5)</a:t>
            </a:r>
          </a:p>
          <a:p>
            <a:pPr>
              <a:spcBef>
                <a:spcPts val="400"/>
              </a:spcBef>
            </a:pPr>
            <a:r>
              <a:rPr lang="ru-RU" sz="1200">
                <a:solidFill>
                  <a:schemeClr val="tx1"/>
                </a:solidFill>
              </a:rPr>
              <a:t>Только CPU: GPU оценили и не берём — выигрыш ≤ 30–45 мс на кадр, а контейнер с GPU не стартует без nvidia-container-toolkit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Применение:</a:t>
            </a:r>
            <a:r>
              <a:rPr lang="ru-RU" sz="1200">
                <a:solidFill>
                  <a:schemeClr val="tx1"/>
                </a:solidFill>
              </a:rPr>
              <a:t xml:space="preserve"> «взгляд вперёд» для беспилотного поезда (GoA3/4) и хозяйственных поездов; контроль габарита при обкатке линий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Развитие:</a:t>
            </a:r>
            <a:r>
              <a:rPr lang="ru-RU" sz="1200">
                <a:solidFill>
                  <a:schemeClr val="tx1"/>
                </a:solidFill>
              </a:rPr>
              <a:t xml:space="preserve"> скорость поезда от одометрии — узел её уже принимает (своя оценка по лидару: ошибка 0,07 м/с, пока опция); опора высоты по своду тоннеля — мелкие объекты дальше 100 м; «мнение» о треке — переобучить на реальных препятствиях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ru-RU" sz="1200" b="1">
                <a:solidFill>
                  <a:schemeClr val="tx1"/>
                </a:solidFill>
              </a:rPr>
              <a:t>Внедрение:</a:t>
            </a:r>
            <a:r>
              <a:rPr lang="ru-RU" sz="1200">
                <a:solidFill>
                  <a:schemeClr val="tx1"/>
                </a:solidFill>
              </a:rPr>
              <a:t xml:space="preserve"> docker load → docker run → ros2 bag play; один файл параметров; стандартные сообщения ROS 2 — стыкуется с системой торможения без переделки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1B6129-4E5A-20E2-763B-F5010C6110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8974761F-D4F8-560C-B069-01DF6B0C0103}"/>
              </a:ext>
            </a:extLst>
          </p:cNvPr>
          <p:cNvSpPr/>
          <p:nvPr/>
        </p:nvSpPr>
        <p:spPr>
          <a:xfrm>
            <a:off x="0" y="0"/>
            <a:ext cx="6456363" cy="6858000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9" name="Объект 28">
            <a:extLst>
              <a:ext uri="{FF2B5EF4-FFF2-40B4-BE49-F238E27FC236}">
                <a16:creationId xmlns:a16="http://schemas.microsoft.com/office/drawing/2014/main" id="{02AA36D4-0DFA-1A2E-6B29-8BA1BF5F96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133" y="1263123"/>
            <a:ext cx="5574868" cy="4937652"/>
          </a:xfrm>
        </p:spPr>
        <p:txBody>
          <a:bodyPr/>
          <a:lstStyle/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13 759 кадров</a:t>
            </a:r>
            <a:r>
              <a:rPr lang="ru-RU" sz="1300">
                <a:solidFill>
                  <a:schemeClr val="tx1"/>
                </a:solidFill>
              </a:rPr>
              <a:t xml:space="preserve"> — 6 записей (2 488) и 20-минутная поездка (11 271 кадр, 13 км, 7 остановок, кривые до R ≈ 350 м)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Hesai Pandar128</a:t>
            </a:r>
            <a:r>
              <a:rPr lang="ru-RU" sz="1300">
                <a:solidFill>
                  <a:schemeClr val="tx1"/>
                </a:solidFill>
              </a:rPr>
              <a:t>, 10 Гц, ~190 тыс. точек в кадре: стены видны на 150–200 м, полотно — до ~100 м</a:t>
            </a:r>
          </a:p>
          <a:p>
            <a:pPr>
              <a:spcBef>
                <a:spcPts val="800"/>
              </a:spcBef>
            </a:pPr>
            <a:r>
              <a:rPr lang="ru-RU" b="1" sz="1300">
                <a:solidFill>
                  <a:schemeClr val="tx1"/>
                </a:solidFill>
              </a:rPr>
              <a:t>~210 м — предел отражений в тоннеле:</a:t>
            </a:r>
            <a:r>
              <a:rPr lang="ru-RU" sz="1300">
                <a:solidFill>
                  <a:schemeClr val="tx1"/>
                </a:solidFill>
              </a:rPr>
              <a:t xml:space="preserve"> каждая запись обрывается на 209–210 м, дальше нет ни одной точки (паспорт: 200 м при 10 % отражения)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Объект 0,5 м даёт ~7 точек на 100 м и 1–2 точки на 200 м</a:t>
            </a:r>
          </a:p>
          <a:p>
            <a:pPr>
              <a:spcBef>
                <a:spcPts val="800"/>
              </a:spcBef>
            </a:pPr>
            <a:r>
              <a:rPr lang="ru-RU" sz="1300">
                <a:solidFill>
                  <a:schemeClr val="tx1"/>
                </a:solidFill>
              </a:rPr>
              <a:t>Реальные препятствия: человек и предмет на рельсе в записи doubleT_obstacle; всё остальное — синтетика в реальных кадрах, каждое число помечено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4CAD271A-25D6-5986-96AF-8705ED30C1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28" name="Заголовок 27">
            <a:extLst>
              <a:ext uri="{FF2B5EF4-FFF2-40B4-BE49-F238E27FC236}">
                <a16:creationId xmlns:a16="http://schemas.microsoft.com/office/drawing/2014/main" id="{EA3A5BFD-C872-ACEC-AC6D-6D57CA4340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44" y="395288"/>
            <a:ext cx="5574868" cy="425729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ДАННЫЕ И СЕНСОР</a:t>
            </a:r>
          </a:p>
        </p:txBody>
      </p:sp>
    </p:spTree>
    <p:extLst>
      <p:ext uri="{BB962C8B-B14F-4D97-AF65-F5344CB8AC3E}">
        <p14:creationId xmlns:p14="http://schemas.microsoft.com/office/powerpoint/2010/main" val="18307153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E39BFA-C414-3731-3F05-E28FB015D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6080F467-69D9-0742-2978-0590E2BF440F}"/>
              </a:ext>
            </a:extLst>
          </p:cNvPr>
          <p:cNvSpPr/>
          <p:nvPr/>
        </p:nvSpPr>
        <p:spPr>
          <a:xfrm>
            <a:off x="325170" y="1304256"/>
            <a:ext cx="11541659" cy="5052102"/>
          </a:xfrm>
          <a:prstGeom prst="roundRect">
            <a:avLst>
              <a:gd name="adj" fmla="val 6926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D48EA9B5-E41A-C397-3CFE-F967E98FC76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13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F975DC-7FFC-8C16-7A6D-78D26FCBD5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104" y="414049"/>
            <a:ext cx="5994696" cy="552061"/>
          </a:xfrm>
        </p:spPr>
        <p:txBody>
          <a:bodyPr/>
          <a:lstStyle/>
          <a:p>
            <a:pPr/>
            <a:r>
              <a:rPr lang="ru-RU" sz="3600">
                <a:solidFill>
                  <a:schemeClr val="bg1"/>
                </a:solidFill>
              </a:rPr>
              <a:t>ГЛАВНЫЙ КАДР</a:t>
            </a:r>
          </a:p>
        </p:txBody>
      </p:sp>
      <p:pic>
        <p:nvPicPr>
          <p:cNvPr id="22" name="Picture 21" descr="image.jpg"/>
          <p:cNvPicPr>
            <a:picLocks noChangeAspect="1"/>
          </p:cNvPicPr>
          <p:nvPr/>
        </p:nvPicPr>
        <p:blipFill>
          <a:blip r:embed="rId3"/>
          <a:srcRect l="0" r="0"/>
          <a:stretch>
            <a:fillRect/>
          </a:stretch>
        </p:blipFill>
        <p:spPr>
          <a:xfrm>
            <a:off x="495170" y="1474256"/>
            <a:ext cx="8377070" cy="471210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072240" y="1474256"/>
            <a:ext cx="2624589" cy="471210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lang="ru-RU" b="1" sz="1400">
                <a:solidFill>
                  <a:srgbClr val="520978"/>
                </a:solidFill>
              </a:rPr>
              <a:t>Реальная запись организаторов</a:t>
            </a:r>
          </a:p>
          <a:p>
            <a:pPr>
              <a:spcBef>
                <a:spcPts val="1000"/>
              </a:spcBef>
            </a:pPr>
            <a:r>
              <a:rPr lang="ru-RU" sz="1200">
                <a:solidFill>
                  <a:srgbClr val="1C1D22"/>
                </a:solidFill>
              </a:rPr>
              <a:t>Человек переходит путь на 55–57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Найден в </a:t>
            </a:r>
            <a:r>
              <a:rPr lang="ru-RU" b="1" sz="1200">
                <a:solidFill>
                  <a:srgbClr val="1C1D22"/>
                </a:solidFill>
              </a:rPr>
              <a:t>61 из 61</a:t>
            </a:r>
            <a:r>
              <a:rPr lang="ru-RU" sz="1200">
                <a:solidFill>
                  <a:srgbClr val="1C1D22"/>
                </a:solidFill>
              </a:rPr>
              <a:t xml:space="preserve"> кадра внутри габарита (от рельсов — 58)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Тревога с первого кадра в габарите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>Ошибка дальности ≤ 0,23 м</a:t>
            </a:r>
          </a:p>
          <a:p>
            <a:pPr>
              <a:spcBef>
                <a:spcPts val="800"/>
              </a:spcBef>
            </a:pPr>
            <a:r>
              <a:rPr lang="ru-RU" sz="1200">
                <a:solidFill>
                  <a:srgbClr val="1C1D22"/>
                </a:solidFill>
              </a:rPr>
              <a:t xml:space="preserve">Предмет на рельсе — в </a:t>
            </a:r>
            <a:r>
              <a:rPr lang="ru-RU" b="1" sz="1200">
                <a:solidFill>
                  <a:srgbClr val="1C1D22"/>
                </a:solidFill>
              </a:rPr>
              <a:t>125 из 126</a:t>
            </a:r>
            <a:r>
              <a:rPr lang="ru-RU" sz="1200">
                <a:solidFill>
                  <a:srgbClr val="1C1D22"/>
                </a:solidFill>
              </a:rPr>
              <a:t xml:space="preserve"> кадров после ухода человека</a:t>
            </a:r>
          </a:p>
        </p:txBody>
      </p:sp>
    </p:spTree>
    <p:extLst>
      <p:ext uri="{BB962C8B-B14F-4D97-AF65-F5344CB8AC3E}">
        <p14:creationId xmlns:p14="http://schemas.microsoft.com/office/powerpoint/2010/main" val="2320403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pPr/>
            <a:r>
              <a:rPr lang="ru-RU" sz="2000">
                <a:solidFill>
                  <a:schemeClr val="accent5"/>
                </a:solidFill>
              </a:rPr>
              <a:t>СЛОЖНЫЕ СЛУЧАИ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Полотно полно предметов.</a:t>
            </a:r>
            <a:r>
              <a:rPr lang="ru-RU" sz="1300">
                <a:solidFill>
                  <a:schemeClr val="tx1"/>
                </a:solidFill>
              </a:rPr>
              <a:t xml:space="preserve"> «Всё выше полотна» — 1 482 ложных события за 20 мин; порог «≥ 3 см над головкой рельса + 0,5 с» — единицы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Предмет на рельсе делился на две ступени.</a:t>
            </a:r>
            <a:r>
              <a:rPr lang="ru-RU" sz="1300">
                <a:solidFill>
                  <a:schemeClr val="tx1"/>
                </a:solidFill>
              </a:rPr>
              <a:t xml:space="preserve"> Верх на 0,10–0,15 м — между ступенью низких объектов и габаритом; кластеризуем его целиком: 2 → 125 из 126 кадров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Станции и стрелки.</a:t>
            </a:r>
            <a:r>
              <a:rPr lang="ru-RU" sz="1300">
                <a:solidFill>
                  <a:schemeClr val="tx1"/>
                </a:solidFill>
              </a:rPr>
              <a:t xml:space="preserve"> Край платформы и конструкции у торца — главный источник ложных остановок; без рельсов в ближней зоне дальше 40 м — только предупреждение; обученное «мнение» о треке может отложить сомнительный STOP — не больше 10 кадров (~1 с) за жизнь трека, не ближе 25 м и не для стоящего тела ≥ 1 м ближе 40 м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Дальше 100 м — 1–5 точек на объект.</a:t>
            </a:r>
            <a:r>
              <a:rPr lang="ru-RU" sz="1300">
                <a:solidFill>
                  <a:schemeClr val="tx1"/>
                </a:solidFill>
              </a:rPr>
              <a:t xml:space="preserve"> Высокие объекты — по дальнему правилу до ~150 м; мелкие (&lt; 0,6 м) — ближе: кубы 0,3 м организаторов — только с 43–56 м (на 60–115 м — 2–4 точки)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11200000" cy="712587"/>
          </a:xfrm>
        </p:spPr>
        <p:txBody>
          <a:bodyPr/>
          <a:lstStyle/>
          <a:p>
            <a:pPr marL="0" indent="0">
              <a:buNone/>
            </a:pPr>
            <a:r>
              <a:rPr lang="ru-RU" b="1" sz="1300">
                <a:solidFill>
                  <a:schemeClr val="tx1"/>
                </a:solidFill>
              </a:rPr>
              <a:t>Объекты организаторов у края и тонкие.</a:t>
            </a:r>
            <a:r>
              <a:rPr lang="ru-RU" sz="1300">
                <a:solidFill>
                  <a:schemeClr val="tx1"/>
                </a:solidFill>
              </a:rPr>
              <a:t xml:space="preserve"> Их объекты стоят от оси лидара (−0,24° к рельсам): ближе 60 м на прямой точку засчитываем и по ней — у края STOP с 35 и 18 м (габарит шире до 0,2 м, нигде не уже); висящий предмет 5 см — STOP только с 30 м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15</a:t>
            </a:fld>
            <a:endParaRPr lang="ru-RU" dirty="0">
              <a:solidFill>
                <a:schemeClr val="accent5"/>
              </a:solidFill>
            </a:endParaRP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8EE648F1-70BD-354A-6DAE-07E6E3044DC8}"/>
              </a:ext>
            </a:extLst>
          </p:cNvPr>
          <p:cNvSpPr/>
          <p:nvPr/>
        </p:nvSpPr>
        <p:spPr>
          <a:xfrm>
            <a:off x="3288425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5" name="Скругленный прямоугольник 24">
            <a:extLst>
              <a:ext uri="{FF2B5EF4-FFF2-40B4-BE49-F238E27FC236}">
                <a16:creationId xmlns:a16="http://schemas.microsoft.com/office/drawing/2014/main" id="{9B320FD4-0F75-8FB9-F799-AFA2CA575375}"/>
              </a:ext>
            </a:extLst>
          </p:cNvPr>
          <p:cNvSpPr/>
          <p:nvPr/>
        </p:nvSpPr>
        <p:spPr>
          <a:xfrm>
            <a:off x="9173123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522006"/>
            <a:ext cx="2672801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16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0B115FEC-D79C-233C-419E-0B0BE3EB4A0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20913" y="2339783"/>
            <a:ext cx="2284071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Любое крепление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20913" y="3128740"/>
            <a:ext cx="2284071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8 ориентаций, крен и тангаж по рельсам и полотну; проверено на повёрнутых реальных кадрах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2670742-0112-ABA9-7C47-FE6D64A30A91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3457903" y="2373557"/>
            <a:ext cx="2337416" cy="403756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Монитор исправности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A5C658C-1FD4-CD12-D517-15F6F46CFE3C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3457903" y="3134070"/>
            <a:ext cx="2337416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ошибки входа → FAULT; задержка → предупреждение без смены решения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4FAFE374-953E-0336-76DE-D143BB9C6451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6456363" y="2379657"/>
            <a:ext cx="2268537" cy="403913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Любой вход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456363" y="3136604"/>
            <a:ext cx="2268537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оба набора топик / frame_id, поиск топика, перезапуск на новой записи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8E32729-5FCC-21EA-16FD-CEF0C8FAABAA}"/>
              </a:ext>
            </a:extLst>
          </p:cNvPr>
          <p:cNvSpPr>
            <a:spLocks noGrp="1"/>
          </p:cNvSpPr>
          <p:nvPr>
            <p:ph type="body" sz="quarter" idx="43"/>
          </p:nvPr>
        </p:nvSpPr>
        <p:spPr>
          <a:xfrm>
            <a:off x="9407534" y="2339783"/>
            <a:ext cx="2263553" cy="423628"/>
          </a:xfrm>
        </p:spPr>
        <p:txBody>
          <a:bodyPr/>
          <a:lstStyle/>
          <a:p>
            <a:pPr/>
            <a:r>
              <a:rPr lang="ru-RU" sz="1500">
                <a:solidFill>
                  <a:srgbClr val="F92571"/>
                </a:solidFill>
              </a:rPr>
              <a:t>Воспроизводимо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6A6BF68-6470-CE0D-3E5F-0B15EDDCA14B}"/>
              </a:ext>
            </a:extLst>
          </p:cNvPr>
          <p:cNvSpPr>
            <a:spLocks noGrp="1"/>
          </p:cNvSpPr>
          <p:nvPr>
            <p:ph type="body" sz="quarter" idx="44"/>
          </p:nvPr>
        </p:nvSpPr>
        <p:spPr>
          <a:xfrm>
            <a:off x="9407534" y="3128739"/>
            <a:ext cx="2263553" cy="2797928"/>
          </a:xfrm>
        </p:spPr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730 тестов на путях numpy и C++ (выход совпадает бит в бит); CI собирает образ и проигрывает бэги через узел; цепочка организаторов прогнана в Docker на реальных записях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НАДЁЖНОСТЬ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20913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DE8FDF14-E7C8-6EE3-EBD8-B5DDE4F7F60B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3449944" y="1766200"/>
            <a:ext cx="771003" cy="403756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456363" y="1766043"/>
            <a:ext cx="771003" cy="403913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03</a:t>
            </a:r>
          </a:p>
        </p:txBody>
      </p:sp>
      <p:sp>
        <p:nvSpPr>
          <p:cNvPr id="18" name="Текст 17">
            <a:extLst>
              <a:ext uri="{FF2B5EF4-FFF2-40B4-BE49-F238E27FC236}">
                <a16:creationId xmlns:a16="http://schemas.microsoft.com/office/drawing/2014/main" id="{59F6129C-95BA-0836-7395-00F4830237D5}"/>
              </a:ext>
            </a:extLst>
          </p:cNvPr>
          <p:cNvSpPr>
            <a:spLocks noGrp="1"/>
          </p:cNvSpPr>
          <p:nvPr>
            <p:ph type="body" sz="quarter" idx="52"/>
          </p:nvPr>
        </p:nvSpPr>
        <p:spPr>
          <a:xfrm>
            <a:off x="9407534" y="1772416"/>
            <a:ext cx="771003" cy="42362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3911422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62BB59-6E27-43D2-BF3A-1879F75EA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8587F3BD-E802-93BD-3D32-FDF202FEA64D}"/>
              </a:ext>
            </a:extLst>
          </p:cNvPr>
          <p:cNvSpPr/>
          <p:nvPr/>
        </p:nvSpPr>
        <p:spPr>
          <a:xfrm>
            <a:off x="4419477" y="1522006"/>
            <a:ext cx="3399397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B6016C66-2F45-3093-7675-966377141ADD}"/>
              </a:ext>
            </a:extLst>
          </p:cNvPr>
          <p:cNvSpPr/>
          <p:nvPr/>
        </p:nvSpPr>
        <p:spPr>
          <a:xfrm>
            <a:off x="836595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A68CA47-326C-A498-C456-623193EF0FFA}"/>
              </a:ext>
            </a:extLst>
          </p:cNvPr>
          <p:cNvSpPr/>
          <p:nvPr/>
        </p:nvSpPr>
        <p:spPr>
          <a:xfrm>
            <a:off x="623888" y="1522006"/>
            <a:ext cx="3248506" cy="4678769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E769D24B-D4D8-3322-BCAB-77138E0270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17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5DF4935E-10E9-5CA8-85EF-08A77383EBE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780565" y="2493074"/>
            <a:ext cx="2965634" cy="423628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получилось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63156EE-B99A-3E1C-1DFF-C779A3E1B5D8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780565" y="3128740"/>
            <a:ext cx="2965633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ROS 2-модуль в Docker; все 13 759 реальных кадров: человек и предмет на рельсе найдены, 1,8 ложных события на км (на данных, где подбирались правила; отложенная проверка «мнения» — до 2,5); ящик организаторов — с 98 м; 730 тестов и CI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D5C5649E-E208-17C2-F091-5482CC2FD51B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4623178" y="2493074"/>
            <a:ext cx="3034896" cy="403756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Что дальше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B6AED36-1714-5896-5E97-ECA75EAA24C5}"/>
              </a:ext>
            </a:extLst>
          </p:cNvPr>
          <p:cNvSpPr>
            <a:spLocks noGrp="1"/>
          </p:cNvSpPr>
          <p:nvPr>
            <p:ph type="body" sz="quarter" idx="40"/>
          </p:nvPr>
        </p:nvSpPr>
        <p:spPr>
          <a:xfrm>
            <a:off x="4623178" y="3128740"/>
            <a:ext cx="3034896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мелкие объекты раньше: короткие сигнатуры инфраструктуры, опора высоты по своду тоннеля; скорость от одометрии (своя по лидару — опция); «мнение» о треке — переобучить на реальных препятствиях; ответ организаторов: габарит от рельсов или от оси лидара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AB578740-7F02-5606-0701-43CBE42E6173}"/>
              </a:ext>
            </a:extLst>
          </p:cNvPr>
          <p:cNvSpPr>
            <a:spLocks noGrp="1"/>
          </p:cNvSpPr>
          <p:nvPr>
            <p:ph type="body" sz="quarter" idx="41"/>
          </p:nvPr>
        </p:nvSpPr>
        <p:spPr>
          <a:xfrm>
            <a:off x="8547959" y="2493074"/>
            <a:ext cx="2945464" cy="403913"/>
          </a:xfrm>
        </p:spPr>
        <p:txBody>
          <a:bodyPr/>
          <a:lstStyle/>
          <a:p>
            <a:pPr/>
            <a:r>
              <a:rPr lang="ru-RU" sz="1600">
                <a:solidFill>
                  <a:srgbClr val="F92571"/>
                </a:solidFill>
              </a:rPr>
              <a:t>Внедрение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143A847-7B5C-EA94-880E-65D8582653EB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8547959" y="3128740"/>
            <a:ext cx="2945464" cy="2797928"/>
          </a:xfrm>
        </p:spPr>
        <p:txBody>
          <a:bodyPr/>
          <a:lstStyle/>
          <a:p>
            <a:pPr/>
            <a:r>
              <a:rPr lang="ru-RU" sz="1300">
                <a:solidFill>
                  <a:schemeClr val="tx1"/>
                </a:solidFill>
              </a:rPr>
              <a:t>docker load → run → ros2 bag play; один файл параметров; стандартные сообщения ROS 2 — стыкуется с системой торможения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3842A3B-9EE0-965C-0EFA-22F6D78D2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6" y="335426"/>
            <a:ext cx="11331221" cy="376138"/>
          </a:xfrm>
        </p:spPr>
        <p:txBody>
          <a:bodyPr/>
          <a:lstStyle/>
          <a:p>
            <a:pPr/>
            <a:r>
              <a:rPr lang="ru-RU">
                <a:solidFill>
                  <a:schemeClr val="accent5"/>
                </a:solidFill>
              </a:rPr>
              <a:t>ИТОГИ И ПЛАНЫ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DAEBED94-4F5F-339A-0CCE-082BCC33E925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780565" y="1772415"/>
            <a:ext cx="1311031" cy="601141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6" name="Текст 15">
            <a:extLst>
              <a:ext uri="{FF2B5EF4-FFF2-40B4-BE49-F238E27FC236}">
                <a16:creationId xmlns:a16="http://schemas.microsoft.com/office/drawing/2014/main" id="{01B288C6-447F-2720-CB9D-6F216BD0C554}"/>
              </a:ext>
            </a:extLst>
          </p:cNvPr>
          <p:cNvSpPr>
            <a:spLocks noGrp="1"/>
          </p:cNvSpPr>
          <p:nvPr>
            <p:ph type="body" sz="quarter" idx="50"/>
          </p:nvPr>
        </p:nvSpPr>
        <p:spPr>
          <a:xfrm>
            <a:off x="4615219" y="1766200"/>
            <a:ext cx="1311031" cy="572942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78DB70E8-1110-C23C-1E37-53138E3F8F02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8547959" y="1766043"/>
            <a:ext cx="1311031" cy="573165"/>
          </a:xfrm>
        </p:spPr>
        <p:txBody>
          <a:bodyPr/>
          <a:lstStyle/>
          <a:p>
            <a:pPr/>
            <a:r>
              <a:rPr lang="ru-RU" sz="440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1122164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pPr algn="l" marL="0" indent="0">
              <a:buNone/>
            </a:pPr>
            <a:r>
              <a:rPr lang="ru-RU" sz="3600" b="1">
                <a:solidFill>
                  <a:srgbClr val="FF0053"/>
                </a:solidFill>
              </a:rPr>
              <a:t>13 759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реальных кадров прогнаны целиком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61 из 61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кадров с человеком на пути — тревога (от рельсов — 58; остальные — по оси лидара, от которой меряют организаторы)</a:t>
            </a:r>
          </a:p>
          <a:p>
            <a:pPr algn="l" marL="0" indent="0">
              <a:spcBef>
                <a:spcPts val="1400"/>
              </a:spcBef>
              <a:buNone/>
            </a:pPr>
            <a:r>
              <a:rPr lang="ru-RU" sz="3600" b="1">
                <a:solidFill>
                  <a:srgbClr val="FF0053"/>
                </a:solidFill>
              </a:rPr>
              <a:t>1,8 на км</a:t>
            </a:r>
          </a:p>
          <a:p>
            <a:pPr algn="l" marL="0" indent="0">
              <a:buNone/>
            </a:pPr>
            <a:r>
              <a:rPr lang="ru-RU" sz="1300">
                <a:solidFill>
                  <a:srgbClr val="1C1D22"/>
                </a:solidFill>
              </a:rPr>
              <a:t>ложных событий в поездке (24 за 13 км) — на ней же подбирались правила; отложенная проверка «мнения» о треке — до 2,5 на км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Реальная запись:</a:t>
            </a:r>
            <a:r>
              <a:rPr lang="ru-RU" sz="1200">
                <a:solidFill>
                  <a:schemeClr val="tx1"/>
                </a:solidFill>
              </a:rPr>
              <a:t xml:space="preserve"> человек на пути — 61 из 61 кадра (от рельсов — 58), тревога с первого кадра в габарите, ошибка ≤ 0,23 м; предмет на рельсе — 125 из 126 кадров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Ложные остановки</a:t>
            </a:r>
            <a:r>
              <a:rPr lang="ru-RU" sz="1200">
                <a:solidFill>
                  <a:schemeClr val="tx1"/>
                </a:solidFill>
              </a:rPr>
              <a:t xml:space="preserve"> (реальные, на данных настройки правил): поездка 13 км — 24 события (без «мнения» — 43; отложенная проверка «мнения» — до 33); пять пустых записей — 9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Объекты организаторов</a:t>
            </a:r>
            <a:r>
              <a:rPr lang="ru-RU" sz="1200">
                <a:solidFill>
                  <a:schemeClr val="tx1"/>
                </a:solidFill>
              </a:rPr>
              <a:t xml:space="preserve"> [их синтетика]: ящик 2 × 2 м — с 98 м, доска — с 87 м, у края — с 35 и 18 м; на новых местах [проверка заявлена заранее] — 723 из 2 458 кадров (было 544)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Человек на подходе</a:t>
            </a:r>
            <a:r>
              <a:rPr lang="ru-RU" sz="1200">
                <a:solidFill>
                  <a:schemeClr val="tx1"/>
                </a:solidFill>
              </a:rPr>
              <a:t xml:space="preserve"> [наша синтетика]: первое подтверждение 148 м (в 5 парах: 150 → 154 м от ближних рельсов), в каждой полосе 10 м — со 115 м; 167 м со скоростью поезда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pPr marL="0" indent="0">
              <a:buNone/>
            </a:pPr>
            <a:r>
              <a:rPr lang="ru-RU" b="1" sz="1200">
                <a:solidFill>
                  <a:schemeClr val="tx1"/>
                </a:solidFill>
              </a:rPr>
              <a:t>Задержка</a:t>
            </a:r>
            <a:r>
              <a:rPr lang="ru-RU" sz="1200">
                <a:solidFill>
                  <a:schemeClr val="tx1"/>
                </a:solidFill>
              </a:rPr>
              <a:t xml:space="preserve"> 18–23 мс на кадр (p95 ≤ 33 мс) на одном ядре с ядрами на C++; с декодированием облака p95 ≤ 48 мс; через ROS в Docker на 4 ядрах — p95 58–81 мс (замер 26.09); без GPU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20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РЕЗУЛЬТАТЫ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482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21</a:t>
            </a:fld>
            <a:endParaRPr lang="ru-RU" dirty="0"/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STOP у 8 из 8, у края — с 18–35 м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ящик 2 × 2 м в центре — с 98 м, с первого появления; доска поперёк рельсов — с 87 м; кубы 0,3 м — с 43–56 м. На новых местах (72 случая, проверка заявлена заранее) — 723 из 2 458 кадров (было 544); на том же фоне без объекта — 0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Мелкое вдали — поздно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на 60–115 м от куба 0,3 м 2–4 точки в кадре: дальше 60 м трек начинаем и с 4, но STOP — только если объект приближается, иначе CAUTION; ящик у верха габарита — STOP в 56 из 124 кадров — непрерывно с 111 м, дальше CAUTION или ничего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b="1" sz="1500">
                <a:solidFill>
                  <a:schemeClr val="tx1"/>
                </a:solidFill>
              </a:rPr>
              <a:t>Ограничения — говорим честно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ближе 60 м на прямой точка в габарите и по оси лидара, от которой ставили объекты (−0,24° к рельсам; вопрос организаторам открыт); от рельсов габарит не сужается. GO с дальностью контроля за объектом — 16 кадров (было 46); ложных STOP: 6 у ящика снаружи, 0 вне объектов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1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4465516" cy="376138"/>
          </a:xfrm>
        </p:spPr>
        <p:txBody>
          <a:bodyPr/>
          <a:lstStyle/>
          <a:p>
            <a:pPr/>
            <a:r>
              <a:rPr lang="ru-RU"/>
              <a:t>ОБЪЕКТЫ ОРГАНИЗАТОРОВ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075" y="5566258"/>
            <a:ext cx="5749925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E6E1F5"/>
                </a:solidFill>
              </a:rPr>
              <a:t>первый STOP, м; сиреневым — без устойчивого STOP · cloud_with_fake_obj: 10 объектов, 1 510 кадров, поезд едет к ним 1,4–20 м/с, скорость узлу не дана · синтетика организаторов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89C504C-C673-685A-ED35-3E688A842675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2D779828-50AA-424E-9D75-E4AA39DF20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22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0582B6-28AC-45F4-BD2D-467E652DBD3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755267" y="1343263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~210 м — предел отражений в тоннеле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F82DF7C-A3AD-43CF-A10D-0B36529054B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755267" y="1722800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дальше 210 м во всех 13 759 кадрах нет ни одной точки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958F12B-018B-418A-A49D-1D36B842AE9F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755267" y="2611824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Со скоростью поезда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57CEBFD9-BA50-4FE2-AEDF-186C2F4D3DA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755267" y="2991361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накопление 5 кадров: человек 167 м; своя скорость по лидару (ошибка 0,07 м/с) STOP раньше не даёт — опция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932AF062-A059-495E-BB70-46D2DA99A1FB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755267" y="3880385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Устойчиво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62FC86C2-74E3-4069-A985-340E87E70FC1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55267" y="4259922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человек в ≥ 90 % кадров каждой полосы 10 м — со 115 м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1D835328-9C3F-4BAA-A363-BCF05AE9CAA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55267" y="5148947"/>
            <a:ext cx="4790314" cy="1021701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/>
            <a:r>
              <a:rPr lang="ru-RU" sz="1600">
                <a:solidFill>
                  <a:schemeClr val="accent5"/>
                </a:solidFill>
              </a:rPr>
              <a:t>В кривых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EF3516B2-5C9F-4B2E-B489-4C7C76EB80F4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755267" y="5528484"/>
            <a:ext cx="4790314" cy="642164"/>
          </a:xfrm>
        </p:spPr>
        <p:txBody>
          <a:bodyPr/>
          <a:lstStyle/>
          <a:p>
            <a:pPr marL="0" indent="0">
              <a:buNone/>
            </a:pPr>
            <a:r>
              <a:rPr lang="ru-RU" sz="1200">
                <a:solidFill>
                  <a:schemeClr val="accent5"/>
                </a:solidFill>
              </a:rPr>
              <a:t>6 из 7 подходов, с 58–86 м — предел видимости за стеной (R ≈ 350 м)</a:t>
            </a:r>
          </a:p>
        </p:txBody>
      </p:sp>
      <p:graphicFrame>
        <p:nvGraphicFramePr>
          <p:cNvPr id="12" name="Диаграмма 11">
            <a:extLst>
              <a:ext uri="{FF2B5EF4-FFF2-40B4-BE49-F238E27FC236}">
                <a16:creationId xmlns:a16="http://schemas.microsoft.com/office/drawing/2014/main" id="{23BDA4A7-21AE-4EEC-8367-DB38D1BA312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1416834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9CDF69C9-489B-D478-1908-E63FA3502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ДАЛЬНОСТЬ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075" y="5820000"/>
            <a:ext cx="5800000" cy="5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lang="ru-RU" sz="1000">
                <a:solidFill>
                  <a:srgbClr val="6B6B6B"/>
                </a:solidFill>
              </a:rPr>
              <a:t>первое подтверждение на прямой, медиана 6 подходов; «от рельсов» — объект поставлен по ближним рельсам, а не по дальней оси детектора (5 пар, прежняя постановка — 150 м); поезд 17–21 м/с без датчика скорости · синтетика в реальных кадрах поездки</a:t>
            </a:r>
          </a:p>
        </p:txBody>
      </p:sp>
    </p:spTree>
    <p:extLst>
      <p:ext uri="{BB962C8B-B14F-4D97-AF65-F5344CB8AC3E}">
        <p14:creationId xmlns:p14="http://schemas.microsoft.com/office/powerpoint/2010/main" val="11997862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4005000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Проблема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Поезд без машиниста должен видеть путь: 100 м — хорошо, 200 — очень хорошо, 300 — отлично. Тормозной путь на 80 км/ч — 190–250 м. Тоннель однороден и почти всегда пуст: классов объектов для обучения нет.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Альтернативы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Обученный 3D-детектор (PointPillars, CenterPoint) — нужны тысячи размеченных препятствий, дальше 100 м — единицы процентов AP. Сравнение с картой — нужна сантиметровая локализация и повторный проезд.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b="1" sz="1600">
                <a:solidFill>
                  <a:srgbClr val="FF0053"/>
                </a:solidFill>
              </a:rPr>
              <a:t>Наше решение</a:t>
            </a:r>
          </a:p>
          <a:p>
            <a:pPr marL="0" indent="0">
              <a:spcBef>
                <a:spcPts val="800"/>
              </a:spcBef>
              <a:buNone/>
            </a:pPr>
            <a:r>
              <a:rPr lang="ru-RU" sz="1300">
                <a:solidFill>
                  <a:schemeClr val="tx1"/>
                </a:solidFill>
              </a:rPr>
              <a:t>Описать нормальный тоннель и сообщать всё, что попадает в габарит поезда 2,1 × 3,0 м. Модель пути строится заново в каждом кадре по рельсам, полотну и стенам — без карты и без классов объектов.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ПРОБЛЕМА И ПОДХОД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25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Автокалибровка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вертикальная ось вращения; ориентация и наклон — по рельсам и полотну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Габарит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коридор 2,1 × 3,0 м вдоль оси и ступень низких объектов на рельсах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Решение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подтверждение 0,5 с и «мнение» о треке → GO / CAUTION / STOP / FAULT и дальность контроля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Модель пути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полотно, головки рельсов, ось; кривизна по стенам и колоннам до 150–200 м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pPr marL="0" indent="0">
              <a:buNone/>
            </a:pPr>
            <a:r>
              <a:rPr lang="ru-RU" sz="1500">
                <a:solidFill>
                  <a:schemeClr val="accent5"/>
                </a:solidFill>
              </a:rPr>
              <a:t>Кластеры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pPr marL="0" indent="0">
              <a:buNone/>
            </a:pPr>
            <a:r>
              <a:rPr lang="ru-RU" sz="1100">
                <a:solidFill>
                  <a:schemeClr val="tx1"/>
                </a:solidFill>
              </a:rPr>
              <a:t>радиус растёт с дальностью; фильтры инфраструктуры; дальнее правило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АЛГОРИТМ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39125108-8C0F-2F06-5739-B84F0E2F138C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grpSp>
        <p:nvGrpSpPr>
          <p:cNvPr id="8" name="Group 82">
            <a:extLst>
              <a:ext uri="{FF2B5EF4-FFF2-40B4-BE49-F238E27FC236}">
                <a16:creationId xmlns:a16="http://schemas.microsoft.com/office/drawing/2014/main" id="{24F452BD-B318-4752-95A0-FE784050E11F}"/>
              </a:ext>
            </a:extLst>
          </p:cNvPr>
          <p:cNvGrpSpPr>
            <a:grpSpLocks noChangeAspect="1"/>
          </p:cNvGrpSpPr>
          <p:nvPr/>
        </p:nvGrpSpPr>
        <p:grpSpPr>
          <a:xfrm>
            <a:off x="1149124" y="1149443"/>
            <a:ext cx="4267960" cy="2822929"/>
            <a:chOff x="1027152" y="2693983"/>
            <a:chExt cx="6796849" cy="4462905"/>
          </a:xfrm>
        </p:grpSpPr>
        <p:grpSp>
          <p:nvGrpSpPr>
            <p:cNvPr id="9" name="Group 83">
              <a:extLst>
                <a:ext uri="{FF2B5EF4-FFF2-40B4-BE49-F238E27FC236}">
                  <a16:creationId xmlns:a16="http://schemas.microsoft.com/office/drawing/2014/main" id="{FD5311CA-A8DA-4752-BCCC-9D77C86DAA8A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12" name="AutoShape 1">
                <a:extLst>
                  <a:ext uri="{FF2B5EF4-FFF2-40B4-BE49-F238E27FC236}">
                    <a16:creationId xmlns:a16="http://schemas.microsoft.com/office/drawing/2014/main" id="{C5DD9855-9040-4A8E-8FC7-2A87D71D92A4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3" name="Rectangle 2">
                <a:extLst>
                  <a:ext uri="{FF2B5EF4-FFF2-40B4-BE49-F238E27FC236}">
                    <a16:creationId xmlns:a16="http://schemas.microsoft.com/office/drawing/2014/main" id="{1CA962FF-DEAF-450E-BAC9-2CBF039F5ED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4" name="AutoShape 3">
                <a:extLst>
                  <a:ext uri="{FF2B5EF4-FFF2-40B4-BE49-F238E27FC236}">
                    <a16:creationId xmlns:a16="http://schemas.microsoft.com/office/drawing/2014/main" id="{29B32C08-05E5-455D-AB4B-FA780C0B9C44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5" name="Oval 4">
                <a:extLst>
                  <a:ext uri="{FF2B5EF4-FFF2-40B4-BE49-F238E27FC236}">
                    <a16:creationId xmlns:a16="http://schemas.microsoft.com/office/drawing/2014/main" id="{DB5DCAC2-FF8B-4D8A-8761-EF6BE6B4CB7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6" name="Oval 5">
                <a:extLst>
                  <a:ext uri="{FF2B5EF4-FFF2-40B4-BE49-F238E27FC236}">
                    <a16:creationId xmlns:a16="http://schemas.microsoft.com/office/drawing/2014/main" id="{A18062AF-728F-4F67-A9EE-6DA3DC1E6BB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7" name="Oval 6">
                <a:extLst>
                  <a:ext uri="{FF2B5EF4-FFF2-40B4-BE49-F238E27FC236}">
                    <a16:creationId xmlns:a16="http://schemas.microsoft.com/office/drawing/2014/main" id="{1F8B8CA3-31B9-4E3E-89F8-B823F31C1C9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18" name="Rectangle 92">
                <a:extLst>
                  <a:ext uri="{FF2B5EF4-FFF2-40B4-BE49-F238E27FC236}">
                    <a16:creationId xmlns:a16="http://schemas.microsoft.com/office/drawing/2014/main" id="{C40CC64C-4BDE-4B83-ACBA-76BBEC31E3B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19" name="Group 93">
                <a:extLst>
                  <a:ext uri="{FF2B5EF4-FFF2-40B4-BE49-F238E27FC236}">
                    <a16:creationId xmlns:a16="http://schemas.microsoft.com/office/drawing/2014/main" id="{021FE07F-E9DB-428E-864C-12ABBB046C13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22" name="Freeform 13">
                  <a:extLst>
                    <a:ext uri="{FF2B5EF4-FFF2-40B4-BE49-F238E27FC236}">
                      <a16:creationId xmlns:a16="http://schemas.microsoft.com/office/drawing/2014/main" id="{8251ED56-D5C4-4244-B7B8-9CC65D6F8A0C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3" name="Freeform 14">
                  <a:extLst>
                    <a:ext uri="{FF2B5EF4-FFF2-40B4-BE49-F238E27FC236}">
                      <a16:creationId xmlns:a16="http://schemas.microsoft.com/office/drawing/2014/main" id="{ECE11028-B7CA-451E-851D-176871A08FC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4" name="Freeform 15">
                  <a:extLst>
                    <a:ext uri="{FF2B5EF4-FFF2-40B4-BE49-F238E27FC236}">
                      <a16:creationId xmlns:a16="http://schemas.microsoft.com/office/drawing/2014/main" id="{C663966C-C5F6-4AF2-AC81-EF7A040B748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5" name="Freeform 16">
                  <a:extLst>
                    <a:ext uri="{FF2B5EF4-FFF2-40B4-BE49-F238E27FC236}">
                      <a16:creationId xmlns:a16="http://schemas.microsoft.com/office/drawing/2014/main" id="{1231452A-2DB6-4628-B13E-989E3196783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6" name="Freeform 17">
                  <a:extLst>
                    <a:ext uri="{FF2B5EF4-FFF2-40B4-BE49-F238E27FC236}">
                      <a16:creationId xmlns:a16="http://schemas.microsoft.com/office/drawing/2014/main" id="{02B5F533-7190-4486-800E-50B9DEE2ECC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7" name="Freeform 18">
                  <a:extLst>
                    <a:ext uri="{FF2B5EF4-FFF2-40B4-BE49-F238E27FC236}">
                      <a16:creationId xmlns:a16="http://schemas.microsoft.com/office/drawing/2014/main" id="{E1197ACF-D4F7-4F4F-B51B-31BAB0320329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8" name="Freeform 19">
                  <a:extLst>
                    <a:ext uri="{FF2B5EF4-FFF2-40B4-BE49-F238E27FC236}">
                      <a16:creationId xmlns:a16="http://schemas.microsoft.com/office/drawing/2014/main" id="{305C916E-AA00-40D3-979E-8385C880D15E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29" name="Freeform 20">
                  <a:extLst>
                    <a:ext uri="{FF2B5EF4-FFF2-40B4-BE49-F238E27FC236}">
                      <a16:creationId xmlns:a16="http://schemas.microsoft.com/office/drawing/2014/main" id="{606A4951-C43E-4D62-8601-77DAE03DB7A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30" name="Freeform 21">
                  <a:extLst>
                    <a:ext uri="{FF2B5EF4-FFF2-40B4-BE49-F238E27FC236}">
                      <a16:creationId xmlns:a16="http://schemas.microsoft.com/office/drawing/2014/main" id="{E4DF5AB0-92B8-4555-8BFE-FEB94F35CC73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20" name="Freeform 25">
                <a:extLst>
                  <a:ext uri="{FF2B5EF4-FFF2-40B4-BE49-F238E27FC236}">
                    <a16:creationId xmlns:a16="http://schemas.microsoft.com/office/drawing/2014/main" id="{C904AC4F-21D6-40FC-874A-C69831B8A24B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21" name="Oval 6">
                <a:extLst>
                  <a:ext uri="{FF2B5EF4-FFF2-40B4-BE49-F238E27FC236}">
                    <a16:creationId xmlns:a16="http://schemas.microsoft.com/office/drawing/2014/main" id="{008AEF74-0CB4-4F9D-941F-B3FDCFD4ACA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FF43D9F-F201-460A-B5AB-10C4C6323FC9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localhost:8080</a:t>
              </a:r>
            </a:p>
          </p:txBody>
        </p:sp>
        <p:sp>
          <p:nvSpPr>
            <p:cNvPr id="11" name="Freeform 29">
              <a:extLst>
                <a:ext uri="{FF2B5EF4-FFF2-40B4-BE49-F238E27FC236}">
                  <a16:creationId xmlns:a16="http://schemas.microsoft.com/office/drawing/2014/main" id="{773BAD95-B78D-42DD-A801-8B84C3BF5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grpSp>
        <p:nvGrpSpPr>
          <p:cNvPr id="31" name="Group 82">
            <a:extLst>
              <a:ext uri="{FF2B5EF4-FFF2-40B4-BE49-F238E27FC236}">
                <a16:creationId xmlns:a16="http://schemas.microsoft.com/office/drawing/2014/main" id="{476BE634-6695-4A59-B9FD-6815B89BADCA}"/>
              </a:ext>
            </a:extLst>
          </p:cNvPr>
          <p:cNvGrpSpPr>
            <a:grpSpLocks noChangeAspect="1"/>
          </p:cNvGrpSpPr>
          <p:nvPr/>
        </p:nvGrpSpPr>
        <p:grpSpPr>
          <a:xfrm>
            <a:off x="6794022" y="1149443"/>
            <a:ext cx="4267960" cy="2822929"/>
            <a:chOff x="1027152" y="2693983"/>
            <a:chExt cx="6796849" cy="4462905"/>
          </a:xfrm>
        </p:grpSpPr>
        <p:grpSp>
          <p:nvGrpSpPr>
            <p:cNvPr id="32" name="Group 83">
              <a:extLst>
                <a:ext uri="{FF2B5EF4-FFF2-40B4-BE49-F238E27FC236}">
                  <a16:creationId xmlns:a16="http://schemas.microsoft.com/office/drawing/2014/main" id="{F753F412-8864-4B46-BFBD-0C8E827679D2}"/>
                </a:ext>
              </a:extLst>
            </p:cNvPr>
            <p:cNvGrpSpPr/>
            <p:nvPr/>
          </p:nvGrpSpPr>
          <p:grpSpPr>
            <a:xfrm>
              <a:off x="1027152" y="2693983"/>
              <a:ext cx="6796849" cy="4462905"/>
              <a:chOff x="1027152" y="2693983"/>
              <a:chExt cx="6796849" cy="4462905"/>
            </a:xfrm>
          </p:grpSpPr>
          <p:sp>
            <p:nvSpPr>
              <p:cNvPr id="35" name="AutoShape 1">
                <a:extLst>
                  <a:ext uri="{FF2B5EF4-FFF2-40B4-BE49-F238E27FC236}">
                    <a16:creationId xmlns:a16="http://schemas.microsoft.com/office/drawing/2014/main" id="{48F16F12-B004-4ABE-AAA8-42D597EFDA9A}"/>
                  </a:ext>
                </a:extLst>
              </p:cNvPr>
              <p:cNvSpPr>
                <a:spLocks noChangeAspect="1"/>
              </p:cNvSpPr>
              <p:nvPr/>
            </p:nvSpPr>
            <p:spPr bwMode="auto">
              <a:xfrm>
                <a:off x="1029339" y="2693983"/>
                <a:ext cx="6794662" cy="4462905"/>
              </a:xfrm>
              <a:prstGeom prst="roundRect">
                <a:avLst>
                  <a:gd name="adj" fmla="val 1292"/>
                </a:avLst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6" name="Rectangle 2">
                <a:extLst>
                  <a:ext uri="{FF2B5EF4-FFF2-40B4-BE49-F238E27FC236}">
                    <a16:creationId xmlns:a16="http://schemas.microsoft.com/office/drawing/2014/main" id="{92CE4B65-6103-4C38-92A7-2A427C04B8B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027152" y="3024940"/>
                <a:ext cx="6794663" cy="315914"/>
              </a:xfrm>
              <a:prstGeom prst="rect">
                <a:avLst/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7" name="AutoShape 3">
                <a:extLst>
                  <a:ext uri="{FF2B5EF4-FFF2-40B4-BE49-F238E27FC236}">
                    <a16:creationId xmlns:a16="http://schemas.microsoft.com/office/drawing/2014/main" id="{297699FF-7AA4-40F4-81BC-DF7B89B3F7D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035351" y="2779230"/>
                <a:ext cx="2717865" cy="561624"/>
              </a:xfrm>
              <a:prstGeom prst="roundRect">
                <a:avLst>
                  <a:gd name="adj" fmla="val 11986"/>
                </a:avLst>
              </a:prstGeom>
              <a:solidFill>
                <a:schemeClr val="accent6">
                  <a:lumMod val="50000"/>
                </a:schemeClr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8" name="Oval 4">
                <a:extLst>
                  <a:ext uri="{FF2B5EF4-FFF2-40B4-BE49-F238E27FC236}">
                    <a16:creationId xmlns:a16="http://schemas.microsoft.com/office/drawing/2014/main" id="{D68B6E0E-D3C7-4493-A31B-8207DAE9C22D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137753" y="2814331"/>
                <a:ext cx="95903" cy="95276"/>
              </a:xfrm>
              <a:prstGeom prst="ellipse">
                <a:avLst/>
              </a:prstGeom>
              <a:solidFill>
                <a:schemeClr val="accent2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39" name="Oval 5">
                <a:extLst>
                  <a:ext uri="{FF2B5EF4-FFF2-40B4-BE49-F238E27FC236}">
                    <a16:creationId xmlns:a16="http://schemas.microsoft.com/office/drawing/2014/main" id="{AA3A8A3A-E81C-4F16-9EA2-9F11A9775EE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307620" y="2814331"/>
                <a:ext cx="95903" cy="95276"/>
              </a:xfrm>
              <a:prstGeom prst="ellipse">
                <a:avLst/>
              </a:prstGeom>
              <a:solidFill>
                <a:schemeClr val="accent3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0" name="Oval 6">
                <a:extLst>
                  <a:ext uri="{FF2B5EF4-FFF2-40B4-BE49-F238E27FC236}">
                    <a16:creationId xmlns:a16="http://schemas.microsoft.com/office/drawing/2014/main" id="{539165D2-E0B0-4B91-BDF2-5FF535A7206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477486" y="2814331"/>
                <a:ext cx="95903" cy="95276"/>
              </a:xfrm>
              <a:prstGeom prst="ellipse">
                <a:avLst/>
              </a:prstGeom>
              <a:solidFill>
                <a:schemeClr val="accent4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1" name="Rectangle 92">
                <a:extLst>
                  <a:ext uri="{FF2B5EF4-FFF2-40B4-BE49-F238E27FC236}">
                    <a16:creationId xmlns:a16="http://schemas.microsoft.com/office/drawing/2014/main" id="{B58995FD-774E-443F-8F74-D69C353CA9C0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05844" y="3085114"/>
                <a:ext cx="5104773" cy="200580"/>
              </a:xfrm>
              <a:prstGeom prst="rect">
                <a:avLst/>
              </a:prstGeom>
              <a:solidFill>
                <a:srgbClr val="FFFFFF"/>
              </a:solidFill>
              <a:ln w="25400" cap="flat">
                <a:solidFill>
                  <a:srgbClr val="B3B3B3"/>
                </a:solidFill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  <p:grpSp>
            <p:nvGrpSpPr>
              <p:cNvPr id="42" name="Group 93">
                <a:extLst>
                  <a:ext uri="{FF2B5EF4-FFF2-40B4-BE49-F238E27FC236}">
                    <a16:creationId xmlns:a16="http://schemas.microsoft.com/office/drawing/2014/main" id="{022AA45E-1A3D-4A3B-B08F-4D64E6102BF2}"/>
                  </a:ext>
                </a:extLst>
              </p:cNvPr>
              <p:cNvGrpSpPr/>
              <p:nvPr/>
            </p:nvGrpSpPr>
            <p:grpSpPr>
              <a:xfrm>
                <a:off x="7494380" y="2779230"/>
                <a:ext cx="155357" cy="155272"/>
                <a:chOff x="4763" y="0"/>
                <a:chExt cx="2900362" cy="2898775"/>
              </a:xfrm>
              <a:solidFill>
                <a:schemeClr val="bg1">
                  <a:lumMod val="50000"/>
                </a:schemeClr>
              </a:solidFill>
            </p:grpSpPr>
            <p:sp>
              <p:nvSpPr>
                <p:cNvPr id="45" name="Freeform 13">
                  <a:extLst>
                    <a:ext uri="{FF2B5EF4-FFF2-40B4-BE49-F238E27FC236}">
                      <a16:creationId xmlns:a16="http://schemas.microsoft.com/office/drawing/2014/main" id="{2EE8F120-DDD5-495E-8097-10825D0A1E6D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0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2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6" name="Freeform 14">
                  <a:extLst>
                    <a:ext uri="{FF2B5EF4-FFF2-40B4-BE49-F238E27FC236}">
                      <a16:creationId xmlns:a16="http://schemas.microsoft.com/office/drawing/2014/main" id="{899F88D3-5C91-4BBA-BE63-9371B4B356C8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1087438"/>
                  <a:ext cx="727075" cy="722313"/>
                </a:xfrm>
                <a:custGeom>
                  <a:avLst/>
                  <a:gdLst>
                    <a:gd name="T0" fmla="*/ 168 w 193"/>
                    <a:gd name="T1" fmla="*/ 0 h 192"/>
                    <a:gd name="T2" fmla="*/ 24 w 193"/>
                    <a:gd name="T3" fmla="*/ 0 h 192"/>
                    <a:gd name="T4" fmla="*/ 0 w 193"/>
                    <a:gd name="T5" fmla="*/ 24 h 192"/>
                    <a:gd name="T6" fmla="*/ 0 w 193"/>
                    <a:gd name="T7" fmla="*/ 168 h 192"/>
                    <a:gd name="T8" fmla="*/ 24 w 193"/>
                    <a:gd name="T9" fmla="*/ 192 h 192"/>
                    <a:gd name="T10" fmla="*/ 168 w 193"/>
                    <a:gd name="T11" fmla="*/ 192 h 192"/>
                    <a:gd name="T12" fmla="*/ 193 w 193"/>
                    <a:gd name="T13" fmla="*/ 168 h 192"/>
                    <a:gd name="T14" fmla="*/ 193 w 193"/>
                    <a:gd name="T15" fmla="*/ 24 h 192"/>
                    <a:gd name="T16" fmla="*/ 168 w 193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2" y="192"/>
                        <a:pt x="193" y="181"/>
                        <a:pt x="193" y="168"/>
                      </a:cubicBezTo>
                      <a:cubicBezTo>
                        <a:pt x="193" y="24"/>
                        <a:pt x="193" y="24"/>
                        <a:pt x="193" y="24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7" name="Freeform 15">
                  <a:extLst>
                    <a:ext uri="{FF2B5EF4-FFF2-40B4-BE49-F238E27FC236}">
                      <a16:creationId xmlns:a16="http://schemas.microsoft.com/office/drawing/2014/main" id="{C1C5DCC2-9B40-4DA3-AB2F-ED9C5D891CE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4763" y="2171700"/>
                  <a:ext cx="727075" cy="727075"/>
                </a:xfrm>
                <a:custGeom>
                  <a:avLst/>
                  <a:gdLst>
                    <a:gd name="T0" fmla="*/ 168 w 193"/>
                    <a:gd name="T1" fmla="*/ 0 h 193"/>
                    <a:gd name="T2" fmla="*/ 24 w 193"/>
                    <a:gd name="T3" fmla="*/ 0 h 193"/>
                    <a:gd name="T4" fmla="*/ 0 w 193"/>
                    <a:gd name="T5" fmla="*/ 25 h 193"/>
                    <a:gd name="T6" fmla="*/ 0 w 193"/>
                    <a:gd name="T7" fmla="*/ 169 h 193"/>
                    <a:gd name="T8" fmla="*/ 24 w 193"/>
                    <a:gd name="T9" fmla="*/ 193 h 193"/>
                    <a:gd name="T10" fmla="*/ 168 w 193"/>
                    <a:gd name="T11" fmla="*/ 193 h 193"/>
                    <a:gd name="T12" fmla="*/ 193 w 193"/>
                    <a:gd name="T13" fmla="*/ 169 h 193"/>
                    <a:gd name="T14" fmla="*/ 193 w 193"/>
                    <a:gd name="T15" fmla="*/ 25 h 193"/>
                    <a:gd name="T16" fmla="*/ 168 w 193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3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2" y="193"/>
                        <a:pt x="193" y="182"/>
                        <a:pt x="193" y="169"/>
                      </a:cubicBezTo>
                      <a:cubicBezTo>
                        <a:pt x="193" y="25"/>
                        <a:pt x="193" y="25"/>
                        <a:pt x="193" y="25"/>
                      </a:cubicBezTo>
                      <a:cubicBezTo>
                        <a:pt x="193" y="11"/>
                        <a:pt x="182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8" name="Freeform 16">
                  <a:extLst>
                    <a:ext uri="{FF2B5EF4-FFF2-40B4-BE49-F238E27FC236}">
                      <a16:creationId xmlns:a16="http://schemas.microsoft.com/office/drawing/2014/main" id="{0721D991-881C-4DBE-AF30-E47AE304B7B5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0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49" name="Freeform 17">
                  <a:extLst>
                    <a:ext uri="{FF2B5EF4-FFF2-40B4-BE49-F238E27FC236}">
                      <a16:creationId xmlns:a16="http://schemas.microsoft.com/office/drawing/2014/main" id="{97111254-2A6F-40F4-8741-1C703E43B986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1087438"/>
                  <a:ext cx="722312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1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0" name="Freeform 18">
                  <a:extLst>
                    <a:ext uri="{FF2B5EF4-FFF2-40B4-BE49-F238E27FC236}">
                      <a16:creationId xmlns:a16="http://schemas.microsoft.com/office/drawing/2014/main" id="{3448ADF5-3363-4495-90EA-D3397EA0A37A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1093788" y="2171700"/>
                  <a:ext cx="722312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1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1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1" name="Freeform 19">
                  <a:extLst>
                    <a:ext uri="{FF2B5EF4-FFF2-40B4-BE49-F238E27FC236}">
                      <a16:creationId xmlns:a16="http://schemas.microsoft.com/office/drawing/2014/main" id="{A11FFFD8-A688-46DB-9518-83D23CB9AE91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0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2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2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2" name="Freeform 20">
                  <a:extLst>
                    <a:ext uri="{FF2B5EF4-FFF2-40B4-BE49-F238E27FC236}">
                      <a16:creationId xmlns:a16="http://schemas.microsoft.com/office/drawing/2014/main" id="{3B48C2AB-505E-4332-A44A-9D533A650440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1087438"/>
                  <a:ext cx="723900" cy="722313"/>
                </a:xfrm>
                <a:custGeom>
                  <a:avLst/>
                  <a:gdLst>
                    <a:gd name="T0" fmla="*/ 168 w 192"/>
                    <a:gd name="T1" fmla="*/ 0 h 192"/>
                    <a:gd name="T2" fmla="*/ 24 w 192"/>
                    <a:gd name="T3" fmla="*/ 0 h 192"/>
                    <a:gd name="T4" fmla="*/ 0 w 192"/>
                    <a:gd name="T5" fmla="*/ 24 h 192"/>
                    <a:gd name="T6" fmla="*/ 0 w 192"/>
                    <a:gd name="T7" fmla="*/ 168 h 192"/>
                    <a:gd name="T8" fmla="*/ 24 w 192"/>
                    <a:gd name="T9" fmla="*/ 192 h 192"/>
                    <a:gd name="T10" fmla="*/ 168 w 192"/>
                    <a:gd name="T11" fmla="*/ 192 h 192"/>
                    <a:gd name="T12" fmla="*/ 192 w 192"/>
                    <a:gd name="T13" fmla="*/ 168 h 192"/>
                    <a:gd name="T14" fmla="*/ 192 w 192"/>
                    <a:gd name="T15" fmla="*/ 24 h 192"/>
                    <a:gd name="T16" fmla="*/ 168 w 192"/>
                    <a:gd name="T17" fmla="*/ 0 h 19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2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4"/>
                      </a:cubicBezTo>
                      <a:cubicBezTo>
                        <a:pt x="0" y="168"/>
                        <a:pt x="0" y="168"/>
                        <a:pt x="0" y="168"/>
                      </a:cubicBezTo>
                      <a:cubicBezTo>
                        <a:pt x="0" y="181"/>
                        <a:pt x="10" y="192"/>
                        <a:pt x="24" y="192"/>
                      </a:cubicBezTo>
                      <a:cubicBezTo>
                        <a:pt x="168" y="192"/>
                        <a:pt x="168" y="192"/>
                        <a:pt x="168" y="192"/>
                      </a:cubicBezTo>
                      <a:cubicBezTo>
                        <a:pt x="181" y="192"/>
                        <a:pt x="192" y="181"/>
                        <a:pt x="192" y="168"/>
                      </a:cubicBezTo>
                      <a:cubicBezTo>
                        <a:pt x="192" y="24"/>
                        <a:pt x="192" y="24"/>
                        <a:pt x="192" y="24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  <p:sp>
              <p:nvSpPr>
                <p:cNvPr id="53" name="Freeform 21">
                  <a:extLst>
                    <a:ext uri="{FF2B5EF4-FFF2-40B4-BE49-F238E27FC236}">
                      <a16:creationId xmlns:a16="http://schemas.microsoft.com/office/drawing/2014/main" id="{EBFBAB80-64C2-4E27-A1CC-A218E6C35627}"/>
                    </a:ext>
                  </a:extLst>
                </p:cNvPr>
                <p:cNvSpPr>
                  <a:spLocks/>
                </p:cNvSpPr>
                <p:nvPr/>
              </p:nvSpPr>
              <p:spPr bwMode="auto">
                <a:xfrm>
                  <a:off x="2181225" y="2171700"/>
                  <a:ext cx="723900" cy="727075"/>
                </a:xfrm>
                <a:custGeom>
                  <a:avLst/>
                  <a:gdLst>
                    <a:gd name="T0" fmla="*/ 168 w 192"/>
                    <a:gd name="T1" fmla="*/ 0 h 193"/>
                    <a:gd name="T2" fmla="*/ 24 w 192"/>
                    <a:gd name="T3" fmla="*/ 0 h 193"/>
                    <a:gd name="T4" fmla="*/ 0 w 192"/>
                    <a:gd name="T5" fmla="*/ 25 h 193"/>
                    <a:gd name="T6" fmla="*/ 0 w 192"/>
                    <a:gd name="T7" fmla="*/ 169 h 193"/>
                    <a:gd name="T8" fmla="*/ 24 w 192"/>
                    <a:gd name="T9" fmla="*/ 193 h 193"/>
                    <a:gd name="T10" fmla="*/ 168 w 192"/>
                    <a:gd name="T11" fmla="*/ 193 h 193"/>
                    <a:gd name="T12" fmla="*/ 192 w 192"/>
                    <a:gd name="T13" fmla="*/ 169 h 193"/>
                    <a:gd name="T14" fmla="*/ 192 w 192"/>
                    <a:gd name="T15" fmla="*/ 25 h 193"/>
                    <a:gd name="T16" fmla="*/ 168 w 192"/>
                    <a:gd name="T17" fmla="*/ 0 h 19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</a:cxnLst>
                  <a:rect l="0" t="0" r="r" b="b"/>
                  <a:pathLst>
                    <a:path w="192" h="193">
                      <a:moveTo>
                        <a:pt x="168" y="0"/>
                      </a:moveTo>
                      <a:cubicBezTo>
                        <a:pt x="24" y="0"/>
                        <a:pt x="24" y="0"/>
                        <a:pt x="24" y="0"/>
                      </a:cubicBezTo>
                      <a:cubicBezTo>
                        <a:pt x="10" y="0"/>
                        <a:pt x="0" y="11"/>
                        <a:pt x="0" y="25"/>
                      </a:cubicBezTo>
                      <a:cubicBezTo>
                        <a:pt x="0" y="169"/>
                        <a:pt x="0" y="169"/>
                        <a:pt x="0" y="169"/>
                      </a:cubicBezTo>
                      <a:cubicBezTo>
                        <a:pt x="0" y="182"/>
                        <a:pt x="10" y="193"/>
                        <a:pt x="24" y="193"/>
                      </a:cubicBezTo>
                      <a:cubicBezTo>
                        <a:pt x="168" y="193"/>
                        <a:pt x="168" y="193"/>
                        <a:pt x="168" y="193"/>
                      </a:cubicBezTo>
                      <a:cubicBezTo>
                        <a:pt x="181" y="193"/>
                        <a:pt x="192" y="182"/>
                        <a:pt x="192" y="169"/>
                      </a:cubicBezTo>
                      <a:cubicBezTo>
                        <a:pt x="192" y="25"/>
                        <a:pt x="192" y="25"/>
                        <a:pt x="192" y="25"/>
                      </a:cubicBezTo>
                      <a:cubicBezTo>
                        <a:pt x="192" y="11"/>
                        <a:pt x="181" y="0"/>
                        <a:pt x="168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="" xmlns:a14="http://schemas.microsoft.com/office/drawing/2010/main" w="9525">
                      <a:solidFill>
                        <a:srgbClr val="000000"/>
                      </a:solidFill>
                      <a:round/>
                      <a:headEnd/>
                      <a:tailE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</a:bodyPr>
                <a:lstStyle/>
                <a:p>
                  <a:endParaRPr lang="id-ID" dirty="0">
                    <a:latin typeface="Lato Light"/>
                  </a:endParaRPr>
                </a:p>
              </p:txBody>
            </p:sp>
          </p:grpSp>
          <p:sp>
            <p:nvSpPr>
              <p:cNvPr id="43" name="Freeform 25">
                <a:extLst>
                  <a:ext uri="{FF2B5EF4-FFF2-40B4-BE49-F238E27FC236}">
                    <a16:creationId xmlns:a16="http://schemas.microsoft.com/office/drawing/2014/main" id="{27106E3B-5EE5-442B-87E5-0B8163B99979}"/>
                  </a:ext>
                </a:extLst>
              </p:cNvPr>
              <p:cNvSpPr>
                <a:spLocks/>
              </p:cNvSpPr>
              <p:nvPr/>
            </p:nvSpPr>
            <p:spPr bwMode="auto">
              <a:xfrm rot="5400000">
                <a:off x="7497092" y="3115886"/>
                <a:ext cx="146921" cy="128651"/>
              </a:xfrm>
              <a:custGeom>
                <a:avLst/>
                <a:gdLst>
                  <a:gd name="T0" fmla="*/ 504 w 896"/>
                  <a:gd name="T1" fmla="*/ 0 h 784"/>
                  <a:gd name="T2" fmla="*/ 116 w 896"/>
                  <a:gd name="T3" fmla="*/ 336 h 784"/>
                  <a:gd name="T4" fmla="*/ 0 w 896"/>
                  <a:gd name="T5" fmla="*/ 336 h 784"/>
                  <a:gd name="T6" fmla="*/ 168 w 896"/>
                  <a:gd name="T7" fmla="*/ 560 h 784"/>
                  <a:gd name="T8" fmla="*/ 336 w 896"/>
                  <a:gd name="T9" fmla="*/ 336 h 784"/>
                  <a:gd name="T10" fmla="*/ 230 w 896"/>
                  <a:gd name="T11" fmla="*/ 336 h 784"/>
                  <a:gd name="T12" fmla="*/ 504 w 896"/>
                  <a:gd name="T13" fmla="*/ 112 h 784"/>
                  <a:gd name="T14" fmla="*/ 784 w 896"/>
                  <a:gd name="T15" fmla="*/ 392 h 784"/>
                  <a:gd name="T16" fmla="*/ 504 w 896"/>
                  <a:gd name="T17" fmla="*/ 672 h 784"/>
                  <a:gd name="T18" fmla="*/ 504 w 896"/>
                  <a:gd name="T19" fmla="*/ 784 h 784"/>
                  <a:gd name="T20" fmla="*/ 896 w 896"/>
                  <a:gd name="T21" fmla="*/ 392 h 784"/>
                  <a:gd name="T22" fmla="*/ 504 w 896"/>
                  <a:gd name="T23" fmla="*/ 0 h 78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896" h="784">
                    <a:moveTo>
                      <a:pt x="504" y="0"/>
                    </a:moveTo>
                    <a:cubicBezTo>
                      <a:pt x="307" y="0"/>
                      <a:pt x="144" y="146"/>
                      <a:pt x="116" y="336"/>
                    </a:cubicBezTo>
                    <a:cubicBezTo>
                      <a:pt x="0" y="336"/>
                      <a:pt x="0" y="336"/>
                      <a:pt x="0" y="336"/>
                    </a:cubicBezTo>
                    <a:cubicBezTo>
                      <a:pt x="168" y="560"/>
                      <a:pt x="168" y="560"/>
                      <a:pt x="168" y="560"/>
                    </a:cubicBezTo>
                    <a:cubicBezTo>
                      <a:pt x="336" y="336"/>
                      <a:pt x="336" y="336"/>
                      <a:pt x="336" y="336"/>
                    </a:cubicBezTo>
                    <a:cubicBezTo>
                      <a:pt x="230" y="336"/>
                      <a:pt x="230" y="336"/>
                      <a:pt x="230" y="336"/>
                    </a:cubicBezTo>
                    <a:cubicBezTo>
                      <a:pt x="256" y="208"/>
                      <a:pt x="369" y="112"/>
                      <a:pt x="504" y="112"/>
                    </a:cubicBezTo>
                    <a:cubicBezTo>
                      <a:pt x="658" y="112"/>
                      <a:pt x="784" y="238"/>
                      <a:pt x="784" y="392"/>
                    </a:cubicBezTo>
                    <a:cubicBezTo>
                      <a:pt x="784" y="546"/>
                      <a:pt x="658" y="672"/>
                      <a:pt x="504" y="672"/>
                    </a:cubicBezTo>
                    <a:cubicBezTo>
                      <a:pt x="504" y="784"/>
                      <a:pt x="504" y="784"/>
                      <a:pt x="504" y="784"/>
                    </a:cubicBezTo>
                    <a:cubicBezTo>
                      <a:pt x="721" y="784"/>
                      <a:pt x="896" y="609"/>
                      <a:pt x="896" y="392"/>
                    </a:cubicBezTo>
                    <a:cubicBezTo>
                      <a:pt x="896" y="175"/>
                      <a:pt x="721" y="0"/>
                      <a:pt x="504" y="0"/>
                    </a:cubicBezTo>
                    <a:close/>
                  </a:path>
                </a:pathLst>
              </a:cu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id-ID" dirty="0">
                  <a:latin typeface="Lato Light"/>
                </a:endParaRPr>
              </a:p>
            </p:txBody>
          </p:sp>
          <p:sp>
            <p:nvSpPr>
              <p:cNvPr id="44" name="Oval 6">
                <a:extLst>
                  <a:ext uri="{FF2B5EF4-FFF2-40B4-BE49-F238E27FC236}">
                    <a16:creationId xmlns:a16="http://schemas.microsoft.com/office/drawing/2014/main" id="{AFFAA0AD-114A-4831-ACE3-B8C4258E3CB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655635" y="2814331"/>
                <a:ext cx="95903" cy="95276"/>
              </a:xfrm>
              <a:prstGeom prst="ellipse">
                <a:avLst/>
              </a:prstGeom>
              <a:solidFill>
                <a:schemeClr val="accent5"/>
              </a:solidFill>
              <a:ln w="25400" cap="flat">
                <a:noFill/>
                <a:prstDash val="solid"/>
                <a:miter lim="800000"/>
                <a:headEnd type="none" w="med" len="med"/>
                <a:tailEnd type="none" w="med" len="med"/>
              </a:ln>
            </p:spPr>
            <p:txBody>
              <a:bodyPr lIns="0" tIns="0" rIns="0" bIns="0"/>
              <a:lstStyle/>
              <a:p>
                <a:endParaRPr lang="id-ID" dirty="0">
                  <a:latin typeface="Lato Light"/>
                </a:endParaRPr>
              </a:p>
            </p:txBody>
          </p: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44BEAEF8-91EF-49C8-A667-2BC7D51C2397}"/>
                </a:ext>
              </a:extLst>
            </p:cNvPr>
            <p:cNvSpPr txBox="1"/>
            <p:nvPr/>
          </p:nvSpPr>
          <p:spPr>
            <a:xfrm>
              <a:off x="2391108" y="2996115"/>
              <a:ext cx="1593994" cy="39702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/>
              <a:r>
                <a:rPr lang="ru-RU" sz="1000">
                  <a:solidFill>
                    <a:schemeClr val="tx1"/>
                  </a:solidFill>
                  <a:latin typeface="Poppins Light" charset="0"/>
                  <a:ea typeface="Poppins Light" charset="0"/>
                  <a:cs typeface="Poppins Light" charset="0"/>
                </a:rPr>
                <a:t>docker run resense</a:t>
              </a:r>
            </a:p>
          </p:txBody>
        </p:sp>
        <p:sp>
          <p:nvSpPr>
            <p:cNvPr id="34" name="Freeform 29">
              <a:extLst>
                <a:ext uri="{FF2B5EF4-FFF2-40B4-BE49-F238E27FC236}">
                  <a16:creationId xmlns:a16="http://schemas.microsoft.com/office/drawing/2014/main" id="{1C88632E-4E09-404A-9868-C0997FA11EA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269943" y="3130076"/>
              <a:ext cx="115372" cy="115448"/>
            </a:xfrm>
            <a:custGeom>
              <a:avLst/>
              <a:gdLst>
                <a:gd name="T0" fmla="*/ 0 w 636"/>
                <a:gd name="T1" fmla="*/ 318 h 636"/>
                <a:gd name="T2" fmla="*/ 636 w 636"/>
                <a:gd name="T3" fmla="*/ 318 h 636"/>
                <a:gd name="T4" fmla="*/ 594 w 636"/>
                <a:gd name="T5" fmla="*/ 308 h 636"/>
                <a:gd name="T6" fmla="*/ 448 w 636"/>
                <a:gd name="T7" fmla="*/ 179 h 636"/>
                <a:gd name="T8" fmla="*/ 594 w 636"/>
                <a:gd name="T9" fmla="*/ 308 h 636"/>
                <a:gd name="T10" fmla="*/ 223 w 636"/>
                <a:gd name="T11" fmla="*/ 486 h 636"/>
                <a:gd name="T12" fmla="*/ 308 w 636"/>
                <a:gd name="T13" fmla="*/ 594 h 636"/>
                <a:gd name="T14" fmla="*/ 329 w 636"/>
                <a:gd name="T15" fmla="*/ 42 h 636"/>
                <a:gd name="T16" fmla="*/ 328 w 636"/>
                <a:gd name="T17" fmla="*/ 184 h 636"/>
                <a:gd name="T18" fmla="*/ 329 w 636"/>
                <a:gd name="T19" fmla="*/ 42 h 636"/>
                <a:gd name="T20" fmla="*/ 510 w 636"/>
                <a:gd name="T21" fmla="*/ 119 h 636"/>
                <a:gd name="T22" fmla="*/ 363 w 636"/>
                <a:gd name="T23" fmla="*/ 45 h 636"/>
                <a:gd name="T24" fmla="*/ 308 w 636"/>
                <a:gd name="T25" fmla="*/ 184 h 636"/>
                <a:gd name="T26" fmla="*/ 307 w 636"/>
                <a:gd name="T27" fmla="*/ 42 h 636"/>
                <a:gd name="T28" fmla="*/ 196 w 636"/>
                <a:gd name="T29" fmla="*/ 160 h 636"/>
                <a:gd name="T30" fmla="*/ 273 w 636"/>
                <a:gd name="T31" fmla="*/ 45 h 636"/>
                <a:gd name="T32" fmla="*/ 207 w 636"/>
                <a:gd name="T33" fmla="*/ 186 h 636"/>
                <a:gd name="T34" fmla="*/ 308 w 636"/>
                <a:gd name="T35" fmla="*/ 308 h 636"/>
                <a:gd name="T36" fmla="*/ 207 w 636"/>
                <a:gd name="T37" fmla="*/ 186 h 636"/>
                <a:gd name="T38" fmla="*/ 308 w 636"/>
                <a:gd name="T39" fmla="*/ 452 h 636"/>
                <a:gd name="T40" fmla="*/ 185 w 636"/>
                <a:gd name="T41" fmla="*/ 328 h 636"/>
                <a:gd name="T42" fmla="*/ 273 w 636"/>
                <a:gd name="T43" fmla="*/ 591 h 636"/>
                <a:gd name="T44" fmla="*/ 204 w 636"/>
                <a:gd name="T45" fmla="*/ 493 h 636"/>
                <a:gd name="T46" fmla="*/ 328 w 636"/>
                <a:gd name="T47" fmla="*/ 594 h 636"/>
                <a:gd name="T48" fmla="*/ 413 w 636"/>
                <a:gd name="T49" fmla="*/ 486 h 636"/>
                <a:gd name="T50" fmla="*/ 328 w 636"/>
                <a:gd name="T51" fmla="*/ 594 h 636"/>
                <a:gd name="T52" fmla="*/ 498 w 636"/>
                <a:gd name="T53" fmla="*/ 528 h 636"/>
                <a:gd name="T54" fmla="*/ 432 w 636"/>
                <a:gd name="T55" fmla="*/ 493 h 636"/>
                <a:gd name="T56" fmla="*/ 328 w 636"/>
                <a:gd name="T57" fmla="*/ 452 h 636"/>
                <a:gd name="T58" fmla="*/ 451 w 636"/>
                <a:gd name="T59" fmla="*/ 328 h 636"/>
                <a:gd name="T60" fmla="*/ 328 w 636"/>
                <a:gd name="T61" fmla="*/ 308 h 636"/>
                <a:gd name="T62" fmla="*/ 429 w 636"/>
                <a:gd name="T63" fmla="*/ 186 h 636"/>
                <a:gd name="T64" fmla="*/ 328 w 636"/>
                <a:gd name="T65" fmla="*/ 308 h 636"/>
                <a:gd name="T66" fmla="*/ 188 w 636"/>
                <a:gd name="T67" fmla="*/ 179 h 636"/>
                <a:gd name="T68" fmla="*/ 42 w 636"/>
                <a:gd name="T69" fmla="*/ 308 h 636"/>
                <a:gd name="T70" fmla="*/ 42 w 636"/>
                <a:gd name="T71" fmla="*/ 328 h 636"/>
                <a:gd name="T72" fmla="*/ 195 w 636"/>
                <a:gd name="T73" fmla="*/ 475 h 636"/>
                <a:gd name="T74" fmla="*/ 42 w 636"/>
                <a:gd name="T75" fmla="*/ 328 h 636"/>
                <a:gd name="T76" fmla="*/ 441 w 636"/>
                <a:gd name="T77" fmla="*/ 475 h 636"/>
                <a:gd name="T78" fmla="*/ 594 w 636"/>
                <a:gd name="T79" fmla="*/ 328 h 6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636" h="636">
                  <a:moveTo>
                    <a:pt x="318" y="0"/>
                  </a:moveTo>
                  <a:cubicBezTo>
                    <a:pt x="142" y="0"/>
                    <a:pt x="0" y="142"/>
                    <a:pt x="0" y="318"/>
                  </a:cubicBezTo>
                  <a:cubicBezTo>
                    <a:pt x="0" y="494"/>
                    <a:pt x="142" y="636"/>
                    <a:pt x="318" y="636"/>
                  </a:cubicBezTo>
                  <a:cubicBezTo>
                    <a:pt x="494" y="636"/>
                    <a:pt x="636" y="494"/>
                    <a:pt x="636" y="318"/>
                  </a:cubicBezTo>
                  <a:cubicBezTo>
                    <a:pt x="636" y="142"/>
                    <a:pt x="494" y="0"/>
                    <a:pt x="318" y="0"/>
                  </a:cubicBezTo>
                  <a:close/>
                  <a:moveTo>
                    <a:pt x="594" y="308"/>
                  </a:moveTo>
                  <a:cubicBezTo>
                    <a:pt x="471" y="308"/>
                    <a:pt x="471" y="308"/>
                    <a:pt x="471" y="308"/>
                  </a:cubicBezTo>
                  <a:cubicBezTo>
                    <a:pt x="470" y="262"/>
                    <a:pt x="462" y="219"/>
                    <a:pt x="448" y="179"/>
                  </a:cubicBezTo>
                  <a:cubicBezTo>
                    <a:pt x="476" y="168"/>
                    <a:pt x="501" y="152"/>
                    <a:pt x="525" y="134"/>
                  </a:cubicBezTo>
                  <a:cubicBezTo>
                    <a:pt x="566" y="181"/>
                    <a:pt x="592" y="241"/>
                    <a:pt x="594" y="308"/>
                  </a:cubicBezTo>
                  <a:close/>
                  <a:moveTo>
                    <a:pt x="307" y="594"/>
                  </a:moveTo>
                  <a:cubicBezTo>
                    <a:pt x="273" y="566"/>
                    <a:pt x="244" y="529"/>
                    <a:pt x="223" y="486"/>
                  </a:cubicBezTo>
                  <a:cubicBezTo>
                    <a:pt x="250" y="478"/>
                    <a:pt x="278" y="473"/>
                    <a:pt x="308" y="472"/>
                  </a:cubicBezTo>
                  <a:cubicBezTo>
                    <a:pt x="308" y="594"/>
                    <a:pt x="308" y="594"/>
                    <a:pt x="308" y="594"/>
                  </a:cubicBezTo>
                  <a:cubicBezTo>
                    <a:pt x="307" y="594"/>
                    <a:pt x="307" y="594"/>
                    <a:pt x="307" y="594"/>
                  </a:cubicBezTo>
                  <a:close/>
                  <a:moveTo>
                    <a:pt x="329" y="42"/>
                  </a:moveTo>
                  <a:cubicBezTo>
                    <a:pt x="368" y="74"/>
                    <a:pt x="400" y="117"/>
                    <a:pt x="421" y="167"/>
                  </a:cubicBezTo>
                  <a:cubicBezTo>
                    <a:pt x="392" y="177"/>
                    <a:pt x="361" y="183"/>
                    <a:pt x="328" y="184"/>
                  </a:cubicBezTo>
                  <a:cubicBezTo>
                    <a:pt x="328" y="42"/>
                    <a:pt x="328" y="42"/>
                    <a:pt x="328" y="42"/>
                  </a:cubicBezTo>
                  <a:cubicBezTo>
                    <a:pt x="329" y="42"/>
                    <a:pt x="329" y="42"/>
                    <a:pt x="329" y="42"/>
                  </a:cubicBezTo>
                  <a:close/>
                  <a:moveTo>
                    <a:pt x="363" y="45"/>
                  </a:moveTo>
                  <a:cubicBezTo>
                    <a:pt x="420" y="55"/>
                    <a:pt x="471" y="81"/>
                    <a:pt x="510" y="119"/>
                  </a:cubicBezTo>
                  <a:cubicBezTo>
                    <a:pt x="489" y="136"/>
                    <a:pt x="466" y="150"/>
                    <a:pt x="440" y="160"/>
                  </a:cubicBezTo>
                  <a:cubicBezTo>
                    <a:pt x="421" y="116"/>
                    <a:pt x="395" y="77"/>
                    <a:pt x="363" y="45"/>
                  </a:cubicBezTo>
                  <a:close/>
                  <a:moveTo>
                    <a:pt x="308" y="42"/>
                  </a:moveTo>
                  <a:cubicBezTo>
                    <a:pt x="308" y="184"/>
                    <a:pt x="308" y="184"/>
                    <a:pt x="308" y="184"/>
                  </a:cubicBezTo>
                  <a:cubicBezTo>
                    <a:pt x="275" y="183"/>
                    <a:pt x="244" y="177"/>
                    <a:pt x="215" y="167"/>
                  </a:cubicBezTo>
                  <a:cubicBezTo>
                    <a:pt x="236" y="117"/>
                    <a:pt x="268" y="74"/>
                    <a:pt x="307" y="42"/>
                  </a:cubicBezTo>
                  <a:cubicBezTo>
                    <a:pt x="307" y="42"/>
                    <a:pt x="307" y="42"/>
                    <a:pt x="308" y="42"/>
                  </a:cubicBezTo>
                  <a:close/>
                  <a:moveTo>
                    <a:pt x="196" y="160"/>
                  </a:moveTo>
                  <a:cubicBezTo>
                    <a:pt x="171" y="150"/>
                    <a:pt x="147" y="136"/>
                    <a:pt x="126" y="119"/>
                  </a:cubicBezTo>
                  <a:cubicBezTo>
                    <a:pt x="165" y="81"/>
                    <a:pt x="216" y="55"/>
                    <a:pt x="273" y="45"/>
                  </a:cubicBezTo>
                  <a:cubicBezTo>
                    <a:pt x="241" y="77"/>
                    <a:pt x="215" y="116"/>
                    <a:pt x="196" y="160"/>
                  </a:cubicBezTo>
                  <a:close/>
                  <a:moveTo>
                    <a:pt x="207" y="186"/>
                  </a:moveTo>
                  <a:cubicBezTo>
                    <a:pt x="239" y="197"/>
                    <a:pt x="273" y="204"/>
                    <a:pt x="308" y="205"/>
                  </a:cubicBezTo>
                  <a:cubicBezTo>
                    <a:pt x="308" y="308"/>
                    <a:pt x="308" y="308"/>
                    <a:pt x="308" y="308"/>
                  </a:cubicBezTo>
                  <a:cubicBezTo>
                    <a:pt x="185" y="308"/>
                    <a:pt x="185" y="308"/>
                    <a:pt x="185" y="308"/>
                  </a:cubicBezTo>
                  <a:cubicBezTo>
                    <a:pt x="186" y="265"/>
                    <a:pt x="194" y="224"/>
                    <a:pt x="207" y="186"/>
                  </a:cubicBezTo>
                  <a:close/>
                  <a:moveTo>
                    <a:pt x="308" y="328"/>
                  </a:moveTo>
                  <a:cubicBezTo>
                    <a:pt x="308" y="452"/>
                    <a:pt x="308" y="452"/>
                    <a:pt x="308" y="452"/>
                  </a:cubicBezTo>
                  <a:cubicBezTo>
                    <a:pt x="275" y="453"/>
                    <a:pt x="244" y="458"/>
                    <a:pt x="215" y="468"/>
                  </a:cubicBezTo>
                  <a:cubicBezTo>
                    <a:pt x="197" y="425"/>
                    <a:pt x="186" y="378"/>
                    <a:pt x="185" y="328"/>
                  </a:cubicBezTo>
                  <a:lnTo>
                    <a:pt x="308" y="328"/>
                  </a:lnTo>
                  <a:close/>
                  <a:moveTo>
                    <a:pt x="273" y="591"/>
                  </a:moveTo>
                  <a:cubicBezTo>
                    <a:pt x="222" y="582"/>
                    <a:pt x="176" y="560"/>
                    <a:pt x="138" y="528"/>
                  </a:cubicBezTo>
                  <a:cubicBezTo>
                    <a:pt x="158" y="514"/>
                    <a:pt x="180" y="502"/>
                    <a:pt x="204" y="493"/>
                  </a:cubicBezTo>
                  <a:cubicBezTo>
                    <a:pt x="222" y="531"/>
                    <a:pt x="245" y="563"/>
                    <a:pt x="273" y="591"/>
                  </a:cubicBezTo>
                  <a:close/>
                  <a:moveTo>
                    <a:pt x="328" y="594"/>
                  </a:moveTo>
                  <a:cubicBezTo>
                    <a:pt x="328" y="472"/>
                    <a:pt x="328" y="472"/>
                    <a:pt x="328" y="472"/>
                  </a:cubicBezTo>
                  <a:cubicBezTo>
                    <a:pt x="358" y="473"/>
                    <a:pt x="386" y="478"/>
                    <a:pt x="413" y="486"/>
                  </a:cubicBezTo>
                  <a:cubicBezTo>
                    <a:pt x="392" y="529"/>
                    <a:pt x="363" y="566"/>
                    <a:pt x="329" y="594"/>
                  </a:cubicBezTo>
                  <a:cubicBezTo>
                    <a:pt x="329" y="594"/>
                    <a:pt x="329" y="594"/>
                    <a:pt x="328" y="594"/>
                  </a:cubicBezTo>
                  <a:close/>
                  <a:moveTo>
                    <a:pt x="432" y="493"/>
                  </a:moveTo>
                  <a:cubicBezTo>
                    <a:pt x="456" y="502"/>
                    <a:pt x="478" y="514"/>
                    <a:pt x="498" y="528"/>
                  </a:cubicBezTo>
                  <a:cubicBezTo>
                    <a:pt x="460" y="560"/>
                    <a:pt x="414" y="582"/>
                    <a:pt x="363" y="591"/>
                  </a:cubicBezTo>
                  <a:cubicBezTo>
                    <a:pt x="391" y="563"/>
                    <a:pt x="414" y="531"/>
                    <a:pt x="432" y="493"/>
                  </a:cubicBezTo>
                  <a:close/>
                  <a:moveTo>
                    <a:pt x="421" y="468"/>
                  </a:moveTo>
                  <a:cubicBezTo>
                    <a:pt x="392" y="458"/>
                    <a:pt x="361" y="453"/>
                    <a:pt x="328" y="452"/>
                  </a:cubicBezTo>
                  <a:cubicBezTo>
                    <a:pt x="328" y="328"/>
                    <a:pt x="328" y="328"/>
                    <a:pt x="328" y="328"/>
                  </a:cubicBezTo>
                  <a:cubicBezTo>
                    <a:pt x="451" y="328"/>
                    <a:pt x="451" y="328"/>
                    <a:pt x="451" y="328"/>
                  </a:cubicBezTo>
                  <a:cubicBezTo>
                    <a:pt x="450" y="378"/>
                    <a:pt x="439" y="425"/>
                    <a:pt x="421" y="468"/>
                  </a:cubicBezTo>
                  <a:close/>
                  <a:moveTo>
                    <a:pt x="328" y="308"/>
                  </a:moveTo>
                  <a:cubicBezTo>
                    <a:pt x="328" y="205"/>
                    <a:pt x="328" y="205"/>
                    <a:pt x="328" y="205"/>
                  </a:cubicBezTo>
                  <a:cubicBezTo>
                    <a:pt x="363" y="204"/>
                    <a:pt x="397" y="197"/>
                    <a:pt x="429" y="186"/>
                  </a:cubicBezTo>
                  <a:cubicBezTo>
                    <a:pt x="442" y="224"/>
                    <a:pt x="450" y="265"/>
                    <a:pt x="451" y="308"/>
                  </a:cubicBezTo>
                  <a:lnTo>
                    <a:pt x="328" y="308"/>
                  </a:lnTo>
                  <a:close/>
                  <a:moveTo>
                    <a:pt x="111" y="134"/>
                  </a:moveTo>
                  <a:cubicBezTo>
                    <a:pt x="135" y="152"/>
                    <a:pt x="160" y="168"/>
                    <a:pt x="188" y="179"/>
                  </a:cubicBezTo>
                  <a:cubicBezTo>
                    <a:pt x="174" y="219"/>
                    <a:pt x="166" y="262"/>
                    <a:pt x="165" y="308"/>
                  </a:cubicBezTo>
                  <a:cubicBezTo>
                    <a:pt x="42" y="308"/>
                    <a:pt x="42" y="308"/>
                    <a:pt x="42" y="308"/>
                  </a:cubicBezTo>
                  <a:cubicBezTo>
                    <a:pt x="44" y="241"/>
                    <a:pt x="70" y="181"/>
                    <a:pt x="111" y="134"/>
                  </a:cubicBezTo>
                  <a:close/>
                  <a:moveTo>
                    <a:pt x="42" y="328"/>
                  </a:moveTo>
                  <a:cubicBezTo>
                    <a:pt x="165" y="328"/>
                    <a:pt x="165" y="328"/>
                    <a:pt x="165" y="328"/>
                  </a:cubicBezTo>
                  <a:cubicBezTo>
                    <a:pt x="166" y="381"/>
                    <a:pt x="177" y="430"/>
                    <a:pt x="195" y="475"/>
                  </a:cubicBezTo>
                  <a:cubicBezTo>
                    <a:pt x="169" y="485"/>
                    <a:pt x="145" y="498"/>
                    <a:pt x="123" y="514"/>
                  </a:cubicBezTo>
                  <a:cubicBezTo>
                    <a:pt x="75" y="466"/>
                    <a:pt x="44" y="401"/>
                    <a:pt x="42" y="328"/>
                  </a:cubicBezTo>
                  <a:close/>
                  <a:moveTo>
                    <a:pt x="513" y="514"/>
                  </a:moveTo>
                  <a:cubicBezTo>
                    <a:pt x="491" y="498"/>
                    <a:pt x="467" y="485"/>
                    <a:pt x="441" y="475"/>
                  </a:cubicBezTo>
                  <a:cubicBezTo>
                    <a:pt x="459" y="430"/>
                    <a:pt x="470" y="381"/>
                    <a:pt x="471" y="328"/>
                  </a:cubicBezTo>
                  <a:cubicBezTo>
                    <a:pt x="594" y="328"/>
                    <a:pt x="594" y="328"/>
                    <a:pt x="594" y="328"/>
                  </a:cubicBezTo>
                  <a:cubicBezTo>
                    <a:pt x="592" y="401"/>
                    <a:pt x="561" y="466"/>
                    <a:pt x="513" y="514"/>
                  </a:cubicBezTo>
                  <a:close/>
                </a:path>
              </a:pathLst>
            </a:custGeom>
            <a:solidFill>
              <a:schemeClr val="bg1">
                <a:lumMod val="50000"/>
              </a:schemeClr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id-ID" dirty="0">
                <a:latin typeface="Lato Light"/>
              </a:endParaRPr>
            </a:p>
          </p:txBody>
        </p:sp>
      </p:grp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EA08EBDD-D3B1-49F6-BC92-38ED9C834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27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71A900A-8BF5-4238-B577-5FBBE4A75C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Веб-дашборд «Контроль свободного габарита»: вид из кабины по статусу узла из Docker-прогона на doubleT_obstacle — STOP 56,1 м, оценка дальности контроля 56 м; живой узел — через rosbridge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735CE154-6330-485C-8E80-D5D601B2BAD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/>
            <a:r>
              <a:rPr lang="ru-RU" sz="1200">
                <a:solidFill>
                  <a:schemeClr val="tx1"/>
                </a:solidFill>
              </a:rPr>
              <a:t>Цепочка жюри в Docker: узел с RViz, bag play от обычного пользователя из другого контейнера, /resense/decision — STOP 56 м (видео 69 с)</a:t>
            </a:r>
          </a:p>
        </p:txBody>
      </p:sp>
      <p:pic>
        <p:nvPicPr>
          <p:cNvPr id="5" name="Рисунок 4" descr="dashboard-cab-real.png"/>
          <p:cNvPicPr>
            <a:picLocks noGrp="1" noChangeAspect="1"/>
          </p:cNvPicPr>
          <p:nvPr>
            <p:ph type="pic" sz="quarter" idx="14"/>
          </p:nvPr>
        </p:nvPicPr>
        <p:blipFill>
          <a:blip r:embed="rId3"/>
          <a:srcRect t="743" b="743"/>
          <a:stretch>
            <a:fillRect/>
          </a:stretch>
        </p:blipFill>
        <p:spPr/>
      </p:pic>
      <p:pic>
        <p:nvPicPr>
          <p:cNvPr id="6" name="Рисунок 5" descr="docker_chain_rviz.jpg"/>
          <p:cNvPicPr>
            <a:picLocks noGrp="1" noChangeAspect="1"/>
          </p:cNvPicPr>
          <p:nvPr>
            <p:ph type="pic" sz="quarter" idx="18"/>
          </p:nvPr>
        </p:nvPicPr>
        <p:blipFill>
          <a:blip r:embed="rId4"/>
          <a:srcRect t="743" b="743"/>
          <a:stretch>
            <a:fillRect/>
          </a:stretch>
        </p:blipFill>
        <p:spPr/>
      </p:pic>
      <p:sp>
        <p:nvSpPr>
          <p:cNvPr id="55" name="Заголовок 13">
            <a:extLst>
              <a:ext uri="{FF2B5EF4-FFF2-40B4-BE49-F238E27FC236}">
                <a16:creationId xmlns:a16="http://schemas.microsoft.com/office/drawing/2014/main" id="{F83D1BEE-59E5-12AF-CCDA-133537DF5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pPr/>
            <a:r>
              <a:rPr lang="ru-RU"/>
              <a:t>ДЕМОНСТРАЦИЯ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10643" y="5700000"/>
            <a:ext cx="9770000" cy="4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ru-RU" b="1" sz="1600">
                <a:solidFill>
                  <a:srgbClr val="520978"/>
                </a:solidFill>
              </a:rPr>
              <a:t>docker load → docker run → ros2 bag play → /resense/decision</a:t>
            </a:r>
          </a:p>
        </p:txBody>
      </p:sp>
    </p:spTree>
    <p:extLst>
      <p:ext uri="{BB962C8B-B14F-4D97-AF65-F5344CB8AC3E}">
        <p14:creationId xmlns:p14="http://schemas.microsoft.com/office/powerpoint/2010/main" val="116396432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ReSense — ЛЦТ 2026, кейс 05: посторонние объекты в тоннеле метро по данным 3D-лидара</dc:title>
  <dc:creator>Команда «Молоток»</dc:creator>
  <cp:lastModifiedBy>Команда «Молоток»</cp:lastModifiedBy>
  <cp:revision>95</cp:revision>
  <dcterms:created xsi:type="dcterms:W3CDTF">2023-05-15T07:36:23Z</dcterms:created>
  <dcterms:modified xsi:type="dcterms:W3CDTF">2026-09-14T11:14:59Z</dcterms:modified>
  <dc:subject>Лидеры цифровой трансформации 2026</dc:subject>
  <cp:keywords>LiDAR, ROS 2, метро, габарит, обнаружение препятствий</cp:keywords>
</cp:coreProperties>
</file>