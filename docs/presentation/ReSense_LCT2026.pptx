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268" r:id="rId25"/>
    <p:sldId id="369" r:id="rId13"/>
    <p:sldId id="267" r:id="rId26"/>
    <p:sldId id="372" r:id="rId14"/>
    <p:sldId id="270" r:id="rId28"/>
    <p:sldId id="262" r:id="rId21"/>
    <p:sldId id="266" r:id="rId23"/>
    <p:sldId id="263" r:id="rId22"/>
    <p:sldId id="371" r:id="rId17"/>
    <p:sldId id="370" r:id="rId16"/>
    <p:sldId id="374" r:id="rId18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8" Type="http://schemas.openxmlformats.org/officeDocument/2006/relationships/slide" Target="slides/slide27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_____Microsoft_Excel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_____Microsoft_Excel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первый STOP, м</c:v>
                </c:pt>
              </c:strCache>
            </c:strRef>
          </c:tx>
          <c:spPr>
            <a:solidFill>
              <a:schemeClr val="accent1"/>
            </a:solidFill>
            <a:ln w="63500">
              <a:noFill/>
            </a:ln>
            <a:effectLst/>
          </c:spPr>
          <c:invertIfNegative val="0"/>
          <c:dPt>
            <c:idx val="0"/>
            <c:spPr>
              <a:solidFill>
                <a:srgbClr val="FF0053"/>
              </a:solidFill>
            </c:spPr>
          </c:dPt>
          <c:dPt>
            <c:idx val="1"/>
            <c:spPr>
              <a:solidFill>
                <a:srgbClr val="8A83D1"/>
              </a:solidFill>
            </c:spPr>
          </c:dPt>
          <c:dPt>
            <c:idx val="2"/>
            <c:spPr>
              <a:solidFill>
                <a:srgbClr val="8A83D1"/>
              </a:solidFill>
            </c:spPr>
          </c:dPt>
          <c:dPt>
            <c:idx val="3"/>
            <c:spPr>
              <a:solidFill>
                <a:srgbClr val="FF0053"/>
              </a:solidFill>
            </c:spPr>
          </c:dPt>
          <c:dPt>
            <c:idx val="4"/>
            <c:spPr>
              <a:solidFill>
                <a:srgbClr val="FF0053"/>
              </a:solidFill>
            </c:spPr>
          </c:dPt>
          <c:dPt>
            <c:idx val="5"/>
            <c:spPr>
              <a:solidFill>
                <a:srgbClr val="FF0053"/>
              </a:solidFill>
            </c:spPr>
          </c:dPt>
          <c:dPt>
            <c:idx val="6"/>
            <c:spPr>
              <a:solidFill>
                <a:srgbClr val="FF0053"/>
              </a:solidFill>
            </c:spPr>
          </c:dPt>
          <c:dPt>
            <c:idx val="7"/>
            <c:spPr>
              <a:solidFill>
                <a:srgbClr val="FF0053"/>
              </a:solidFill>
            </c:spPr>
          </c:dPt>
          <c:dLbls>
            <c:numFmt formatCode="0&quot; м&quot;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висящий предмет 5 см</c:v>
                </c:pt>
                <c:pt idx="1">
                  <c:v>ящик 2 × 2 м у края</c:v>
                </c:pt>
                <c:pt idx="2">
                  <c:v>куб 0,3 м у края</c:v>
                </c:pt>
                <c:pt idx="3">
                  <c:v>куб 0,3 м в воздухе</c:v>
                </c:pt>
                <c:pt idx="4">
                  <c:v>куб 0,3 м на рельсе</c:v>
                </c:pt>
                <c:pt idx="5">
                  <c:v>доска поперёк рельсов</c:v>
                </c:pt>
                <c:pt idx="6">
                  <c:v>ящик 2 × 2 м в центре</c:v>
                </c:pt>
                <c:pt idx="7">
                  <c:v>ящик 2 × 2 м, верх габарита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30</c:v>
                </c:pt>
                <c:pt idx="1">
                  <c:v>10</c:v>
                </c:pt>
                <c:pt idx="2">
                  <c:v>5</c:v>
                </c:pt>
                <c:pt idx="3">
                  <c:v>53</c:v>
                </c:pt>
                <c:pt idx="4">
                  <c:v>43</c:v>
                </c:pt>
                <c:pt idx="5">
                  <c:v>82</c:v>
                </c:pt>
                <c:pt idx="6">
                  <c:v>98</c:v>
                </c:pt>
                <c:pt idx="7">
                  <c:v>101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86-41F6-8A85-7879D9C60F88}"/>
            </c:ext>
          </c:extLst>
        </c:ser>
        <c:dLbls>
          <c:numFmt formatCode="0&quot; м&quot;" sourceLinked="0"/>
          <c:txPr>
            <a:bodyPr/>
            <a:lstStyle/>
            <a:p>
              <a:pPr>
                <a:defRPr sz="1100" b="1">
                  <a:solidFill>
                    <a:srgbClr val="FFFFF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tickLblSkip val="1"/>
        <c:noMultiLvlLbl val="0"/>
      </c:catAx>
      <c:valAx>
        <c:axId val="1173587135"/>
        <c:scaling>
          <c:orientation val="minMax"/>
          <c:max val="150.0"/>
          <c:min val="0.0"/>
        </c:scaling>
        <c:delete val="0"/>
        <c:axPos val="b"/>
        <c:majorGridlines>
          <c:spPr>
            <a:ln w="9525" cap="flat" cmpd="sng" algn="ctr">
              <a:solidFill>
                <a:schemeClr val="bg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50.0"/>
      </c:valAx>
      <c:spPr>
        <a:noFill/>
        <a:ln w="25400"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1"/>
          <c:order val="0"/>
          <c:tx>
            <c:strRef>
              <c:f>Sheet1!$B$1</c:f>
              <c:strCache>
                <c:ptCount val="1"/>
                <c:pt idx="0">
                  <c:v>первое подтверждение, м</c:v>
                </c:pt>
              </c:strCache>
            </c:strRef>
          </c:tx>
          <c:spPr>
            <a:solidFill>
              <a:schemeClr val="accent2"/>
            </a:solidFill>
            <a:ln w="63500">
              <a:solidFill>
                <a:schemeClr val="accent2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C3777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2C0-E743-BC6B-AB142BB83263}"/>
              </c:ext>
            </c:extLst>
          </c:dPt>
          <c:dPt>
            <c:idx val="1"/>
            <c:invertIfNegative val="0"/>
            <c:bubble3D val="0"/>
            <c:spPr>
              <a:solidFill>
                <a:srgbClr val="FFD6E4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B35E-4C45-8CA2-C11611997942}"/>
              </c:ext>
            </c:extLst>
          </c:dPt>
          <c:dPt>
            <c:idx val="2"/>
            <c:invertIfNegative val="0"/>
            <c:bubble3D val="0"/>
            <c:spPr>
              <a:solidFill>
                <a:srgbClr val="8A83D1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B35E-4C45-8CA2-C11611997942}"/>
              </c:ext>
            </c:extLst>
          </c:dPt>
          <c:dPt>
            <c:idx val="3"/>
            <c:invertIfNegative val="0"/>
            <c:bubble3D val="0"/>
            <c:spPr>
              <a:solidFill>
                <a:srgbClr val="520978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35E-4C45-8CA2-C11611997942}"/>
              </c:ext>
            </c:extLst>
          </c:dPt>
          <c:dPt>
            <c:idx val="4"/>
            <c:spPr>
              <a:solidFill>
                <a:srgbClr val="310F53"/>
              </a:solidFill>
            </c:spPr>
          </c:dPt>
          <c:dPt>
            <c:idx val="5"/>
            <c:spPr>
              <a:solidFill>
                <a:srgbClr val="FC3777"/>
              </a:solidFill>
            </c:spPr>
          </c:dPt>
          <c:dPt>
            <c:idx val="6"/>
            <c:spPr>
              <a:solidFill>
                <a:srgbClr val="FF0053"/>
              </a:solidFill>
            </c:spPr>
          </c:dPt>
          <c:dLbls>
            <c:numFmt formatCode="0&quot; м&quot;" sourceLinked="0"/>
            <c:txPr>
              <a:bodyPr/>
              <a:lstStyle/>
              <a:p>
                <a:pPr>
                  <a:defRPr sz="12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предмет поперёк рельса</c:v>
                </c:pt>
                <c:pt idx="1">
                  <c:v>ящик 30 см на рельсе</c:v>
                </c:pt>
                <c:pt idx="2">
                  <c:v>висящий кабель 3 см</c:v>
                </c:pt>
                <c:pt idx="3">
                  <c:v>ящик 1 м</c:v>
                </c:pt>
                <c:pt idx="4">
                  <c:v>тележка</c:v>
                </c:pt>
                <c:pt idx="5">
                  <c:v>человек 1,7 м</c:v>
                </c:pt>
                <c:pt idx="6">
                  <c:v>человек 1,7 м · от рельсов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46</c:v>
                </c:pt>
                <c:pt idx="1">
                  <c:v>49</c:v>
                </c:pt>
                <c:pt idx="2">
                  <c:v>95</c:v>
                </c:pt>
                <c:pt idx="3">
                  <c:v>111</c:v>
                </c:pt>
                <c:pt idx="4">
                  <c:v>144</c:v>
                </c:pt>
                <c:pt idx="5">
                  <c:v>148</c:v>
                </c:pt>
                <c:pt idx="6">
                  <c:v>154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35E-4C45-8CA2-C11611997942}"/>
            </c:ext>
          </c:extLst>
        </c:ser>
        <c:dLbls>
          <c:numFmt formatCode="0&quot; м&quot;" sourceLinked="0"/>
          <c:txPr>
            <a:bodyPr/>
            <a:lstStyle/>
            <a:p>
              <a:pPr>
                <a:defRPr sz="12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0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tickLblSkip val="1"/>
        <c:noMultiLvlLbl val="0"/>
      </c:catAx>
      <c:valAx>
        <c:axId val="1173587135"/>
        <c:scaling>
          <c:orientation val="minMax"/>
          <c:max val="200.0"/>
          <c:min val="0.0"/>
        </c:scaling>
        <c:delete val="0"/>
        <c:axPos val="b"/>
        <c:majorGridlines>
          <c:spPr>
            <a:ln w="9525" cap="flat" cmpd="sng" algn="ctr">
              <a:solidFill>
                <a:schemeClr val="tx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50.0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Роли: капитан — ROS 2, Docker и интеграция; визуализация и презентация; компьютерное зрение — модель пути и трекинг; данные, синтетика, метрики и тесты. Каждый отвечал за свою часть, код общий.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Почему эта задача: метро — наша ежедневная дорога, а препятствий в данных почти нет, поэтому мы не учим сеть на объектах, а описываем нормальный тоннель. Главные трудности — ложные остановки на станциях и разные записи; обе решены в самой системе.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— команда «Молоток», четверо друзей из одного лицея; на конкурсы всегда выходим этим составом. Наше решение называется ReSense. Одной фразой: описываем нормальный тоннель и сообщаем всё, что попадает в габарит поезда.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Одной фразой: описываем нормальный тоннель и сообщаем всё, что попадает в габарит поезда. Работает в ROS 2 и Docker, без обучения на объектах. GPU мы оценили и не используем: выигрыш — десятки миллисекунд, а контейнер с запросом GPU не стартует на машине без nvidia-container-toolkit.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Почему не нейросеть: реальных препятствий в данных почти нет, а на 100+ м у объекта единицы точек. Геометрия среды переносится между тоннелями, внешний вид объектов —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числа дальше — на всех 13 759 кадрах организаторов. Каждая запись обрывается на 209–210 м: дальше в тоннеле нет ни одного отражения, и это предел для любого алгоритма на этих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шагов на каждый кадр, 23–31 мс в среднем на одном ядре; это с необязательными ядрами на C++, без них время детектора в 1,6–2,3 раза больше при том же выходе бит в бит. Калибровка крепления — сама, по рельсам; кривизна — по стенам, поэтому коридор осмыслен и там, где рельсов уже не видно.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тоннель — двухпутный, поезд стоит, лидар на кабине. Вот облако: 350 тысяч точек за 0,1 с. Зелёным — габарит поезда, который алгоритм сам протянул вдоль оси пути по рельсам и стенам. Жёлтым — всё, что попало в коридор. И вот человек, который переходит путь: красная рамка, 55,8 метра, решение STOP. Справа — его точки крупно. Когда человек уходит, на рельсе остаётся предмет 45 × 60 × 30 см — его алгоритм тоже держит.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Цепочка организаторов прогнана в Docker на реальных записях: узел в одном контейнере, bag play из другого, от обычного пользователя. Решение — топик /resense/decision: GO, CAUTION, STOP, FAULT. Слева — наш дашборд: вид из кабины по статусу того же узла.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Человек на пути — 58 из 61 кадра, предмет на рельсе — 125 из 126. Ложных событий в 20-минутной поездке — 3,5 на км, почти вдвое меньше, чем в v0.6.1. На объектах самих организаторов большой ящик — с 98 м, кубы 30 см — только с 43–53 м; STOP у всех восьми, но у края — лишь 2 и 6 кадров, о них — через слайд.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Первое подтверждение человека — 148 м, медиана шести подходов. В пяти парных подходах — 150 м, а если ставить его по ближним рельсам, а не по нашей же дальней оси, — 154 м: дальность на прямой не зависит от оси детектора. Со скоростью поезда — 167 м; свою скорость мы меряем по лидару с ошибкой 0,07 м/с, но раньше STOP она не даёт, поэтому это опция. Дальше 210 м отражений нет. Всё это синтетика в реальных кадрах поездки.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единственная внешняя проверка — объекты, которые вставили сами организаторы, поезд едет к ним до 20 м/с. Большой ящик — с первого появления, 98 м; доска поперёк рельсов — с 82 м. Кубы 30 см — только с 43–53 м: на 60–115 м от них 2–4 точки в кадре. Висящий предмет 5 см — с 30 м; ящик у верха габарита — непрерывно с 101 м; у края — STOP лишь в 2 и 6 кадрах: объекты ставили от оси лидара, а наш габарит идёт по рельсам.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Надёжность: сами находим крепление и вход, при проблемах с данными говорим FAULT, а не молчим.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не сработало и почему: полотно полно железа, станции — главный источник ложных остановок, мелкие объекты организаторов видим поздно, тонкие — только вблизи, у края — лишь в нескольких кадрах.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Итог: работающий модуль, честные цифры, понятные следующие шаги — мелкие объекты раньше, скорость от одометрии и замер на 8-ядерной машине.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/>
            </a:r>
          </a:p>
          <a:p>
            <a:pPr lvl="1"/>
            <a:r>
              <a:rPr lang="ru-RU" dirty="0"/>
              <a:t/>
            </a:r>
          </a:p>
          <a:p>
            <a:pPr lvl="2"/>
            <a:r>
              <a:rPr lang="ru-RU" dirty="0"/>
              <a:t/>
            </a:r>
          </a:p>
          <a:p>
            <a:pPr lvl="3"/>
            <a:r>
              <a:rPr lang="ru-RU" dirty="0"/>
              <a:t/>
            </a:r>
          </a:p>
          <a:p>
            <a:pPr lvl="4"/>
            <a:r>
              <a:rPr lang="ru-RU" dirty="0"/>
              <a:t/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  <p:txBody>
          <a:bodyPr/>
          <a:p/>
        </p:txBody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  <p:txBody>
          <a:bodyPr/>
          <a:p/>
        </p:txBody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26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827.jpg"/><Relationship Id="rId4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1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30.png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4.png"/><Relationship Id="rId3" Type="http://schemas.openxmlformats.org/officeDocument/2006/relationships/image" Target="../media/image828.png"/><Relationship Id="rId4" Type="http://schemas.openxmlformats.org/officeDocument/2006/relationships/image" Target="../media/image829.jpg"/><Relationship Id="rId5" Type="http://schemas.openxmlformats.org/officeDocument/2006/relationships/notesSlide" Target="../notesSlides/notesSlide10.xml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rPr lang="ru-RU" sz="4800"/>
              <a:t>Молоток</a:t>
            </a:r>
          </a:p>
        </p:txBody>
      </p:sp>
      <p:pic>
        <p:nvPicPr>
          <p:cNvPr id="4" name="Рисунок 3" descr="image.png"/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/>
          <a:stretch>
            <a:fillRect/>
          </a:stretch>
        </p:blipFill>
        <p:spPr>
          <a:xfrm>
            <a:off x="305186" y="535493"/>
            <a:ext cx="2455420" cy="671205"/>
          </a:xfrm>
        </p:spPr>
      </p:pic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0" marL="268288"/>
            <a:r>
              <a:rPr lang="ru-RU" sz="1500"/>
              <a:t>Кейс 05 · решение ReSense</a:t>
            </a:r>
          </a:p>
          <a:p>
            <a:pPr indent="0" marL="268288"/>
            <a:r>
              <a:rPr lang="ru-RU" sz="1500"/>
              <a:t>Обнаружение посторонних объектов в тоннеле метро по данным 3D-лидара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13500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sz="1200">
                <a:solidFill>
                  <a:schemeClr val="tx1"/>
                </a:solidFill>
              </a:rPr>
              <a:t>Описываем среду, а не объекты: крепление лидара и ось пути калибруются по рельсам в каждом кадре, кривизна — по стенам и рядам колонн, поэтому коридор осмыслен и там, где рельсов уже не видно. Публикуем оценку дальности контроля; возможны пропуски объектов. Настройка и оценка — на препятствиях, вставленных трассировкой лучей в реальные кадры.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Капитан:</a:t>
            </a:r>
            <a:r>
              <a:rPr lang="ru-RU">
                <a:solidFill>
                  <a:schemeClr val="tx1"/>
                </a:solidFill>
              </a:rPr>
              <a:t xml:space="preserve"> &lt;ФИО&gt;, &lt;специальность&gt;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Кол-во участников:</a:t>
            </a:r>
            <a:r>
              <a:rPr lang="ru-RU">
                <a:solidFill>
                  <a:schemeClr val="tx1"/>
                </a:solidFill>
              </a:rPr>
              <a:t xml:space="preserve"> 4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Краткое описание:</a:t>
            </a:r>
          </a:p>
          <a:p>
            <a:pPr rtl="0" marL="289376" indent="-144688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–"/>
            </a:pPr>
            <a:r>
              <a:rPr lang="ru-RU">
                <a:solidFill>
                  <a:schemeClr val="tx1"/>
                </a:solidFill>
              </a:rPr>
              <a:t>&lt;как образовалась команда&gt;</a:t>
            </a:r>
          </a:p>
          <a:p>
            <a:pPr rtl="0" marL="289376" indent="-144688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–"/>
            </a:pPr>
            <a:r>
              <a:rPr lang="ru-RU">
                <a:solidFill>
                  <a:schemeClr val="tx1"/>
                </a:solidFill>
              </a:rPr>
              <a:t>место учёбы: &lt;место учёбы / работы&gt;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Город и регион:</a:t>
            </a:r>
            <a:r>
              <a:rPr lang="ru-RU">
                <a:solidFill>
                  <a:schemeClr val="tx1"/>
                </a:solidFill>
              </a:rPr>
              <a:t xml:space="preserve"> &lt;город&gt;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pPr/>
            <a:r>
              <a:rPr lang="ru-RU" sz="2400">
                <a:solidFill>
                  <a:schemeClr val="accent5"/>
                </a:solidFill>
                <a:latin typeface="+mn-lt"/>
              </a:rPr>
              <a:t>КОМАНДА «Молоток»</a:t>
            </a: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17800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sz="1200">
                <a:solidFill>
                  <a:schemeClr val="tx1"/>
                </a:solidFill>
              </a:rPr>
              <a:t>ROS 2-модуль: по потоку 3D-лидара 10 раз в секунду строит модель «нормального тоннеля» — полотно, рельсы, ось пути с кривизной по стенам, — проверяет габарит поезда 2,1 × 3,0 м и отвечает GO / CAUTION / STOP / FAULT с расстоянием до препятствия. Без обучения на объектах, без GPU, в Docker.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384698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401926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Визуализация, демо, презентация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учёбы / работы&gt;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401926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615230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632458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Компьютерное зрение: модель пути, трекинг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учёбы / работы&gt;</a:t>
            </a: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632458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845762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862990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Данные, синтетика, метрики, тесты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учёбы / работы&gt;</a:t>
            </a: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862990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154166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1776987" y="1816054"/>
            <a:ext cx="1722566" cy="1552901"/>
          </a:xfrm>
        </p:spPr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4082057" y="1826554"/>
            <a:ext cx="1722566" cy="1542401"/>
          </a:xfrm>
        </p:spPr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6387374" y="1809238"/>
            <a:ext cx="1722567" cy="1559717"/>
          </a:xfrm>
        </p:spPr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D6C4749F-7C67-9CD8-7C7C-023BB23DC622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8715798" y="1809238"/>
            <a:ext cx="1722567" cy="1559717"/>
          </a:xfrm>
        </p:spPr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pPr/>
            <a:r>
              <a:rPr lang="ru-RU">
                <a:latin typeface="+mn-lt"/>
              </a:rPr>
              <a:t>КОМАНДА «Молоток»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171395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Капитан · ROS 2, Docker, интеграция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учёбы / работы&gt;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171394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pPr/>
            <a:r>
              <a:rPr lang="ru-RU">
                <a:latin typeface="+mn-lt"/>
              </a:rPr>
              <a:t>ИСТОРИЯ КОМАНДЫ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sz="1200">
                <a:solidFill>
                  <a:schemeClr val="tx1"/>
                </a:solidFill>
              </a:rPr>
              <a:t>Четыре инженерных направления — ROS 2 и интеграция, визуализация, компьютерное зрение, данные и тесты — собраны вокруг задачи контроля габарита тоннеля по 3D-лидару.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200">
                <a:solidFill>
                  <a:schemeClr val="tx1"/>
                </a:solidFill>
              </a:rPr>
              <a:t>Препятствий в записях почти нет — «ставили» людей и ящики в реальные кадры трассировкой лучей лидара; эти примеры оцениваются отдельно от реальных записей. Станции и стрелки давали ложные остановки — помогли ось по стенам, зона доверия и подтверждение 0,5 с. Записи разные (два топика, 120° и 360°, наклон крепления 3°) — узел сам находит вход и калибруется по рельсам.</a:t>
            </a: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200">
                <a:solidFill>
                  <a:schemeClr val="tx1"/>
                </a:solidFill>
              </a:rPr>
              <a:t>В записях почти нет реальных препятствий, а станции и стрелки похожи на объекты. Поэтому система описывает геометрию тоннеля и проверяет, подтверждён ли свободный габарит.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ROS 2 Humble-узел на Python (numpy / scipy / scikit-learn) и необязательные ядра на C++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Вход — PointCloud2 любого из двух наборов топик / frame_id; выход — решение GO / CAUTION / STOP / FAULT, дистанция до препятствия и оценка дальности контроля, Detection3DArray, маркеры RViz, JSON-статус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В каждом кадре: автокалибровка крепления → модель пути (полотно, рельсы, ось, кривизна по стенам) → габарит 2,1 × 3,0 м + низкие объекты на рельсах → кластеры → фильтры инфраструктуры → подтверждение 0,5 с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23–31 мс на кадр (p95 ≤ 42 мс) на одном ядре с ядрами на C++ (они сокращают время детектора на 38–57 %, выход тот же)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Все 13 759 реальных кадров: человек на пути найден в 58 из 61 кадров, 3,5 ложных события на км поездки (правила решались на ней же)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Только CPU: GPU оценили и не берём — выигрыш ≤ 30–45 мс на кадр, а контейнер с GPU не стартует без nvidia-container-toolkit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lang="ru-RU" sz="1200" b="1">
                <a:solidFill>
                  <a:schemeClr val="tx1"/>
                </a:solidFill>
              </a:rPr>
              <a:t>Применение:</a:t>
            </a:r>
            <a:r>
              <a:rPr lang="ru-RU" sz="1200">
                <a:solidFill>
                  <a:schemeClr val="tx1"/>
                </a:solidFill>
              </a:rPr>
              <a:t xml:space="preserve"> «взгляд вперёд» для беспилотного поезда (GoA3/4) и хозяйственных поездов; контроль габарита при обкатке линий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ru-RU" sz="1200" b="1">
                <a:solidFill>
                  <a:schemeClr val="tx1"/>
                </a:solidFill>
              </a:rPr>
              <a:t>Развитие:</a:t>
            </a:r>
            <a:r>
              <a:rPr lang="ru-RU" sz="1200">
                <a:solidFill>
                  <a:schemeClr val="tx1"/>
                </a:solidFill>
              </a:rPr>
              <a:t xml:space="preserve"> скорость поезда от одометрии — узел её уже принимает (своя оценка по лидару: ошибка 0,07 м/с, пока опция); опора высоты по своду тоннеля — мелкие объекты дальше 100 м; «второе мнение» на реальных препятствиях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ru-RU" sz="1200" b="1">
                <a:solidFill>
                  <a:schemeClr val="tx1"/>
                </a:solidFill>
              </a:rPr>
              <a:t>Внедрение:</a:t>
            </a:r>
            <a:r>
              <a:rPr lang="ru-RU" sz="1200">
                <a:solidFill>
                  <a:schemeClr val="tx1"/>
                </a:solidFill>
              </a:rPr>
              <a:t xml:space="preserve"> docker load → docker run → ros2 bag play; один файл параметров; стандартные сообщения ROS 2 — стыкуется с системой торможения без переделки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1B6129-4E5A-20E2-763B-F5010C611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8974761F-D4F8-560C-B069-01DF6B0C0103}"/>
              </a:ext>
            </a:extLst>
          </p:cNvPr>
          <p:cNvSpPr/>
          <p:nvPr/>
        </p:nvSpPr>
        <p:spPr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9" name="Объект 28">
            <a:extLst>
              <a:ext uri="{FF2B5EF4-FFF2-40B4-BE49-F238E27FC236}">
                <a16:creationId xmlns:a16="http://schemas.microsoft.com/office/drawing/2014/main" id="{02AA36D4-0DFA-1A2E-6B29-8BA1BF5F9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133" y="1263123"/>
            <a:ext cx="5574868" cy="4937652"/>
          </a:xfrm>
        </p:spPr>
        <p:txBody>
          <a:bodyPr/>
          <a:lstStyle/>
          <a:p>
            <a:pPr>
              <a:spcBef>
                <a:spcPts val="800"/>
              </a:spcBef>
            </a:pPr>
            <a:r>
              <a:rPr lang="ru-RU" b="1" sz="1300">
                <a:solidFill>
                  <a:schemeClr val="tx1"/>
                </a:solidFill>
              </a:rPr>
              <a:t>13 759 кадров</a:t>
            </a:r>
            <a:r>
              <a:rPr lang="ru-RU" sz="1300">
                <a:solidFill>
                  <a:schemeClr val="tx1"/>
                </a:solidFill>
              </a:rPr>
              <a:t xml:space="preserve"> — 6 записей (2 488) и 20-минутная поездка (11 271 кадр, 13 км, 7 остановок, кривые до R ≈ 350 м)</a:t>
            </a:r>
          </a:p>
          <a:p>
            <a:pPr>
              <a:spcBef>
                <a:spcPts val="800"/>
              </a:spcBef>
            </a:pPr>
            <a:r>
              <a:rPr lang="ru-RU" b="1" sz="1300">
                <a:solidFill>
                  <a:schemeClr val="tx1"/>
                </a:solidFill>
              </a:rPr>
              <a:t>Hesai Pandar128</a:t>
            </a:r>
            <a:r>
              <a:rPr lang="ru-RU" sz="1300">
                <a:solidFill>
                  <a:schemeClr val="tx1"/>
                </a:solidFill>
              </a:rPr>
              <a:t>, 10 Гц, ~190 тыс. точек в кадре: стены видны на 150–200 м, полотно — до ~100 м</a:t>
            </a:r>
          </a:p>
          <a:p>
            <a:pPr>
              <a:spcBef>
                <a:spcPts val="800"/>
              </a:spcBef>
            </a:pPr>
            <a:r>
              <a:rPr lang="ru-RU" b="1" sz="1300">
                <a:solidFill>
                  <a:schemeClr val="tx1"/>
                </a:solidFill>
              </a:rPr>
              <a:t>~210 м — предел отражений в тоннеле:</a:t>
            </a:r>
            <a:r>
              <a:rPr lang="ru-RU" sz="1300">
                <a:solidFill>
                  <a:schemeClr val="tx1"/>
                </a:solidFill>
              </a:rPr>
              <a:t xml:space="preserve"> каждая запись обрывается на 209–210 м, дальше нет ни одной точки (паспорт: 200 м при 10 % отражения)</a:t>
            </a:r>
          </a:p>
          <a:p>
            <a:pPr>
              <a:spcBef>
                <a:spcPts val="800"/>
              </a:spcBef>
            </a:pPr>
            <a:r>
              <a:rPr lang="ru-RU" sz="1300">
                <a:solidFill>
                  <a:schemeClr val="tx1"/>
                </a:solidFill>
              </a:rPr>
              <a:t>Объект 0,5 м даёт ~7 точек на 100 м и 1–2 точки на 200 м</a:t>
            </a:r>
          </a:p>
          <a:p>
            <a:pPr>
              <a:spcBef>
                <a:spcPts val="800"/>
              </a:spcBef>
            </a:pPr>
            <a:r>
              <a:rPr lang="ru-RU" sz="1300">
                <a:solidFill>
                  <a:schemeClr val="tx1"/>
                </a:solidFill>
              </a:rPr>
              <a:t>Реальные препятствия: человек и предмет на рельсе в записи doubleT_obstacle; всё остальное — синтетика в реальных кадрах, каждое число помечено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4CAD271A-25D6-5986-96AF-8705ED30C1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12</a:t>
            </a:fld>
            <a:endParaRPr lang="ru-RU" dirty="0"/>
          </a:p>
        </p:txBody>
      </p:sp>
      <p:sp>
        <p:nvSpPr>
          <p:cNvPr id="28" name="Заголовок 27">
            <a:extLst>
              <a:ext uri="{FF2B5EF4-FFF2-40B4-BE49-F238E27FC236}">
                <a16:creationId xmlns:a16="http://schemas.microsoft.com/office/drawing/2014/main" id="{EA3A5BFD-C872-ACEC-AC6D-6D57CA434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44" y="395288"/>
            <a:ext cx="5574868" cy="425729"/>
          </a:xfrm>
        </p:spPr>
        <p:txBody>
          <a:bodyPr/>
          <a:lstStyle/>
          <a:p>
            <a:pPr/>
            <a:r>
              <a:rPr lang="ru-RU" sz="2000">
                <a:solidFill>
                  <a:schemeClr val="accent5"/>
                </a:solidFill>
              </a:rPr>
              <a:t>ДАННЫЕ И СЕНСОР</a:t>
            </a:r>
          </a:p>
        </p:txBody>
      </p:sp>
    </p:spTree>
    <p:extLst>
      <p:ext uri="{BB962C8B-B14F-4D97-AF65-F5344CB8AC3E}">
        <p14:creationId xmlns:p14="http://schemas.microsoft.com/office/powerpoint/2010/main" val="18307153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pPr/>
            <a:r>
              <a:rPr lang="ru-RU" sz="3600">
                <a:solidFill>
                  <a:schemeClr val="bg1"/>
                </a:solidFill>
              </a:rPr>
              <a:t>ГЛАВНЫЙ КАДР</a:t>
            </a:r>
          </a:p>
        </p:txBody>
      </p:sp>
      <p:pic>
        <p:nvPicPr>
          <p:cNvPr id="22" name="Picture 21" descr="image.jpg"/>
          <p:cNvPicPr>
            <a:picLocks noChangeAspect="1"/>
          </p:cNvPicPr>
          <p:nvPr/>
        </p:nvPicPr>
        <p:blipFill>
          <a:blip r:embed="rId3"/>
          <a:srcRect l="0" r="0"/>
          <a:stretch>
            <a:fillRect/>
          </a:stretch>
        </p:blipFill>
        <p:spPr>
          <a:xfrm>
            <a:off x="495170" y="1474256"/>
            <a:ext cx="8377070" cy="471210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072240" y="1474256"/>
            <a:ext cx="2624589" cy="471210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lang="ru-RU" b="1" sz="1400">
                <a:solidFill>
                  <a:srgbClr val="520978"/>
                </a:solidFill>
              </a:rPr>
              <a:t>Реальная запись организаторов</a:t>
            </a:r>
          </a:p>
          <a:p>
            <a:pPr>
              <a:spcBef>
                <a:spcPts val="1000"/>
              </a:spcBef>
            </a:pPr>
            <a:r>
              <a:rPr lang="ru-RU" sz="1200">
                <a:solidFill>
                  <a:srgbClr val="1C1D22"/>
                </a:solidFill>
              </a:rPr>
              <a:t>Человек переходит путь на 55–57 м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 xml:space="preserve">Найден в </a:t>
            </a:r>
            <a:r>
              <a:rPr lang="ru-RU" b="1" sz="1200">
                <a:solidFill>
                  <a:srgbClr val="1C1D22"/>
                </a:solidFill>
              </a:rPr>
              <a:t>58 из 61</a:t>
            </a:r>
            <a:r>
              <a:rPr lang="ru-RU" sz="1200">
                <a:solidFill>
                  <a:srgbClr val="1C1D22"/>
                </a:solidFill>
              </a:rPr>
              <a:t xml:space="preserve"> кадров внутри габарита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>Тревога через 0,3 с после входа в габарит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>Ошибка дальности ≤ 0,23 м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 xml:space="preserve">Предмет на рельсе — в </a:t>
            </a:r>
            <a:r>
              <a:rPr lang="ru-RU" b="1" sz="1200">
                <a:solidFill>
                  <a:srgbClr val="1C1D22"/>
                </a:solidFill>
              </a:rPr>
              <a:t>125 из 126</a:t>
            </a:r>
            <a:r>
              <a:rPr lang="ru-RU" sz="1200">
                <a:solidFill>
                  <a:srgbClr val="1C1D22"/>
                </a:solidFill>
              </a:rPr>
              <a:t xml:space="preserve"> кадров после ухода человека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pPr/>
            <a:r>
              <a:rPr lang="ru-RU" sz="2000">
                <a:solidFill>
                  <a:schemeClr val="accent5"/>
                </a:solidFill>
              </a:rPr>
              <a:t>СЛОЖНЫЕ СЛУЧАИ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Полотно полно предметов.</a:t>
            </a:r>
            <a:r>
              <a:rPr lang="ru-RU" sz="1300">
                <a:solidFill>
                  <a:schemeClr val="tx1"/>
                </a:solidFill>
              </a:rPr>
              <a:t xml:space="preserve"> «Всё выше полотна» — 1 482 ложных события за 20 мин; порог «≥ 3 см над головкой рельса + 0,5 с» — единицы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Предмет на рельсе делился на две ступени.</a:t>
            </a:r>
            <a:r>
              <a:rPr lang="ru-RU" sz="1300">
                <a:solidFill>
                  <a:schemeClr val="tx1"/>
                </a:solidFill>
              </a:rPr>
              <a:t xml:space="preserve"> Верх на 0,10–0,15 м — между ступенью низких объектов и габаритом; кластеризуем его целиком: 2 → 125 из 126 кадров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Станции и стрелки.</a:t>
            </a:r>
            <a:r>
              <a:rPr lang="ru-RU" sz="1300">
                <a:solidFill>
                  <a:schemeClr val="tx1"/>
                </a:solidFill>
              </a:rPr>
              <a:t xml:space="preserve"> Край платформы и конструкции у торца — главный источник ложных остановок; без рельсов в ближней зоне дальше 40 м — только предупреждение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Дальше 100 м — 1–5 точек на объект.</a:t>
            </a:r>
            <a:r>
              <a:rPr lang="ru-RU" sz="1300">
                <a:solidFill>
                  <a:schemeClr val="tx1"/>
                </a:solidFill>
              </a:rPr>
              <a:t xml:space="preserve"> Высокие объекты — по дальнему правилу до ~150 м; мелкие (&lt; 0,6 м) — ближе: кубы 0,3 м организаторов — только с 43–53 м (на 60–115 м — 2–4 точки)</a:t>
            </a: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Объекты организаторов у края и тонкие.</a:t>
            </a:r>
            <a:r>
              <a:rPr lang="ru-RU" sz="1300">
                <a:solidFill>
                  <a:schemeClr val="tx1"/>
                </a:solidFill>
              </a:rPr>
              <a:t xml:space="preserve"> Ящик 2 × 2 м у края — STOP лишь с 10 м (6 кадров): их объекты стоят от оси лидара (−0,24° к рельсам), наш габарит — от рельсов; висящий предмет 5 см — STOP только с 30 м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339783"/>
            <a:ext cx="2284071" cy="423628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Любое крепление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128740"/>
            <a:ext cx="2284071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8 ориентаций, крен и тангаж по рельсам и полотну; проверено на повёрнутых реальных кадрах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373557"/>
            <a:ext cx="2337416" cy="403756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Монитор исправности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134070"/>
            <a:ext cx="2337416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ошибки входа → FAULT; задержка → предупреждение без смены решения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379657"/>
            <a:ext cx="2268537" cy="403913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Любой вход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136604"/>
            <a:ext cx="2268537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оба набора топик / frame_id, поиск топика, перезапуск на новой записи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339783"/>
            <a:ext cx="2263553" cy="423628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Воспроизводимо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128739"/>
            <a:ext cx="2263553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667+ тестов на путях numpy и C++ (выход совпадает бит в бит); CI собирает образ и проигрывает бэги через узел; цепочка организаторов прогнана в Docker на реальных записях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НАДЁЖНОСТЬ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771003" cy="42362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771003" cy="403756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771003" cy="403913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03</a:t>
            </a: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771003" cy="42362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493074"/>
            <a:ext cx="2965634" cy="423628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Что получилось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28740"/>
            <a:ext cx="2965633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ROS 2-модуль в Docker; все 13 759 реальных кадров: человек и предмет на рельсе найдены, 3,5 ложных события на км (на данных, где решались правила); ящик организаторов — с 98 м; 667+ тестов и CI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493074"/>
            <a:ext cx="3034896" cy="403756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Что дальше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28740"/>
            <a:ext cx="3034896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мелкие объекты раньше: короткие сигнатуры инфраструктуры, опора высоты по своду тоннеля; скорость от одометрии (своя по лидару — опция); «второе мнение» на реальных препятствиях; репетиция офлайн-запуска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493074"/>
            <a:ext cx="2945464" cy="403913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Внедрение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28740"/>
            <a:ext cx="2945464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docker load → run → ros2 bag play; один файл параметров; стандартные сообщения ROS 2 — стыкуется с системой торможения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ИТОГИ И ПЛАНЫ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772415"/>
            <a:ext cx="1311031" cy="601141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766200"/>
            <a:ext cx="1311031" cy="572942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766043"/>
            <a:ext cx="1311031" cy="573165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7" y="1732103"/>
            <a:ext cx="4734175" cy="4139307"/>
          </a:xfrm>
          <a:noFill/>
          <a:ln>
            <a:noFill/>
          </a:ln>
        </p:spPr>
        <p:txBody>
          <a:bodyPr>
            <a:normAutofit/>
          </a:bodyPr>
          <a:lstStyle/>
          <a:p>
            <a:pPr algn="l" marL="0" indent="0">
              <a:buNone/>
            </a:pPr>
            <a:r>
              <a:rPr lang="ru-RU" sz="3600" b="1">
                <a:solidFill>
                  <a:srgbClr val="FF0053"/>
                </a:solidFill>
              </a:rPr>
              <a:t>13 759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реальных кадров прогнаны целиком</a:t>
            </a:r>
          </a:p>
          <a:p>
            <a:pPr algn="l" marL="0" indent="0">
              <a:spcBef>
                <a:spcPts val="1400"/>
              </a:spcBef>
              <a:buNone/>
            </a:pPr>
            <a:r>
              <a:rPr lang="ru-RU" sz="3600" b="1">
                <a:solidFill>
                  <a:srgbClr val="FF0053"/>
                </a:solidFill>
              </a:rPr>
              <a:t>58 из 61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кадров с человеком на пути — тревога</a:t>
            </a:r>
          </a:p>
          <a:p>
            <a:pPr algn="l" marL="0" indent="0">
              <a:spcBef>
                <a:spcPts val="1400"/>
              </a:spcBef>
              <a:buNone/>
            </a:pPr>
            <a:r>
              <a:rPr lang="ru-RU" sz="3600" b="1">
                <a:solidFill>
                  <a:srgbClr val="FF0053"/>
                </a:solidFill>
              </a:rPr>
              <a:t>3,5 на км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ложных событий в поездке (45 за 13 км; правила решались на ней же)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Реальная запись:</a:t>
            </a:r>
            <a:r>
              <a:rPr lang="ru-RU" sz="1200">
                <a:solidFill>
                  <a:schemeClr val="tx1"/>
                </a:solidFill>
              </a:rPr>
              <a:t xml:space="preserve"> человек на пути — 58 из 61 кадров, тревога через 0,3 с, ошибка ≤ 0,23 м; предмет на рельсе — 125 из 126 кадров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Ложные остановки</a:t>
            </a:r>
            <a:r>
              <a:rPr lang="ru-RU" sz="1200">
                <a:solidFill>
                  <a:schemeClr val="tx1"/>
                </a:solidFill>
              </a:rPr>
              <a:t xml:space="preserve"> (реальные; правила решались на этих же записях): поездка 13 км — 45 событий, пять пустых записей — 13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Объекты организаторов</a:t>
            </a:r>
            <a:r>
              <a:rPr lang="ru-RU" sz="1200">
                <a:solidFill>
                  <a:schemeClr val="tx1"/>
                </a:solidFill>
              </a:rPr>
              <a:t xml:space="preserve"> [их синтетика]: ящик 2 × 2 м — с 98 м, доска — с 82 м, кубы 0,3 м — с 43–53 м; висящий 5 см — с 30 м; у края — лишь 2 и 6 кадров STOP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Человек на подходе</a:t>
            </a:r>
            <a:r>
              <a:rPr lang="ru-RU" sz="1200">
                <a:solidFill>
                  <a:schemeClr val="tx1"/>
                </a:solidFill>
              </a:rPr>
              <a:t xml:space="preserve"> [наша синтетика]: первое подтверждение 148 м (в 5 парах: 150 → 154 м от ближних рельсов), в каждой полосе 10 м — со 115 м; 167 м со скоростью поезда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Задержка</a:t>
            </a:r>
            <a:r>
              <a:rPr lang="ru-RU" sz="1200">
                <a:solidFill>
                  <a:schemeClr val="tx1"/>
                </a:solidFill>
              </a:rPr>
              <a:t xml:space="preserve"> 23–31 мс на кадр (p95 ≤ 42 мс) на одном ядре с ядрами на C++; через ROS в Docker на 4 ядрах — p95 58–81 мс при 10 кадрах/с; без GPU</a:t>
            </a: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РЕЗУЛЬТАТЫ</a:t>
            </a:r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DECC81F-B9A0-B672-D696-81D562A2CC6C}"/>
              </a:ext>
            </a:extLst>
          </p:cNvPr>
          <p:cNvSpPr/>
          <p:nvPr/>
        </p:nvSpPr>
        <p:spPr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17326B78-1050-D91F-CB0B-77E7C3BDEBD1}"/>
              </a:ext>
            </a:extLst>
          </p:cNvPr>
          <p:cNvSpPr/>
          <p:nvPr/>
        </p:nvSpPr>
        <p:spPr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61423B79-9F6C-052D-974E-E9A0E0B7ABDB}"/>
              </a:ext>
            </a:extLst>
          </p:cNvPr>
          <p:cNvSpPr/>
          <p:nvPr/>
        </p:nvSpPr>
        <p:spPr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1D59BC6-8004-F870-CECE-1C4FFB06B7FB}"/>
              </a:ext>
            </a:extLst>
          </p:cNvPr>
          <p:cNvSpPr/>
          <p:nvPr/>
        </p:nvSpPr>
        <p:spPr>
          <a:xfrm>
            <a:off x="346075" y="324562"/>
            <a:ext cx="4825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5B0424-AA26-4EA9-832B-906AB779F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21</a:t>
            </a:fld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DE8A120-196C-48DC-AA16-CD22F43B911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b="1" sz="1500">
                <a:solidFill>
                  <a:schemeClr val="tx1"/>
                </a:solidFill>
              </a:rPr>
              <a:t>STOP у 8 из 8, у края — лишь вблизи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F5D0CB6-043A-4E83-8D3D-7E7E9E2705E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591637" y="1649793"/>
            <a:ext cx="4790314" cy="779602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ящик 2 × 2 м в центре — с 98 м, с первого появления; доска поперёк рельсов — с 82 м; кубы 0,3 м — с 43–53 м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456D5B0-F375-49C6-A314-52E6BED10C4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b="1" sz="1500">
                <a:solidFill>
                  <a:schemeClr val="tx1"/>
                </a:solidFill>
              </a:rPr>
              <a:t>Мелкое вдали — поздно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191D1F3-2ADD-4DEE-A9D0-1FBBB993931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591637" y="3515862"/>
            <a:ext cx="4790314" cy="869021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на 60–115 м от куба 0,3 м 2–4 точки в кадре, кластеру нужно 5; ящик у верха габарита — STOP в 51 из 124 кадров — непрерывно с 101 м, дальше CAUTION или ничего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7602292-3E6F-4E28-8A49-D2719D16F85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b="1" sz="1500">
                <a:solidFill>
                  <a:schemeClr val="tx1"/>
                </a:solidFill>
              </a:rPr>
              <a:t>Ограничения — говорим честно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AE625499-96AD-46EA-8CE7-5765B615D23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591637" y="5471798"/>
            <a:ext cx="4790314" cy="848014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краевые объекты дают лишь 2 и 6 STOP кадров; висящий предмет 5 см: STOP с 30 м; объекты ставили от оси лидара (−0,24° к рельсам), мы строим габарит по рельсам. Ложных STOP: 6 кадров у ящика снаружи, 3 — вне объектов</a:t>
            </a:r>
          </a:p>
        </p:txBody>
      </p:sp>
      <p:graphicFrame>
        <p:nvGraphicFramePr>
          <p:cNvPr id="10" name="Диаграмма 9">
            <a:extLst>
              <a:ext uri="{FF2B5EF4-FFF2-40B4-BE49-F238E27FC236}">
                <a16:creationId xmlns:a16="http://schemas.microsoft.com/office/drawing/2014/main" id="{E658358F-6A3F-4E56-8E2C-0059A594AB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5485138"/>
              </p:ext>
            </p:extLst>
          </p:nvPr>
        </p:nvGraphicFramePr>
        <p:xfrm>
          <a:off x="346075" y="1424510"/>
          <a:ext cx="5749925" cy="41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E48B21B-C4B8-5F03-1C12-E4E9E203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4465516" cy="376138"/>
          </a:xfrm>
        </p:spPr>
        <p:txBody>
          <a:bodyPr/>
          <a:lstStyle/>
          <a:p>
            <a:pPr/>
            <a:r>
              <a:rPr lang="ru-RU"/>
              <a:t>ОБЪЕКТЫ ОРГАНИЗАТОРОВ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075" y="5566258"/>
            <a:ext cx="5749925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lang="ru-RU" sz="1000">
                <a:solidFill>
                  <a:srgbClr val="E6E1F5"/>
                </a:solidFill>
              </a:rPr>
              <a:t>первый STOP, м; сиреневым — без устойчивого STOP · cloud_with_fake_obj: 10 объектов, 1 510 кадров, поезд едет к ним 1,4–20 м/с, скорость узлу не дана · синтетика организаторов</a:t>
            </a:r>
          </a:p>
        </p:txBody>
      </p:sp>
    </p:spTree>
    <p:extLst>
      <p:ext uri="{BB962C8B-B14F-4D97-AF65-F5344CB8AC3E}">
        <p14:creationId xmlns:p14="http://schemas.microsoft.com/office/powerpoint/2010/main" val="13132313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89C504C-C673-685A-ED35-3E688A842675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2D779828-50AA-424E-9D75-E4AA39DF20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22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80582B6-28AC-45F4-BD2D-467E652DBD3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755267" y="1343263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~210 м — предел отражений в тоннеле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F82DF7C-A3AD-43CF-A10D-0B36529054B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5267" y="1722800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дальше 210 м во всех 13 759 кадрах нет ни одной точки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958F12B-018B-418A-A49D-1D36B842AE9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755267" y="2611824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Со скоростью поезда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57CEBFD9-BA50-4FE2-AEDF-186C2F4D3D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755267" y="2991361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накопление 5 кадров: человек 167 м; своя скорость по лидару (ошибка 0,07 м/с) STOP раньше не даёт — опция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32AF062-A059-495E-BB70-46D2DA99A1F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755267" y="3880385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Устойчиво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2FC86C2-74E3-4069-A985-340E87E70FC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755267" y="4259922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человек в ≥ 90 % кадров каждой полосы 10 м — со 115 м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1D835328-9C3F-4BAA-A363-BCF05AE9CAA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755267" y="5148947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В кривых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F3516B2-5C9F-4B2E-B489-4C7C76EB80F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755267" y="5528484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6 из 7 подходов, с 58–86 м — предел видимости за стеной (R ≈ 350 м)</a:t>
            </a:r>
          </a:p>
        </p:txBody>
      </p:sp>
      <p:graphicFrame>
        <p:nvGraphicFramePr>
          <p:cNvPr id="12" name="Диаграмма 11">
            <a:extLst>
              <a:ext uri="{FF2B5EF4-FFF2-40B4-BE49-F238E27FC236}">
                <a16:creationId xmlns:a16="http://schemas.microsoft.com/office/drawing/2014/main" id="{23BDA4A7-21AE-4EEC-8367-DB38D1BA312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81416834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9CDF69C9-489B-D478-1908-E63FA3502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ДАЛЬНОСТЬ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075" y="5820000"/>
            <a:ext cx="58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lang="ru-RU" sz="1000">
                <a:solidFill>
                  <a:srgbClr val="6B6B6B"/>
                </a:solidFill>
              </a:rPr>
              <a:t>первое подтверждение на прямой, медиана 6 подходов; «от рельсов» — объект поставлен по ближним рельсам, а не по дальней оси детектора (5 пар, прежняя постановка — 150 м); поезд 17–21 м/с без датчика скорости · синтетика в реальных кадрах поездки</a:t>
            </a:r>
          </a:p>
        </p:txBody>
      </p:sp>
    </p:spTree>
    <p:extLst>
      <p:ext uri="{BB962C8B-B14F-4D97-AF65-F5344CB8AC3E}">
        <p14:creationId xmlns:p14="http://schemas.microsoft.com/office/powerpoint/2010/main" val="11997862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4005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FF0053"/>
                </a:solidFill>
              </a:rPr>
              <a:t>Проблема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Поезд без машиниста должен видеть путь: 100 м — хорошо, 200 — очень хорошо, 300 — отлично. Тормозной путь на 80 км/ч — 190–250 м. Тоннель однороден и почти всегда пуст: классов объектов для обучения нет.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FF0053"/>
                </a:solidFill>
              </a:rPr>
              <a:t>Альтернативы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Обученный 3D-детектор (PointPillars, CenterPoint) — нужны тысячи размеченных препятствий, дальше 100 м — единицы процентов AP. Сравнение с картой — нужна сантиметровая локализация и повторный проезд.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FF0053"/>
                </a:solidFill>
              </a:rPr>
              <a:t>Наше решение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Описать нормальный тоннель и сообщать всё, что попадает в габарит поезда 2,1 × 3,0 м. Модель пути строится заново в каждом кадре по рельсам, полотну и стенам — без карты и без классов объектов.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ПРОБЛЕМА И ПОДХОД</a:t>
            </a:r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25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Автокалибровка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вертикальная ось вращения; ориентация и наклон — по рельсам и полотну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Габарит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коридор 2,1 × 3,0 м вдоль оси и ступень низких объектов на рельсах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Решение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подтверждение 0,5 с → GO / CAUTION / STOP / FAULT и дальность контроля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Модель пути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полотно, головки рельсов, ось; кривизна по стенам и колоннам до 150–200 м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Кластеры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радиус растёт с дальностью; фильтры инфраструктуры; дальнее правило</a:t>
            </a: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АЛГОРИТМ</a:t>
            </a: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9125108-8C0F-2F06-5739-B84F0E2F138C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grpSp>
        <p:nvGrpSpPr>
          <p:cNvPr id="8" name="Group 82">
            <a:extLst>
              <a:ext uri="{FF2B5EF4-FFF2-40B4-BE49-F238E27FC236}">
                <a16:creationId xmlns:a16="http://schemas.microsoft.com/office/drawing/2014/main" id="{24F452BD-B318-4752-95A0-FE784050E11F}"/>
              </a:ext>
            </a:extLst>
          </p:cNvPr>
          <p:cNvGrpSpPr>
            <a:grpSpLocks noChangeAspect="1"/>
          </p:cNvGrpSpPr>
          <p:nvPr/>
        </p:nvGrpSpPr>
        <p:grpSpPr>
          <a:xfrm>
            <a:off x="1149124" y="1149443"/>
            <a:ext cx="4267960" cy="2822929"/>
            <a:chOff x="1027152" y="2693983"/>
            <a:chExt cx="6796849" cy="4462905"/>
          </a:xfrm>
        </p:grpSpPr>
        <p:grpSp>
          <p:nvGrpSpPr>
            <p:cNvPr id="9" name="Group 83">
              <a:extLst>
                <a:ext uri="{FF2B5EF4-FFF2-40B4-BE49-F238E27FC236}">
                  <a16:creationId xmlns:a16="http://schemas.microsoft.com/office/drawing/2014/main" id="{FD5311CA-A8DA-4752-BCCC-9D77C86DAA8A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12" name="AutoShape 1">
                <a:extLst>
                  <a:ext uri="{FF2B5EF4-FFF2-40B4-BE49-F238E27FC236}">
                    <a16:creationId xmlns:a16="http://schemas.microsoft.com/office/drawing/2014/main" id="{C5DD9855-9040-4A8E-8FC7-2A87D71D92A4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3" name="Rectangle 2">
                <a:extLst>
                  <a:ext uri="{FF2B5EF4-FFF2-40B4-BE49-F238E27FC236}">
                    <a16:creationId xmlns:a16="http://schemas.microsoft.com/office/drawing/2014/main" id="{1CA962FF-DEAF-450E-BAC9-2CBF039F5ED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4" name="AutoShape 3">
                <a:extLst>
                  <a:ext uri="{FF2B5EF4-FFF2-40B4-BE49-F238E27FC236}">
                    <a16:creationId xmlns:a16="http://schemas.microsoft.com/office/drawing/2014/main" id="{29B32C08-05E5-455D-AB4B-FA780C0B9C4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5" name="Oval 4">
                <a:extLst>
                  <a:ext uri="{FF2B5EF4-FFF2-40B4-BE49-F238E27FC236}">
                    <a16:creationId xmlns:a16="http://schemas.microsoft.com/office/drawing/2014/main" id="{DB5DCAC2-FF8B-4D8A-8761-EF6BE6B4CB7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6" name="Oval 5">
                <a:extLst>
                  <a:ext uri="{FF2B5EF4-FFF2-40B4-BE49-F238E27FC236}">
                    <a16:creationId xmlns:a16="http://schemas.microsoft.com/office/drawing/2014/main" id="{A18062AF-728F-4F67-A9EE-6DA3DC1E6BB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7" name="Oval 6">
                <a:extLst>
                  <a:ext uri="{FF2B5EF4-FFF2-40B4-BE49-F238E27FC236}">
                    <a16:creationId xmlns:a16="http://schemas.microsoft.com/office/drawing/2014/main" id="{1F8B8CA3-31B9-4E3E-89F8-B823F31C1C9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8" name="Rectangle 92">
                <a:extLst>
                  <a:ext uri="{FF2B5EF4-FFF2-40B4-BE49-F238E27FC236}">
                    <a16:creationId xmlns:a16="http://schemas.microsoft.com/office/drawing/2014/main" id="{C40CC64C-4BDE-4B83-ACBA-76BBEC31E3B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19" name="Group 93">
                <a:extLst>
                  <a:ext uri="{FF2B5EF4-FFF2-40B4-BE49-F238E27FC236}">
                    <a16:creationId xmlns:a16="http://schemas.microsoft.com/office/drawing/2014/main" id="{021FE07F-E9DB-428E-864C-12ABBB046C13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>
                  <a:extLst>
                    <a:ext uri="{FF2B5EF4-FFF2-40B4-BE49-F238E27FC236}">
                      <a16:creationId xmlns:a16="http://schemas.microsoft.com/office/drawing/2014/main" id="{8251ED56-D5C4-4244-B7B8-9CC65D6F8A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3" name="Freeform 14">
                  <a:extLst>
                    <a:ext uri="{FF2B5EF4-FFF2-40B4-BE49-F238E27FC236}">
                      <a16:creationId xmlns:a16="http://schemas.microsoft.com/office/drawing/2014/main" id="{ECE11028-B7CA-451E-851D-176871A08F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4" name="Freeform 15">
                  <a:extLst>
                    <a:ext uri="{FF2B5EF4-FFF2-40B4-BE49-F238E27FC236}">
                      <a16:creationId xmlns:a16="http://schemas.microsoft.com/office/drawing/2014/main" id="{C663966C-C5F6-4AF2-AC81-EF7A040B748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5" name="Freeform 16">
                  <a:extLst>
                    <a:ext uri="{FF2B5EF4-FFF2-40B4-BE49-F238E27FC236}">
                      <a16:creationId xmlns:a16="http://schemas.microsoft.com/office/drawing/2014/main" id="{1231452A-2DB6-4628-B13E-989E3196783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6" name="Freeform 17">
                  <a:extLst>
                    <a:ext uri="{FF2B5EF4-FFF2-40B4-BE49-F238E27FC236}">
                      <a16:creationId xmlns:a16="http://schemas.microsoft.com/office/drawing/2014/main" id="{02B5F533-7190-4486-800E-50B9DEE2ECC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7" name="Freeform 18">
                  <a:extLst>
                    <a:ext uri="{FF2B5EF4-FFF2-40B4-BE49-F238E27FC236}">
                      <a16:creationId xmlns:a16="http://schemas.microsoft.com/office/drawing/2014/main" id="{E1197ACF-D4F7-4F4F-B51B-31BAB032032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8" name="Freeform 19">
                  <a:extLst>
                    <a:ext uri="{FF2B5EF4-FFF2-40B4-BE49-F238E27FC236}">
                      <a16:creationId xmlns:a16="http://schemas.microsoft.com/office/drawing/2014/main" id="{305C916E-AA00-40D3-979E-8385C880D15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9" name="Freeform 20">
                  <a:extLst>
                    <a:ext uri="{FF2B5EF4-FFF2-40B4-BE49-F238E27FC236}">
                      <a16:creationId xmlns:a16="http://schemas.microsoft.com/office/drawing/2014/main" id="{606A4951-C43E-4D62-8601-77DAE03DB7A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30" name="Freeform 21">
                  <a:extLst>
                    <a:ext uri="{FF2B5EF4-FFF2-40B4-BE49-F238E27FC236}">
                      <a16:creationId xmlns:a16="http://schemas.microsoft.com/office/drawing/2014/main" id="{E4DF5AB0-92B8-4555-8BFE-FEB94F35CC7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20" name="Freeform 25">
                <a:extLst>
                  <a:ext uri="{FF2B5EF4-FFF2-40B4-BE49-F238E27FC236}">
                    <a16:creationId xmlns:a16="http://schemas.microsoft.com/office/drawing/2014/main" id="{C904AC4F-21D6-40FC-874A-C69831B8A24B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21" name="Oval 6">
                <a:extLst>
                  <a:ext uri="{FF2B5EF4-FFF2-40B4-BE49-F238E27FC236}">
                    <a16:creationId xmlns:a16="http://schemas.microsoft.com/office/drawing/2014/main" id="{008AEF74-0CB4-4F9D-941F-B3FDCFD4ACA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FF43D9F-F201-460A-B5AB-10C4C6323FC9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/>
              <a:r>
                <a:rPr lang="ru-RU" sz="100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localhost:8080</a:t>
              </a:r>
            </a:p>
          </p:txBody>
        </p:sp>
        <p:sp>
          <p:nvSpPr>
            <p:cNvPr id="11" name="Freeform 29">
              <a:extLst>
                <a:ext uri="{FF2B5EF4-FFF2-40B4-BE49-F238E27FC236}">
                  <a16:creationId xmlns:a16="http://schemas.microsoft.com/office/drawing/2014/main" id="{773BAD95-B78D-42DD-A801-8B84C3BF532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grpSp>
        <p:nvGrpSpPr>
          <p:cNvPr id="31" name="Group 82">
            <a:extLst>
              <a:ext uri="{FF2B5EF4-FFF2-40B4-BE49-F238E27FC236}">
                <a16:creationId xmlns:a16="http://schemas.microsoft.com/office/drawing/2014/main" id="{476BE634-6695-4A59-B9FD-6815B89BADCA}"/>
              </a:ext>
            </a:extLst>
          </p:cNvPr>
          <p:cNvGrpSpPr>
            <a:grpSpLocks noChangeAspect="1"/>
          </p:cNvGrpSpPr>
          <p:nvPr/>
        </p:nvGrpSpPr>
        <p:grpSpPr>
          <a:xfrm>
            <a:off x="6794022" y="1149443"/>
            <a:ext cx="4267960" cy="2822929"/>
            <a:chOff x="1027152" y="2693983"/>
            <a:chExt cx="6796849" cy="4462905"/>
          </a:xfrm>
        </p:grpSpPr>
        <p:grpSp>
          <p:nvGrpSpPr>
            <p:cNvPr id="32" name="Group 83">
              <a:extLst>
                <a:ext uri="{FF2B5EF4-FFF2-40B4-BE49-F238E27FC236}">
                  <a16:creationId xmlns:a16="http://schemas.microsoft.com/office/drawing/2014/main" id="{F753F412-8864-4B46-BFBD-0C8E827679D2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35" name="AutoShape 1">
                <a:extLst>
                  <a:ext uri="{FF2B5EF4-FFF2-40B4-BE49-F238E27FC236}">
                    <a16:creationId xmlns:a16="http://schemas.microsoft.com/office/drawing/2014/main" id="{48F16F12-B004-4ABE-AAA8-42D597EFDA9A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6" name="Rectangle 2">
                <a:extLst>
                  <a:ext uri="{FF2B5EF4-FFF2-40B4-BE49-F238E27FC236}">
                    <a16:creationId xmlns:a16="http://schemas.microsoft.com/office/drawing/2014/main" id="{92CE4B65-6103-4C38-92A7-2A427C04B8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7" name="AutoShape 3">
                <a:extLst>
                  <a:ext uri="{FF2B5EF4-FFF2-40B4-BE49-F238E27FC236}">
                    <a16:creationId xmlns:a16="http://schemas.microsoft.com/office/drawing/2014/main" id="{297699FF-7AA4-40F4-81BC-DF7B89B3F7D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8" name="Oval 4">
                <a:extLst>
                  <a:ext uri="{FF2B5EF4-FFF2-40B4-BE49-F238E27FC236}">
                    <a16:creationId xmlns:a16="http://schemas.microsoft.com/office/drawing/2014/main" id="{D68B6E0E-D3C7-4493-A31B-8207DAE9C22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9" name="Oval 5">
                <a:extLst>
                  <a:ext uri="{FF2B5EF4-FFF2-40B4-BE49-F238E27FC236}">
                    <a16:creationId xmlns:a16="http://schemas.microsoft.com/office/drawing/2014/main" id="{AA3A8A3A-E81C-4F16-9EA2-9F11A9775E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0" name="Oval 6">
                <a:extLst>
                  <a:ext uri="{FF2B5EF4-FFF2-40B4-BE49-F238E27FC236}">
                    <a16:creationId xmlns:a16="http://schemas.microsoft.com/office/drawing/2014/main" id="{539165D2-E0B0-4B91-BDF2-5FF535A7206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1" name="Rectangle 92">
                <a:extLst>
                  <a:ext uri="{FF2B5EF4-FFF2-40B4-BE49-F238E27FC236}">
                    <a16:creationId xmlns:a16="http://schemas.microsoft.com/office/drawing/2014/main" id="{B58995FD-774E-443F-8F74-D69C353CA9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42" name="Group 93">
                <a:extLst>
                  <a:ext uri="{FF2B5EF4-FFF2-40B4-BE49-F238E27FC236}">
                    <a16:creationId xmlns:a16="http://schemas.microsoft.com/office/drawing/2014/main" id="{022AA45E-1A3D-4A3B-B08F-4D64E6102BF2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45" name="Freeform 13">
                  <a:extLst>
                    <a:ext uri="{FF2B5EF4-FFF2-40B4-BE49-F238E27FC236}">
                      <a16:creationId xmlns:a16="http://schemas.microsoft.com/office/drawing/2014/main" id="{2EE8F120-DDD5-495E-8097-10825D0A1E6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6" name="Freeform 14">
                  <a:extLst>
                    <a:ext uri="{FF2B5EF4-FFF2-40B4-BE49-F238E27FC236}">
                      <a16:creationId xmlns:a16="http://schemas.microsoft.com/office/drawing/2014/main" id="{899F88D3-5C91-4BBA-BE63-9371B4B356C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7" name="Freeform 15">
                  <a:extLst>
                    <a:ext uri="{FF2B5EF4-FFF2-40B4-BE49-F238E27FC236}">
                      <a16:creationId xmlns:a16="http://schemas.microsoft.com/office/drawing/2014/main" id="{C1C5DCC2-9B40-4DA3-AB2F-ED9C5D891CE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8" name="Freeform 16">
                  <a:extLst>
                    <a:ext uri="{FF2B5EF4-FFF2-40B4-BE49-F238E27FC236}">
                      <a16:creationId xmlns:a16="http://schemas.microsoft.com/office/drawing/2014/main" id="{0721D991-881C-4DBE-AF30-E47AE304B7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9" name="Freeform 17">
                  <a:extLst>
                    <a:ext uri="{FF2B5EF4-FFF2-40B4-BE49-F238E27FC236}">
                      <a16:creationId xmlns:a16="http://schemas.microsoft.com/office/drawing/2014/main" id="{97111254-2A6F-40F4-8741-1C703E43B98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0" name="Freeform 18">
                  <a:extLst>
                    <a:ext uri="{FF2B5EF4-FFF2-40B4-BE49-F238E27FC236}">
                      <a16:creationId xmlns:a16="http://schemas.microsoft.com/office/drawing/2014/main" id="{3448ADF5-3363-4495-90EA-D3397EA0A37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1" name="Freeform 19">
                  <a:extLst>
                    <a:ext uri="{FF2B5EF4-FFF2-40B4-BE49-F238E27FC236}">
                      <a16:creationId xmlns:a16="http://schemas.microsoft.com/office/drawing/2014/main" id="{A11FFFD8-A688-46DB-9518-83D23CB9AE9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2" name="Freeform 20">
                  <a:extLst>
                    <a:ext uri="{FF2B5EF4-FFF2-40B4-BE49-F238E27FC236}">
                      <a16:creationId xmlns:a16="http://schemas.microsoft.com/office/drawing/2014/main" id="{3B48C2AB-505E-4332-A44A-9D533A65044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3" name="Freeform 21">
                  <a:extLst>
                    <a:ext uri="{FF2B5EF4-FFF2-40B4-BE49-F238E27FC236}">
                      <a16:creationId xmlns:a16="http://schemas.microsoft.com/office/drawing/2014/main" id="{EBFBAB80-64C2-4E27-A1CC-A218E6C3562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43" name="Freeform 25">
                <a:extLst>
                  <a:ext uri="{FF2B5EF4-FFF2-40B4-BE49-F238E27FC236}">
                    <a16:creationId xmlns:a16="http://schemas.microsoft.com/office/drawing/2014/main" id="{27106E3B-5EE5-442B-87E5-0B8163B99979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4" name="Oval 6">
                <a:extLst>
                  <a:ext uri="{FF2B5EF4-FFF2-40B4-BE49-F238E27FC236}">
                    <a16:creationId xmlns:a16="http://schemas.microsoft.com/office/drawing/2014/main" id="{AFFAA0AD-114A-4831-ACE3-B8C4258E3C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4BEAEF8-91EF-49C8-A667-2BC7D51C2397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/>
              <a:r>
                <a:rPr lang="ru-RU" sz="100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docker run resense</a:t>
              </a:r>
            </a:p>
          </p:txBody>
        </p:sp>
        <p:sp>
          <p:nvSpPr>
            <p:cNvPr id="34" name="Freeform 29">
              <a:extLst>
                <a:ext uri="{FF2B5EF4-FFF2-40B4-BE49-F238E27FC236}">
                  <a16:creationId xmlns:a16="http://schemas.microsoft.com/office/drawing/2014/main" id="{1C88632E-4E09-404A-9868-C0997FA11EA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A08EBDD-D3B1-49F6-BC92-38ED9C834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71A900A-8BF5-4238-B577-5FBBE4A75C4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Веб-дашборд «Контроль свободного габарита»: вид из кабины по статусу узла из Docker-прогона на doubleT_obstacle — STOP 56,1 м, оценка дальности контроля 56 м; живой узел — через rosbridge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35CE154-6330-485C-8E80-D5D601B2BAD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Цепочка жюри в Docker: узел с RViz, bag play от обычного пользователя из другого контейнера, /resense/decision — STOP 56 м (видео 69 с)</a:t>
            </a:r>
          </a:p>
        </p:txBody>
      </p:sp>
      <p:pic>
        <p:nvPicPr>
          <p:cNvPr id="5" name="Рисунок 4" descr="dashboard-cab-real.png"/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t="743" b="743"/>
          <a:stretch>
            <a:fillRect/>
          </a:stretch>
        </p:blipFill>
        <p:spPr/>
      </p:pic>
      <p:pic>
        <p:nvPicPr>
          <p:cNvPr id="6" name="Рисунок 5" descr="docker_chain_rviz.jpg"/>
          <p:cNvPicPr>
            <a:picLocks noGrp="1" noChangeAspect="1"/>
          </p:cNvPicPr>
          <p:nvPr>
            <p:ph type="pic" sz="quarter" idx="18"/>
          </p:nvPr>
        </p:nvPicPr>
        <p:blipFill>
          <a:blip r:embed="rId4"/>
          <a:srcRect t="743" b="743"/>
          <a:stretch>
            <a:fillRect/>
          </a:stretch>
        </p:blipFill>
        <p:spPr/>
      </p:pic>
      <p:sp>
        <p:nvSpPr>
          <p:cNvPr id="55" name="Заголовок 13">
            <a:extLst>
              <a:ext uri="{FF2B5EF4-FFF2-40B4-BE49-F238E27FC236}">
                <a16:creationId xmlns:a16="http://schemas.microsoft.com/office/drawing/2014/main" id="{F83D1BEE-59E5-12AF-CCDA-133537DF5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ДЕМОНСТРАЦИЯ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10643" y="5700000"/>
            <a:ext cx="9770000" cy="4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b="1" sz="1600">
                <a:solidFill>
                  <a:srgbClr val="520978"/>
                </a:solidFill>
              </a:rPr>
              <a:t>docker load → docker run → ros2 bag play → /resense/decision</a:t>
            </a:r>
          </a:p>
        </p:txBody>
      </p:sp>
    </p:spTree>
    <p:extLst>
      <p:ext uri="{BB962C8B-B14F-4D97-AF65-F5344CB8AC3E}">
        <p14:creationId xmlns:p14="http://schemas.microsoft.com/office/powerpoint/2010/main" val="1163964322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ReSense — ЛЦТ 2026, кейс 05: посторонние объекты в тоннеле метро по данным 3D-лидара</dc:title>
  <dc:creator>Команда «Молоток»</dc:creator>
  <cp:lastModifiedBy>Команда «Молоток»</cp:lastModifiedBy>
  <cp:revision>95</cp:revision>
  <dcterms:created xsi:type="dcterms:W3CDTF">2023-05-15T07:36:23Z</dcterms:created>
  <dcterms:modified xsi:type="dcterms:W3CDTF">2026-09-14T11:14:59Z</dcterms:modified>
  <dc:subject>Лидеры цифровой трансформации 2026</dc:subject>
  <cp:keywords>LiDAR, ROS 2, метро, габарит, обнаружение препятствий</cp:keywords>
</cp:coreProperties>
</file>