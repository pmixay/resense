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9.xml"/><Relationship Id="rId16" Type="http://schemas.openxmlformats.org/officeDocument/2006/relationships/slide" Target="slides/slide15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21" Type="http://schemas.openxmlformats.org/officeDocument/2006/relationships/slide" Target="slides/slide11.xml"/><Relationship Id="rId22" Type="http://schemas.openxmlformats.org/officeDocument/2006/relationships/slide" Target="slides/slide13.xml"/><Relationship Id="rId23" Type="http://schemas.openxmlformats.org/officeDocument/2006/relationships/slide" Target="slides/slide12.xml"/><Relationship Id="rId25" Type="http://schemas.openxmlformats.org/officeDocument/2006/relationships/slide" Target="slides/slide6.xml"/><Relationship Id="rId26" Type="http://schemas.openxmlformats.org/officeDocument/2006/relationships/slide" Target="slides/slide8.xml"/><Relationship Id="rId28" Type="http://schemas.openxmlformats.org/officeDocument/2006/relationships/slide" Target="slides/slide10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5 см</c:v>
                </c:pt>
                <c:pt idx="1">
                  <c:v>ящик 2 м: край</c:v>
                </c:pt>
                <c:pt idx="2">
                  <c:v>куб 0,3 м: край</c:v>
                </c:pt>
                <c:pt idx="3">
                  <c:v>куб 0,3 м: центр</c:v>
                </c:pt>
                <c:pt idx="4">
                  <c:v>куб 0,3 м: рельс</c:v>
                </c:pt>
                <c:pt idx="5">
                  <c:v>доска</c:v>
                </c:pt>
                <c:pt idx="6">
                  <c:v>ящик 2 м: центр</c:v>
                </c:pt>
                <c:pt idx="7">
                  <c:v>ящик 2 м: верх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</c:v>
                </c:pt>
                <c:pt idx="1">
                  <c:v>18</c:v>
                </c:pt>
                <c:pt idx="2">
                  <c:v>35</c:v>
                </c:pt>
                <c:pt idx="3">
                  <c:v>56</c:v>
                </c:pt>
                <c:pt idx="4">
                  <c:v>43</c:v>
                </c:pt>
                <c:pt idx="5">
                  <c:v>87</c:v>
                </c:pt>
                <c:pt idx="6">
                  <c:v>98</c:v>
                </c:pt>
                <c:pt idx="7">
                  <c:v>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spPr>
              <a:solidFill>
                <a:srgbClr val="8A83D1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520978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кривая → двухпутный: человек</c:v>
                </c:pt>
                <c:pt idx="1">
                  <c:v>кривая, гермозатвор: человек</c:v>
                </c:pt>
                <c:pt idx="2">
                  <c:v>платформа: человек</c:v>
                </c:pt>
                <c:pt idx="3">
                  <c:v>прямая: куб 0,3 м</c:v>
                </c:pt>
                <c:pt idx="4">
                  <c:v>прямая: куб 1 м</c:v>
                </c:pt>
                <c:pt idx="5">
                  <c:v>прямая: человек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83</c:v>
                </c:pt>
                <c:pt idx="2">
                  <c:v>106</c:v>
                </c:pt>
                <c:pt idx="3">
                  <c:v>45</c:v>
                </c:pt>
                <c:pt idx="4">
                  <c:v>151</c:v>
                </c:pt>
                <c:pt idx="5">
                  <c:v>218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3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0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Docker, интеграция и питч; визуализация, дашборд, презентация и видео;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реальных препятствий в данных почти нет. Мы описываем нормальный тоннель, а обученное мнение о треке работает на отрицательных примерах из поездок. Ложные остановки сократились, но остались. Как мы работаем со своими правками: детектор меняется только по процедуре — приёмочный тест, полный гейт без исключений, независимое ревью, печать (docs/DETECTOR_FREEZE.md). Завершение F1a независимое ревью отклонило — оно скрывало объекты 5–20 см над головкой рельса в синтетических сценах, — и мы его откатили; K1/K2 не прошли приёмку и выключены. Проверка на новых данных нужна. Станции и стрелки похожи на препятствия; нужны доверенная ось и подтверждение 0,5 с. Входы 120°/360° и два топика; крепление калибруется по рельсам.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четыре инженерные роли. Наше решение называется ReSense. Описываем нормальный тоннель и ищем препятствия в габарите; возможны пропуски и ложные тревоги. Модель включает полотно, рельсы, ось и кривизну по стенам. Выходы GO / CAUTION / STOP / FAULT и расстояние; обученное мнение только задерживает сомнительный STOP в ограниченном бюджете. Дальность контроля — оценка, пропуски возможны и внутри неё.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ищем препятствия в габарите поезда; ROS 2 и Docker, только CPU. Версия: показываем и развиваем 1.2.0 — релиз v1.2.0; печать детектора R3 (40 файлов, digest 6d091081…, detector_freeze verify PASS), байты детектора — коммит f56ad5e; завершение F1a отклонено независимым ревью и откатено 20.10. 1.1.0 не выпускалась (решение капитана 19.10). Опубликован v1.0.0 — его эксперты оценивали 30.09–14.10; 66/100 от 13.10 — оценка нашего независимого агента-судьи, не организаторов. Лидары: Pandar128 (все записи организаторов) и Falcon Prime (реальная запись 16.10; профили осей falcon_ros / falcon_native). Решает геометрия; обученная часть одна — «мнение» о треке: оно может только отложить сомнительный STOP, не больше чем на 10 обработанных кадров за жизнь трека (~1 с при 10 Гц, ~2 с при 5 Гц, до ~3 с, пока узел догоняет очередь), но не отменить его. Задержку называем с машиной: p95 от публикации кадра до решения через ROS в Docker: 81–82 мс при 360° (ВМ, 4 ядра; с холодного диска 88–96 мс) и 49–78 мс при 120° (4 vCPU), замер 28.09; правила 29.09 добавляют ~2 мс; 13.10 на 4 vCPU нода 360° — p95 111 мс, 120° — 84 мс (v1.0.0); Falcon — детектор 21 мс на кадр, медиана (docs/evidence/falcon_head_check_2026-10-19). Стенд организаторов мы не мерили. GPU оценили и не используем: выигрыш — десятки миллисекунд, а контейнер с запросом GPU не стартует без nvidia-container-toolkit. Источники: CHANGELOG [1.2.0]; docs/evidence/b4_merge_reseal_2026-10-18/README.md; docs/evidence/version_1.2.0_2026-10-18/README.md; docs/evidence/judgement_2026-10-13/README.md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Переносимость правил и обученного мнения на другой маршрут требует независимой проверки. Цели ТЗ: 100 / 200 / 300 м. При 80 км/ч и замедлении 1–1,3 м/с² тормозной путь 190–250 м без задержек. Сравнение с картой требует локализации. Качество обученного 3D-детектора на этих тоннелях не измерялось.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Pandar128: 13 759 реальных кадров организаторов — шесть записей (2 488) и поездка (11 271, 20 минут, 13 км, 7 остановок, кривые R≈350 м). Каждая запись обрывается на 209–210 м: дальше нет ни одного отражения. Набор O — 1 510 кадров синтетики организаторов (добавленные точки — до ~298 м, судья 13.10). Объект 0,5 м: около 7 точек на 100 м и 1–2 на 200 м; стены видны на 150–200 м, полотно примерно до 100 м. Falcon Prime (Seyond), выдан 16.10: реальная запись falcon_test_second_dark, 4 443 кадра за 444 с; поезд стоит, человек идёт по пути к нему. Топик /iv_points, оси ROS (+X вперёд, +Y влево, +Z вверх), ~95 тыс. точек на кадр, без поля ring; сырые отражения до 510 м, узел обрезает на 250 м (docs/evidence/n2_falcon_2026-10-18/README.md). Паспорт: 250 м при отражательной способности 10 %, максимум 500 м (docs/sensor/falcon_prime/README.md). Три новые синтетические записи организаторов: 1 667 кадров, 12 объектов; разметку сделали сами, от организаторов её нет (docs/evidence/n5_labels_2026-10-17/README.md). Все эти записи — данные разработки: по ним настраивали и проверяли, скрытой проверки у нас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кадр. На одном ядре 4 vCPU Xeon 2,1 ГГц детектор тратит 24–31 мс в среднем (p95 34–47 мс; замер 28.09, правила 29.09 добавляют ~2 мс);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 Запрет эго-движения: пока поезд едет быстрее 4 м/с, трек, расстояние до которого не сокращается вместе с ходом поезда, STOP не начинает. Габарит в RViz и веб-виде — 3D-бокс: ширина 2,1 м, от 0,12 до 3,0 м над головкой рельса; рисуется только там, где ось подтверждена геометрией, и не дальше доверенной дальности. Сглаживание — только для картинки, в решения не возвращается; при устаревшем входе бокс сереет и исчезает (docs/evidence/n1_n4_2026-10-18/HOWTO.md).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 одного кадра — сотни тысяч точек за 0,1 с. Зелёным — габарит поезда, который алгоритм сам протянул вдоль оси пути по рельсам и стенам. Жёлтым — всё, что попало в коридор. А вот препятствие, которое наш алгоритм увидел за 56 метров: человек переходит путь, красная рамка, решение STOP — с первого кадра в габарите. Справа — его точки крупно. Когда человек уходит, на рельсе остаётся предмет 45 × 60 × 30 см — алгоритм держит и его: STOP на 193 из 201 кадра — с кадра 8 до конца, без пропусков; предмет на рельсе — 126 из 126 кадров. До 29.09 в кадре 111 был один GO: верх предмета на 4–7 мм ниже порога высоты. Исправили правилом удержания уже подтверждённого низкого STOP на 0,3 с — подобрано на этой же записи, и мы это говорим. Здесь поезд стоит; на едущем поезде — синтетика организаторов: ящик 2 × 2 м алгоритм увидел за 98 метров, с первого появления (слайд «Объекты организаторов»). Версия 1.2.0 даёт на этой записи те же числа, что гейт 29.09 (гейт печати R3 отличается от него только поездкой, пятью пустыми записями и висящим предметом 5 см, не этой записью). Источник чисел: docs/evidence/r3_completion_2026-10-20/gate-a-candidate.json; независимая оценка 13.10 воспроизвела 193 из 201 и 61 из 61 (docs/evidence/judgement_2026-10-13/README.md §3).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Живой показ — версия 1.2.0 (образ релиза, детектор — печать R3). Один узел: сначала Pandar, запись doubleT_obstacle — STOP около 56 м в первые секунды; затем без перезапуска контейнера Falcon с профилем falcon_ros — ориентация с первого кадра, 3D-бокс габарита, CAUTION у конструкций, STOP по человеку. Пробел — пауза, стрелки вверх и вниз — скорость. Проверено 18.10 на образе разработки cecab1b: 40 из 40 кадров Pandar, затем 100 из 100 кадров Falcon в одном узле, без перезапуска и потерь; пауза и смена скорости 0,5 → 0,4 работают (docs/evidence/n1_n4_2026-10-18/README.md). Слева — снимок RViz того же отображения на кривой (программный рендер, 18.10): бокс короче там, где ось не подтверждена. Справа — запасной ролик docker_chain_rviz.mp4: архив 23.09 (v0.6.2), не 1.2.0. Надёжность: нет свежих данных — FAULT или удержание STOP; потребитель проверяет время действия /resense/status своим таймером; при смене бэга узел явно сбрасывает очередь, калибровку, треки и свежесть. Команды: docs/PRESENTATION.md «Демонстрация», docs/evidence/n1_n4_2026-10-18/HOWTO.md. Falcon-бэг (432 кадра) проверен с настоящим ROS 2 на сервере моста: все кадры обработаны, первый STOP через 23,2 с после play на 130,5 м при скорости 1,0 (при 0,5 — 42,9 с, дольше 30 с): играть со скоростью 1,0.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критериям экспертов 16.10. 61 из 61: человек в габарите на реальной записи doubleT_obstacle — STOP в каждом кадре, с первого кадра в габарите; вся запись — STOP на 193 из 201 кадра — с кадра 8 до конца, без пропусков; предмет на рельсе — 126 из 126 (эти числа на записи в гейте 1.2.0 те же, что в гейте 29.09; независимая оценка 13.10 воспроизвела). ~125 м: Falcon, первый STOP по идущему человеку — 124,8 м на 297 с (проверка 19.10, docs/evidence/falcon_head_check_2026-10-19: вся запись через aec88d2, решения совпадают с прогоном 1.1.0 docs/evidence/falcon_full_2026-10-18 (B2); 20.10 независимый ревьюер воспроизвёл запись целиком на cc6226e и f56ad5e, docs/evidence/p4_review_final_bundle_2026-10-20). ≈ 0,04 м: дрожание видимого (рисуемого) края габарита между кадрами, не оси детектора; p90 на 40 / 80 / 120 м — 0,018 / 0,030 / 0,040 м на наборе O при пределах 0,05 / 0,08 / 0,15 м (docs/evidence/n1_n4_2026-10-18/README.md); цена — на кривой бокс медианно 52 м из 142 м поддержанных. Дальность — следующий слайд. Пропуски: STOP у 8 из 8 объектов организаторов в габарите (гейт); известные пропуски — столбы и мелкое вдали (слайд «Сложные случаи»). Ложные: 23 событий / 26 эпизодов STOP за 13 км поездки на кэше гейта — в выборке, правила подбирали на этих данных; узловой путь судьи 13.10 (v1.0.0): 32 эпизода, ≈2,5 эпизода/км; все пустые данные — 36 эпизодов за 1 430 с, ≈91 в час; на этих записях 1.2.0 решения иные: в гейте 1.2.0 пять пустых записей дают 7 событий (было 8 в гейте 29.09), поездка — 23 (было 27). Falcon: 12 ложных кадров STOP за 444 с. 10 Гц: Falcon — детектор 21 мс на кадр, медиана (docs/evidence/falcon_head_check_2026-10-19); Pandar 360° — нода p95 111 мс на 4 vCPU, 120° — 84 мс (13.10, v1.0.0); стенд организаторов не мерили. Запуск: run_demo.sh / play_bag.sh --interactive — пауза, замедление, несколько бэгов в одном узле, RViz в контейнере, программный рендер (docs/evidence/n1_n4_2026-10-18/HOWTO.md). «Фильтр» (критерий 7) организаторы не определили — вопрос отправлен. Эпизод — серия STOP, событие гейта — подтверждённый трек: это разные метрики.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Дальность — по форме пути, а не одним числом. Метод судьи 13.10, повторён 16.10 на 1.1.0: неподвижный бокс ставится в 230 м впереди на собственную ось детектора и высоту головки рельса и лучами вписывается в реальные кадры 120°; возвраты идеальные — постановка благоприятная, это не реальные люди. Первый STOP: прямая — человек (бокс 0,5 × 0,5 × 1,75 м) 218 м, куб 1 м — 151 м, куб 0,3 м — 45 м; перед платформой — 106 м; кривые с гермозатвором — 83 м; кривая в двухпутный участок — 52 м. На кривых объект виден раньше, но ось пути отстаёт от поворота (наша кривизна −0,0006…−0,0011 против −0,0025 1/м по трём независимым свидетелям, docs/evidence/gauge_stability_2026-10-18/README.md); исправление оси (K1/K2) не прошло приёмку и выключено в 1.2.0 (решение капитана 20.10, docs/evidence/k1_k2_review_2026-10-20); работа после питча. С v1.0.0 изменилась только кривая с гермозатвором: 74 → 83 м. 1.2.0 относительно 1.1.0: на печати B4 (18.10) полный гейт и X3 (40 случаев, 29 765 строк) совпадали во всех не-временных выходах (docs/evidence/b4_merge_reseal_2026-10-18/README.md); с тех пор добавлены F1a, L16, R3 и H1 — поездка в гейте 23 событий вместо 27, висящий предмет 5 см — с 35 м; сами задания дальности на 1.2.0 не перезапускались. Источник: docs/evidence/rejudge_2026-10-16/prebuild/summary_1.1.0.json, range_table.md, RELEASE_DAY.md. Прежний график — наша синтетика в прямой поездке (набор F, гейт 29.09): человек 151 м, тележка 151, ящик 1 м 124, кабель 3 см 99; со скоростью поезда — 167 м. Pandar в этих записях не даёт отражений дальше 209–210 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синтетика организаторов на использованных фонах, не скрытая проверка: поезд едет к объектам до 20 м/с. Большой ящик — с первого появления, 98 м; доска поперёк рельсов — с 87 м. Кубы 30 см — только с 43–56 м: на 60–115 м от них 2–4 точки в кадре. Висящий предмет 5 см — с 35 м; ящик у верха габарита — непрерывно с 111 м. У края — с 35 и 18 м; трек ящика у края — STOP с 28,7 м, а счётчик засчитывает кадры с 18 м: он ищет обнаружение в метре от центра двухметрового ящика. Габарит организаторы отсчитывают от головки рельсов (их ответ 29.09); ближе 60 м на прямой мы добавляем к нему до 0,2 м по оси лидара — нигде не уже, чем от рельсов; без этой добавки куб у края — лишь с 5,2 м. Синтетика, по словам организаторов, расставлена приблизительно, и при проверке они это учтут. Дальние слабые треки дали ящику у верха габарита и доске 111 и 87 м вместо 101 и 82. Ложный STOP у ящика снаружи габарита — 6 кадров на кэше гейта, с 142 м; на исходной записи детектор 27.09 давал 9 кадров подряд на 126–142 м: обнаружение на его внутреннем крае. Ящик у верха габарита на кэше: 56 из 124 кадров STOP. Куб на рельсе / по центру: 42,7 / 55,8 м на кэше; 48,0 / 55,8 м node-path 13.10, краевой куб 35 м в обоих. Ранее заявленная проверка новых мест относится к старому детектору 27.09, не к выпущенной или будущей версии. Гейт 1.2.0 (печать R3; build_deck.py --check-gate docs/evidence/r3_completion_2026-10-20/gate-a-candidate.json → GATE matches, 20.10): от гейта 29.09 отличаются поездка (23 событий вместо 27), пять пустых записей (7 вместо 8) и висящий предмет 5 см (с 35 м вместо 30).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лидар — Seyond Falcon Prime, реальная запись организаторов: 4 443 кадра за 444 с, поезд стоит, человек идёт по пути к нему. Оси у Pandar и Falcon разные, профиль выбирается явно: pandar128 (−Y/+X/+Z), falcon_ros (+X/+Y/+Z, как в записи), falcon_native (+Z/−Y/+X, нативные оси корпуса); из имени топика он не выводится. Автокалибровка ищет ориентацию; пока она не подтверждена — CAUTION с нулевой свободной дальностью, никогда не молчаливый GO. На этой записи правильная ориентация принята с первого кадра; наклон по детектору −2,39°, по независимой подгонке плоскости полотна −2,37°; лидар в 1,77 м над головкой рельса. Человек: первое предупреждение — со 139–156 м, первый STOP — около 125 м (124,8 м, 297 с), от 100 до 20 м — STOP в 100 % кадров. Ложные: 12 кадров STOP за 444 с — 4 на неподвижной конструкции в 115 м и 8 на участке пола в 9,4 м; причина второго не установлена. CAUTION на 69 % кадров: две неподвижные конструкции у края габарита, 105,6 и 115 м. 300 м: человек виден лидару с ~249 м (5–8 точек), а первый STOP — с ~125 м; работа над дальностью Falcon идёт, результата пока нет. По паспорту — 250 м при отражательной способности 10 % (максимум 500 м); в этом тоннеле полотно и рельсы не отражают дальше ~150 м, поэтому габарит дальше можно только продлевать; код обрезает облако на 250 м. Детектор — 21 мс на кадр, медиана. Источники: проверка 19.10, docs/evidence/falcon_head_check_2026-10-19: вся запись через aec88d2, решения совпадают с прогоном 1.1.0 docs/evidence/falcon_full_2026-10-18 (B2); 20.10 независимый ревьюер воспроизвёл запись целиком на cc6226e и f56ad5e, docs/evidence/p4_review_final_bundle_2026-10-20 (первый STOP 124,8 м; ложные 4 + 8 кадров; CAUTION 3 062 из 4 443); профили и ориентация — docs/evidence/n2_falcon_2026-10-18/README.md; паспорт — docs/sensor/falcon_prime/README.md. Наклон, высота, первое предупреждение и время на кадр — замеры капитана 19.10, пока не в коммите.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Честно о слабом. Столбы: высокий узкий объект в габарите понижается до CAUTION (правило column) — критичный пропуск, найден независимой оценкой 13.10; исправление H1 отозвано 16.10, потому что теряло другие положительные (CHANGELOG [1.1.0]); в 1.2.0 улучшено частично (H1: на синтетике 82 → 114 из 177, 63 пропуска остаются; независимая приёмка заблокирована — при ложной паре рельсов бывают ложные core и STOP, docs/evidence/h1_publication_2026-10-20). Кривые: ось пути отстаёт от поворота, первый STOP 52–83 м; исправление оси (K1/K2) не прошло приёмку и выключено в 1.2.0. Ложные STOP: судья 13.10 — 36 эпизодов за 1 430 с пустого тоннеля (≈91 в час), CAUTION на 43 % пустых кадров (v1.0.0; на этих записях гейт 1.2.0 даёт 7 событий на пустых записях и 23 на поездке); главные источники — платформы, стрелки, конструкции у края; работа F1 идёт, результата нет. Пыль: свой генератор синтетической пыли и полное измерение — 30 875 прогонов кадров на 9b92df5 (= 1.1.0); при средней плотности пустые записи дают 22–71 эпизод STOP вместо 0–3, реальный человек теряется; нашу приёмку детектор не проходит, работа идёт, исправления нет (docs/evidence/n3_dust_2026-10-18/README.md). Мелкое: кубы 0,3 м — STOP с 43–56 м, ящик 0,5 м на полотне — в 2 из 6 подходов; висящий предмет 5 см — с 35 м. Известные ограничения 1.2.0: вблизи Falcon (кадры 4373–4414, объект 2,5–7 м) в 38 кадрах «чистая дистанция» детектора 3–40 м лежит дальше объекта при решении CAUTION — это оценка, не подтверждение отсутствия препятствия (docs/evidence/falcon_clear_limit_2026-10-20); ошибка высоты лидара +0,8 м на 5 м может скрыть новое висящее тело (B4, docs/evidence/p3_review_response_2026-10-20). Как мы работаем со своими правками: завершение F1a (локальная опорная линия рельса) независимое ревью нашло небезопасным — оно скрывало объекты 5–20 см над головкой рельса в синтетических сценах, — и мы его откатили (docs/evidence/f1a_completion_review_2026-10-20); цена ремонта F1a на поездке принята. «Мнение» о треке обучено на синтетике: непохожий реальный объект оно может задержать, но не больше 10 обработанных кадров за жизнь трека (~1 с при 10 Гц, ~2 с при 5 Гц, до ~3 с, пока узел догоняет очередь), не ближе 25 м и не для стоящего тела ≥ 1 м ближе 40 м; STOP оно никогда не отменяет.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ROS 2-модуль на CPU в Docker; два лидара с явными профилями осей; габарит — стабильный 3D-бокс по поддержанной геометрии; запуск с паузой, замедлением и сменой бэгов без перезапуска. Тесты: 2 387 из 2 387 тестов полного набора в CI-подобной конфигурации на байтах f56ad5e (8 тестов требуют записей), независимый прогон 20.10, docs/evidence/p4_review_final_bundle_2026-10-20/README.md; 1 969 на aec88d2 19.10, docs/evidence/falcon_head_check_2026-10-19/out/tests.txt. В работе, без результатов: габарит синхронно с поворотом (K1/K2 выключены в 1.2.0), устойчивость к пыли, дальность Falcon к 300 м, меньше ложных STOP (F1). 1.2.0: релиз v1.2.0; облачный CI (печать, тесты, образ, офлайн-сборка) зелёный. Подключение к торможению требует отдельной разработки и проверки безопасности. Вопросы организаторам — формат питча, можно ли показать и перепрогнать обновлённую версию, как читать CAUTION, что в скрытом наборе, что такое «фильтр», новые данные, проигрывание бэгов — отправлены капитаном; ответов пока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26.jpg"/><Relationship Id="rId4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7.jpg"/><Relationship Id="rId5" Type="http://schemas.openxmlformats.org/officeDocument/2006/relationships/image" Target="../media/image828.jpg"/><Relationship Id="rId6" Type="http://schemas.openxmlformats.org/officeDocument/2006/relationships/image" Target="../media/image829.jpg"/><Relationship Id="rId7" Type="http://schemas.openxmlformats.org/officeDocument/2006/relationships/image" Target="../media/image83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32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4" Type="http://schemas.openxmlformats.org/officeDocument/2006/relationships/image" Target="../media/image834.jpg"/><Relationship Id="rId5" Type="http://schemas.openxmlformats.org/officeDocument/2006/relationships/notesSlide" Target="../notesSlides/notesSlide10.xml"/><Relationship Id="rId6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19" name="Picture 18" descr="team.jpg"/>
          <p:cNvPicPr>
            <a:picLocks noChangeAspect="1"/>
          </p:cNvPicPr>
          <p:nvPr/>
        </p:nvPicPr>
        <p:blipFill>
          <a:blip r:embed="rId3"/>
          <a:srcRect t="29" b="29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500">
                <a:solidFill>
                  <a:schemeClr val="tx1"/>
                </a:solidFill>
              </a:rPr>
              <a:t>Модель среды без карты и классов объектов. Возможны пропуски и ложные тревоги.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Кузнецов Пётр, системный аналитик, ROS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Узел ROS 2, Docker и питч; интерфейс и визуализация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Алгоритм: модель пути и габарит; данные, метрики и тесты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500">
                <a:solidFill>
                  <a:schemeClr val="tx1"/>
                </a:solidFill>
              </a:rPr>
              <a:t>LiDAR → модель тоннеля → препятствие в габарите 2,1 × 3,0 м → решение и расстояние. ROS 2, Docker, CPU.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Разработчик ПО (Python / JS)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@velikolepenlil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Фронтенд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Инженер компьютерного зрения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@n4vsegda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Зрение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57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Специалист по данным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@likikikpa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Данные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66" name="Picture 65" descr="member-66.jpg"/>
          <p:cNvPicPr>
            <a:picLocks noChangeAspect="1"/>
          </p:cNvPicPr>
          <p:nvPr/>
        </p:nvPicPr>
        <p:blipFill>
          <a:blip r:embed="rId4"/>
          <a:srcRect t="138" b="138"/>
          <a:stretch>
            <a:fillRect/>
          </a:stretch>
        </p:blipFill>
        <p:spPr>
          <a:xfrm>
            <a:off x="1776987" y="1816054"/>
            <a:ext cx="1722566" cy="1552901"/>
          </a:xfrm>
          <a:prstGeom prst="rect">
            <a:avLst/>
          </a:prstGeom>
        </p:spPr>
      </p:pic>
      <p:pic>
        <p:nvPicPr>
          <p:cNvPr id="68" name="Picture 67" descr="member-68.jpg"/>
          <p:cNvPicPr>
            <a:picLocks noChangeAspect="1"/>
          </p:cNvPicPr>
          <p:nvPr/>
        </p:nvPicPr>
        <p:blipFill>
          <a:blip r:embed="rId5"/>
          <a:srcRect t="475" b="475"/>
          <a:stretch>
            <a:fillRect/>
          </a:stretch>
        </p:blipFill>
        <p:spPr>
          <a:xfrm>
            <a:off x="4082057" y="1826554"/>
            <a:ext cx="1722566" cy="1542401"/>
          </a:xfrm>
          <a:prstGeom prst="rect">
            <a:avLst/>
          </a:prstGeom>
        </p:spPr>
      </p:pic>
      <p:pic>
        <p:nvPicPr>
          <p:cNvPr id="70" name="Picture 69" descr="member-70.jpg"/>
          <p:cNvPicPr>
            <a:picLocks noChangeAspect="1"/>
          </p:cNvPicPr>
          <p:nvPr/>
        </p:nvPicPr>
        <p:blipFill>
          <a:blip r:embed="rId6"/>
          <a:srcRect l="81" r="81"/>
          <a:stretch>
            <a:fillRect/>
          </a:stretch>
        </p:blipFill>
        <p:spPr>
          <a:xfrm>
            <a:off x="6387374" y="1809238"/>
            <a:ext cx="1722567" cy="1559717"/>
          </a:xfrm>
          <a:prstGeom prst="rect">
            <a:avLst/>
          </a:prstGeom>
        </p:spPr>
      </p:pic>
      <p:pic>
        <p:nvPicPr>
          <p:cNvPr id="72" name="Picture 71" descr="member-72.jpg"/>
          <p:cNvPicPr>
            <a:picLocks noChangeAspect="1"/>
          </p:cNvPicPr>
          <p:nvPr/>
        </p:nvPicPr>
        <p:blipFill>
          <a:blip r:embed="rId7"/>
          <a:srcRect l="81" r="81"/>
          <a:stretch>
            <a:fillRect/>
          </a:stretch>
        </p:blipFill>
        <p:spPr>
          <a:xfrm>
            <a:off x="8715798" y="1809238"/>
            <a:ext cx="1722567" cy="1559717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57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Системный аналитик, ROS 2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@vroan73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94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Капитан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13949" y="3418955"/>
            <a:ext cx="1785604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Кузнецов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Пётр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19267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Максимов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Тимофей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4585" y="3418955"/>
            <a:ext cx="1785356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Лихатин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Андрей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29904" y="3418955"/>
            <a:ext cx="1808461" cy="513163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Голубев</a:t>
            </a:r>
          </a:p>
          <a:p>
            <a:pPr>
              <a:lnSpc>
                <a:spcPct val="90000"/>
              </a:lnSpc>
            </a:pPr>
            <a:r>
              <a:rPr lang="ru-RU" b="1" sz="1400">
                <a:solidFill>
                  <a:srgbClr val="4B0E73"/>
                </a:solidFill>
              </a:rPr>
              <a:t>Павел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Четыре роли, один репозиторий, с 15 сентября: два лидара, 2 387 тестов, правки — через гейт.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Мало реальных препятствий: синтетику проверяем на реальных фонах. Свою правку отклонили и откатили: ревью нашло скрытый объект.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500">
                <a:solidFill>
                  <a:schemeClr val="tx1"/>
                </a:solidFill>
              </a:rPr>
              <a:t>Результат измерим: дальность, габарит, ложные тревоги. Классификатор не нужен — ищем лишнее в нормальном тоннеле.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ROS 2 Humble · Python + C++ · Docker · только CPU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PointCloud2 → модель пути → габарит 2,1 × 3,0 м → кластеры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GO / CAUTION / STOP / FAULT, расстояние, /resense/status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Лидары: Pandar128 и Falcon Prime</a:t>
            </a:r>
          </a:p>
          <a:p>
            <a:pPr>
              <a:spcBef>
                <a:spcPts val="600"/>
              </a:spcBef>
            </a:pPr>
            <a:r>
              <a:rPr lang="ru-RU" sz="1500">
                <a:solidFill>
                  <a:schemeClr val="tx1"/>
                </a:solidFill>
              </a:rPr>
              <a:t>Показываем 1.2.0 (релиз v1.2.0); эксперты оценивали v1.0.0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Применение:</a:t>
            </a:r>
            <a:r>
              <a:rPr lang="ru-RU" sz="1500">
                <a:solidFill>
                  <a:schemeClr val="tx1"/>
                </a:solidFill>
              </a:rPr>
              <a:t xml:space="preserve"> контроль габарита поезда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В работе:</a:t>
            </a:r>
            <a:r>
              <a:rPr lang="ru-RU" sz="1500">
                <a:solidFill>
                  <a:schemeClr val="tx1"/>
                </a:solidFill>
              </a:rPr>
              <a:t xml:space="preserve"> габарит на поворотах, пыль, 300 м, меньше ложных STOP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500" b="1">
                <a:solidFill>
                  <a:schemeClr val="tx1"/>
                </a:solidFill>
              </a:rPr>
              <a:t>Внедрение:</a:t>
            </a:r>
            <a:r>
              <a:rPr lang="ru-RU" sz="1500">
                <a:solidFill>
                  <a:schemeClr val="tx1"/>
                </a:solidFill>
              </a:rPr>
              <a:t xml:space="preserve"> адаптер торможения — отдельный этап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Беспилотному поезду нужно видеть препятствия заранее. Реальных размеченных объектов почти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3D-детектору нужны примеры препятствий; карте —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600" b="1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по рельсам и стенам. Искать постороннее внутри габарита без карты. Проверять дальность по геометриям пути.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13 759 реальных кадров Pandar128:</a:t>
            </a:r>
            <a:r>
              <a:rPr lang="ru-RU" sz="1500">
                <a:solidFill>
                  <a:schemeClr val="tx1"/>
                </a:solidFill>
              </a:rPr>
              <a:t xml:space="preserve"> 6 записей и 20-минутная поездка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~210 м:</a:t>
            </a:r>
            <a:r>
              <a:rPr lang="ru-RU" sz="1500">
                <a:solidFill>
                  <a:schemeClr val="tx1"/>
                </a:solidFill>
              </a:rPr>
              <a:t xml:space="preserve"> дальше отражений Pandar в этих записях нет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Falcon Prime, 16.10:</a:t>
            </a:r>
            <a:r>
              <a:rPr lang="ru-RU" sz="1500">
                <a:solidFill>
                  <a:schemeClr val="tx1"/>
                </a:solidFill>
              </a:rPr>
              <a:t xml:space="preserve"> 4 443 реальных кадра — человек идёт к стоящему поезду</a:t>
            </a:r>
          </a:p>
          <a:p>
            <a:pPr>
              <a:spcBef>
                <a:spcPts val="800"/>
              </a:spcBef>
            </a:pPr>
            <a:r>
              <a:rPr lang="ru-RU" sz="1500" b="1">
                <a:solidFill>
                  <a:schemeClr val="tx1"/>
                </a:solidFill>
              </a:rPr>
              <a:t>Синтетика 16.10:</a:t>
            </a:r>
            <a:r>
              <a:rPr lang="ru-RU" sz="1500">
                <a:solidFill>
                  <a:schemeClr val="tx1"/>
                </a:solidFill>
              </a:rPr>
              <a:t xml:space="preserve"> 3 записи, 1 667 кадров, разметка наша</a:t>
            </a:r>
          </a:p>
          <a:p>
            <a:pPr>
              <a:spcBef>
                <a:spcPts val="800"/>
              </a:spcBef>
            </a:pPr>
            <a:r>
              <a:rPr lang="ru-RU" sz="1500">
                <a:solidFill>
                  <a:schemeClr val="tx1"/>
                </a:solidFill>
              </a:rPr>
              <a:t>Реальные препятствия: человек и предмет на рельсе (Pandar), человек (Falcon)</a:t>
            </a:r>
          </a:p>
          <a:p>
            <a:pPr>
              <a:spcBef>
                <a:spcPts val="800"/>
              </a:spcBef>
            </a:pPr>
            <a:r>
              <a:rPr lang="ru-RU" sz="1500">
                <a:solidFill>
                  <a:schemeClr val="tx1"/>
                </a:solidFill>
              </a:rPr>
              <a:t>Все записи — данные разработки, не скрытая проверка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 и наклон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оси; 3D-бокс в RViz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рельсы, ось; кривизна по стенам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адаптивный радиус; проверка инфраструктуры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sz="1400" b="1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600"/>
              </a:spcBef>
            </a:pPr>
            <a:r>
              <a:rPr lang="ru-RU" sz="2600" b="1">
                <a:solidFill>
                  <a:srgbClr val="FF0053"/>
                </a:solidFill>
              </a:rPr>
              <a:t>Увидел за 56 м</a:t>
            </a:r>
          </a:p>
          <a:p>
            <a:pPr/>
            <a:r>
              <a:rPr lang="ru-RU" sz="1300">
                <a:solidFill>
                  <a:srgbClr val="1C1D22"/>
                </a:solidFill>
              </a:rPr>
              <a:t>человек переходит путь — STOP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sz="1200" b="1">
                <a:solidFill>
                  <a:srgbClr val="1C1D22"/>
                </a:solidFill>
              </a:rPr>
              <a:t>61 из 61</a:t>
            </a:r>
            <a:r>
              <a:rPr lang="ru-RU" sz="1200">
                <a:solidFill>
                  <a:srgbClr val="1C1D22"/>
                </a:solidFill>
              </a:rPr>
              <a:t xml:space="preserve"> кадра внутри габарита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Тревога с первого кадра в габарите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6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Вся запись: STOP на </a:t>
            </a:r>
            <a:r>
              <a:rPr lang="ru-RU" sz="1200" b="1">
                <a:solidFill>
                  <a:srgbClr val="1C1D22"/>
                </a:solidFill>
              </a:rPr>
              <a:t>193 из 201</a:t>
            </a:r>
            <a:r>
              <a:rPr lang="ru-RU" sz="1200">
                <a:solidFill>
                  <a:srgbClr val="1C1D22"/>
                </a:solidFill>
              </a:rPr>
              <a:t xml:space="preserve"> кадра — с кадра 8 до конца без пропусков; предмет на рельсе — 126 из 126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rviz2 · 1.2.0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RViz в контейнере: габарит — 3D-бокс по поддержанной геометрии; на кривой короче.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Запасной ролик: Docker + RViz, STOP около 56 м. Архив 23.09, 69 с; не 1.2.0.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6"/>
          <a:srcRect t="87" b="87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640000"/>
            <a:ext cx="9770000" cy="6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1600" b="1">
                <a:solidFill>
                  <a:srgbClr val="520978"/>
                </a:solidFill>
              </a:rPr>
              <a:t>run_demo.sh: Pandar → Falcon в одном узле · пауза · замедление</a:t>
            </a:r>
          </a:p>
          <a:p>
            <a:pPr algn="ctr">
              <a:spcBef>
                <a:spcPts val="400"/>
              </a:spcBef>
            </a:pPr>
            <a:r>
              <a:rPr lang="ru-RU" sz="1200">
                <a:solidFill>
                  <a:srgbClr val="520978"/>
                </a:solidFill>
              </a:rPr>
              <a:t>вручную: 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61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 с человеком — STOP · Pandar, реальная запись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~125 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первый STOP: человек идёт к поезду · Falcon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≈ 0,04 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дрожание показанного габарита, p90 до 120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Дальность:</a:t>
            </a:r>
            <a:r>
              <a:rPr lang="ru-RU" sz="1200">
                <a:solidFill>
                  <a:schemeClr val="tx1"/>
                </a:solidFill>
              </a:rPr>
              <a:t xml:space="preserve"> прямая 218 м, кривые 52–83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Пропуски:</a:t>
            </a:r>
            <a:r>
              <a:rPr lang="ru-RU" sz="1200">
                <a:solidFill>
                  <a:schemeClr val="tx1"/>
                </a:solidFill>
              </a:rPr>
              <a:t xml:space="preserve"> STOP у 8 из 8 объектов организаторов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Ложные:</a:t>
            </a:r>
            <a:r>
              <a:rPr lang="ru-RU" sz="1200">
                <a:solidFill>
                  <a:schemeClr val="tx1"/>
                </a:solidFill>
              </a:rPr>
              <a:t xml:space="preserve"> 1,8 на км (23 события за 13 км, в выборке)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10 Гц:</a:t>
            </a:r>
            <a:r>
              <a:rPr lang="ru-RU" sz="1200">
                <a:solidFill>
                  <a:schemeClr val="tx1"/>
                </a:solidFill>
              </a:rPr>
              <a:t xml:space="preserve"> Falcon — 21 мс/кадр; Pandar 360° — p95 111 мс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sz="1200" b="1">
                <a:solidFill>
                  <a:schemeClr val="tx1"/>
                </a:solidFill>
              </a:rPr>
              <a:t>Запуск:</a:t>
            </a:r>
            <a:r>
              <a:rPr lang="ru-RU" sz="1200">
                <a:solidFill>
                  <a:schemeClr val="tx1"/>
                </a:solidFill>
              </a:rPr>
              <a:t xml:space="preserve"> пауза, замедление, смена бэгов без перезапуска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523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Метод судьи 13.10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лучевая синтетика, реальные фоны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Кривые: 52–83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ось отстаёт от поворота — в работе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 v1.0.0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гермозатвор 74 → 83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Измерено на 1.1.0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 1.2.0 не перезапускали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 ПО ФОРМЕ ПУТИ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Первый STOP, м; человек — бокс 1,75 м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Доска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доска — с 87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Верх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56 из 124; непрерывно с 111 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500" b="1">
                <a:solidFill>
                  <a:schemeClr val="tx1"/>
                </a:solidFill>
              </a:rPr>
              <a:t>Кубы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Кэш: 43–56 м; node-path: 48–56 м.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Синтетика; гейт 1.2.0 (печать R3). Сиреневый: неустойчиво.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62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Оси и 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Профили falcon_ros / falcon_native; ориентация — с 1-го кадра; без неё CAUTION, не GO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Человек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Предупреждение со 139–156 м, STOP с ~125 м; от 100 до 20 м — STOP в каждом кадре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Ложные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12 кадров STOP за 444 с; CAUTION 69 %. Вблизи (2,5–7 м) 38 кадров: «чисто» дальше объекта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300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400">
                <a:solidFill>
                  <a:schemeClr val="tx1"/>
                </a:solidFill>
              </a:rPr>
              <a:t>Человек виден с ~249 м (5–8 точек), полотно — до ~150 м; дальность — в работе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ВТОРОЙ ЛИДАР: FALCON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Столбы:</a:t>
            </a:r>
            <a:r>
              <a:rPr lang="ru-RU" sz="1300">
                <a:solidFill>
                  <a:schemeClr val="tx1"/>
                </a:solidFill>
              </a:rPr>
              <a:t xml:space="preserve"> высокий узкий объект чаще CAUTION, не STOP — улучшено частично (синтетика: 82 → 114 из 177)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Кривые:</a:t>
            </a:r>
            <a:r>
              <a:rPr lang="ru-RU" sz="1300">
                <a:solidFill>
                  <a:schemeClr val="tx1"/>
                </a:solidFill>
              </a:rPr>
              <a:t xml:space="preserve"> ось отстаёт от поворота; первый STOP с 52–83 м — исправление (K1/K2) вне 1.2.0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Ложные STOP:</a:t>
            </a:r>
            <a:r>
              <a:rPr lang="ru-RU" sz="1300">
                <a:solidFill>
                  <a:schemeClr val="tx1"/>
                </a:solidFill>
              </a:rPr>
              <a:t xml:space="preserve"> ≈91 эпизод в час пустого тоннеля (13.10) — снижаем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Пыль:</a:t>
            </a:r>
            <a:r>
              <a:rPr lang="ru-RU" sz="1300">
                <a:solidFill>
                  <a:schemeClr val="tx1"/>
                </a:solidFill>
              </a:rPr>
              <a:t xml:space="preserve"> на своей синтетической пыли приёмку не проходим — в работе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sz="1300" b="1">
                <a:solidFill>
                  <a:schemeClr val="tx1"/>
                </a:solidFill>
              </a:rPr>
              <a:t>Мелкое:</a:t>
            </a:r>
            <a:r>
              <a:rPr lang="ru-RU" sz="1300">
                <a:solidFill>
                  <a:schemeClr val="tx1"/>
                </a:solidFill>
              </a:rPr>
              <a:t xml:space="preserve"> кубы 0,3 м — с 43–56 м; висящий 5 см — с 35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на CPU в Docker; два лидара; стабильный 3D-габарит; пауза и смена бэгов без перезапуска; 2 387 тестов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Габарит по повороту (K1/K2 вне 1.2.0), пыль, дальность Falcon к 300 м, меньше ложных STOP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run_demo.sh. Адаптер торможения требует разработки и проверки.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