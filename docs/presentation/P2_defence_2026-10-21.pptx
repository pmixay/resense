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369" r:id="rId13"/>
    <p:sldId id="267" r:id="rId26"/>
    <p:sldId id="372" r:id="rId14"/>
    <p:sldId id="270" r:id="rId28"/>
    <p:sldId id="262" r:id="rId21"/>
    <p:sldId id="266" r:id="rId23"/>
    <p:sldId id="263" r:id="rId22"/>
    <p:sldId id="371" r:id="rId17"/>
    <p:sldId id="370" r:id="rId16"/>
    <p:sldId id="374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6" Type="http://schemas.openxmlformats.org/officeDocument/2006/relationships/slide" Target="slides/slide15.xml"/><Relationship Id="rId17" Type="http://schemas.openxmlformats.org/officeDocument/2006/relationships/slide" Target="slides/slide14.xml"/><Relationship Id="rId18" Type="http://schemas.openxmlformats.org/officeDocument/2006/relationships/slide" Target="slides/slide16.xml"/><Relationship Id="rId21" Type="http://schemas.openxmlformats.org/officeDocument/2006/relationships/slide" Target="slides/slide11.xml"/><Relationship Id="rId22" Type="http://schemas.openxmlformats.org/officeDocument/2006/relationships/slide" Target="slides/slide13.xml"/><Relationship Id="rId23" Type="http://schemas.openxmlformats.org/officeDocument/2006/relationships/slide" Target="slides/slide12.xml"/><Relationship Id="rId25" Type="http://schemas.openxmlformats.org/officeDocument/2006/relationships/slide" Target="slides/slide6.xml"/><Relationship Id="rId26" Type="http://schemas.openxmlformats.org/officeDocument/2006/relationships/slide" Target="slides/slide8.xml"/><Relationship Id="rId28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первый STOP, м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dPt>
            <c:idx val="0"/>
            <c:spPr>
              <a:solidFill>
                <a:srgbClr val="FF0053"/>
              </a:solidFill>
            </c:spPr>
          </c:dPt>
          <c:dPt>
            <c:idx val="1"/>
            <c:spPr>
              <a:solidFill>
                <a:srgbClr val="8A83D1"/>
              </a:solidFill>
            </c:spPr>
          </c:dPt>
          <c:dPt>
            <c:idx val="2"/>
            <c:spPr>
              <a:solidFill>
                <a:srgbClr val="FF0053"/>
              </a:solidFill>
            </c:spPr>
          </c:dPt>
          <c:dPt>
            <c:idx val="3"/>
            <c:spPr>
              <a:solidFill>
                <a:srgbClr val="FF0053"/>
              </a:solidFill>
            </c:spPr>
          </c:dPt>
          <c:dPt>
            <c:idx val="4"/>
            <c:spPr>
              <a:solidFill>
                <a:srgbClr val="FF0053"/>
              </a:solidFill>
            </c:spPr>
          </c:dPt>
          <c:dPt>
            <c:idx val="5"/>
            <c:spPr>
              <a:solidFill>
                <a:srgbClr val="FF0053"/>
              </a:solidFill>
            </c:spPr>
          </c:dPt>
          <c:dPt>
            <c:idx val="6"/>
            <c:spPr>
              <a:solidFill>
                <a:srgbClr val="FF0053"/>
              </a:solidFill>
            </c:spPr>
          </c:dPt>
          <c:dPt>
            <c:idx val="7"/>
            <c:spPr>
              <a:solidFill>
                <a:srgbClr val="FF0053"/>
              </a:solidFill>
            </c:spPr>
          </c:dPt>
          <c:dLbls>
            <c:numFmt formatCode="0&quot; м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висящий 5 см</c:v>
                </c:pt>
                <c:pt idx="1">
                  <c:v>ящик 2 м: край</c:v>
                </c:pt>
                <c:pt idx="2">
                  <c:v>куб 0,3 м: край</c:v>
                </c:pt>
                <c:pt idx="3">
                  <c:v>куб 0,3 м: центр</c:v>
                </c:pt>
                <c:pt idx="4">
                  <c:v>куб 0,3 м: рельс</c:v>
                </c:pt>
                <c:pt idx="5">
                  <c:v>доска</c:v>
                </c:pt>
                <c:pt idx="6">
                  <c:v>ящик 2 м: центр</c:v>
                </c:pt>
                <c:pt idx="7">
                  <c:v>ящик 2 м: верх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18</c:v>
                </c:pt>
                <c:pt idx="2">
                  <c:v>35</c:v>
                </c:pt>
                <c:pt idx="3">
                  <c:v>56</c:v>
                </c:pt>
                <c:pt idx="4">
                  <c:v>43</c:v>
                </c:pt>
                <c:pt idx="5">
                  <c:v>87</c:v>
                </c:pt>
                <c:pt idx="6">
                  <c:v>98</c:v>
                </c:pt>
                <c:pt idx="7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numFmt formatCode="0&quot; м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tickLblSkip val="1"/>
        <c:noMultiLvlLbl val="0"/>
      </c:catAx>
      <c:valAx>
        <c:axId val="1173587135"/>
        <c:scaling>
          <c:orientation val="minMax"/>
          <c:max val="15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50.0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первый STOP, м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spPr>
              <a:solidFill>
                <a:srgbClr val="8A83D1"/>
              </a:solidFill>
            </c:spPr>
          </c:dPt>
          <c:dPt>
            <c:idx val="1"/>
            <c:spPr>
              <a:solidFill>
                <a:srgbClr val="8A83D1"/>
              </a:solidFill>
            </c:spPr>
          </c:dPt>
          <c:dPt>
            <c:idx val="2"/>
            <c:spPr>
              <a:solidFill>
                <a:srgbClr val="520978"/>
              </a:solidFill>
            </c:spPr>
          </c:dPt>
          <c:dPt>
            <c:idx val="3"/>
            <c:spPr>
              <a:solidFill>
                <a:srgbClr val="FF0053"/>
              </a:solidFill>
            </c:spPr>
          </c:dPt>
          <c:dPt>
            <c:idx val="4"/>
            <c:spPr>
              <a:solidFill>
                <a:srgbClr val="FF0053"/>
              </a:solidFill>
            </c:spPr>
          </c:dPt>
          <c:dPt>
            <c:idx val="5"/>
            <c:spPr>
              <a:solidFill>
                <a:srgbClr val="FF0053"/>
              </a:solidFill>
            </c:spPr>
          </c:dPt>
          <c:dLbls>
            <c:numFmt formatCode="0&quot; м&quot;" sourceLinked="0"/>
            <c:txPr>
              <a:bodyPr/>
              <a:lstStyle/>
              <a:p>
                <a:pPr>
                  <a:defRPr sz="12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кривая → двухпутный: человек</c:v>
                </c:pt>
                <c:pt idx="1">
                  <c:v>кривая, гермозатвор: человек</c:v>
                </c:pt>
                <c:pt idx="2">
                  <c:v>платформа: человек</c:v>
                </c:pt>
                <c:pt idx="3">
                  <c:v>прямая: куб 0,3 м</c:v>
                </c:pt>
                <c:pt idx="4">
                  <c:v>прямая: куб 1 м</c:v>
                </c:pt>
                <c:pt idx="5">
                  <c:v>прямая: человек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83</c:v>
                </c:pt>
                <c:pt idx="2">
                  <c:v>106</c:v>
                </c:pt>
                <c:pt idx="3">
                  <c:v>45</c:v>
                </c:pt>
                <c:pt idx="4">
                  <c:v>151</c:v>
                </c:pt>
                <c:pt idx="5">
                  <c:v>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&quot; м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tickLblSkip val="1"/>
        <c:noMultiLvlLbl val="0"/>
      </c:catAx>
      <c:valAx>
        <c:axId val="1173587135"/>
        <c:scaling>
          <c:orientation val="minMax"/>
          <c:max val="3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00.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Роли: капитан — ROS 2, Docker, интеграция и питч; визуализация, дашборд, презентация и видео; компьютерное зрение — модель пути и трекинг; данные, синтетика, метрики и тесты. Каждый отвечал за свою часть, код общий.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эта задача: реальных препятствий в данных почти нет. Мы описываем нормальный тоннель, а обученное мнение о треке работает на отрицательных примерах из поездок. Ложные остановки сократились, но остались. Как мы работали с чужими идеями: 8 идей из открытых решений других команд кейса 05 прогнали через полный гейт на всех записях: 5 отклонили, 3 включили 29.09. Своя проверка безопасности в тот же вечер выключила третье («обделка»): висящий от свода кабель получал STOP с 21 м вместо 74 м. Проверка на новых данных нужна. Станции и стрелки похожи на препятствия; нужны доверенная ось и подтверждение 0,5 с. Входы 120°/360° и два топика; крепление калибруется по рельсам.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— команда «Молоток», четыре инженерные роли. Наше решение называется ReSense. Описываем нормальный тоннель и ищем препятствия в габарите; возможны пропуски и ложные тревоги. Модель включает полотно, рельсы, ось и кривизну по стенам. Выходы GO / CAUTION / STOP / FAULT и расстояние; обученное мнение только задерживает сомнительный STOP в ограниченном бюджете. Дальность контроля — оценка, пропуски возможны и внутри неё.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Геометрический детектор на CPU, два лидара, ROS 2 Humble и Docker. Эксперты оценивали v1.0.0; 66/100 — внутренняя оценка агента от 13.10, не оценка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не нейросеть: реальных препятствий в данных почти нет, а на 100+ м у объекта единицы точек. Переносимость правил и обученного мнения на другой маршрут требует независимой проверки. Цели ТЗ: 100 / 200 / 300 м. При 80 км/ч и замедлении 1–1,3 м/с² тормозной путь 190–250 м без задержек. Сравнение с картой требует локализации. Качество обученного 3D-детектора на этих тоннелях не измерялось.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Pandar: 13759 реальных кадров; Falcon: 4443 кадра за 444 с, поезд стоит, человек идёт к нему. Новая синтетика: 1667 кадров. Все данные использовались в разработке. G3 зарегистрирован, не выполнен; скрытых данных организаторов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шагов на каждый кадр. На одном ядре 4 vCPU Xeon 2,1 ГГц детектор тратит 24–31 мс в среднем (p95 34–47 мс; замер 28.09, правила 29.09 добавляют ~2 мс); это с необязательными ядрами на C++, без них время детектора в 1,6–2,3 раза больше при том же выходе бит в бит. Калибровка крепления — сама, по рельсам; кривизна — по стенам, поэтому коридор осмыслен и там, где рельсов уже не видно. Запрет эго-движения: пока поезд едет быстрее 4 м/с, трек, расстояние до которого не сокращается вместе с ходом поезда, STOP не начинает. Габарит в RViz и веб-виде — 3D-бокс: ширина 2,1 м, от 0,12 до 3,0 м над головкой рельса; рисуется только там, где ось подтверждена геометрией, и не дальше доверенной дальности. Сглаживание — только для картинки, в решения не возвращается; при устаревшем входе бокс сереет и исчезает (docs/evidence/n1_n4_2026-10-18/HOWTO.md).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Источник шлюза: docs/evidence/f1a_completion_2026-10-20/gate-c-candidate.json, авторский прогон a77d884, 20.10, кэш 1 см; не новая независимая оценка J1. Поездка: 18 событий, 24 эпизода STOP, 102 кадра / 11271; пять пустых: 7 событий, 11 эпизодов, 37 кадров / 2287. Событие и эпизод — разные единицы. Реальная запись doubleT_obstacle: человек 61/61, предмет 126/126, STOP 193/201 с кадра 8. Изображение главного кадра архивное; текущая цепочка проверяется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Сценарий и результаты локального воспроизведения: docs/evidence/p2_defence_2026-10-21/README.md. Новый резерв docs/video/p2_defence_2026-10-21.mp4: две непрерывные записи отдельных запусков, Pandar 0,5x и Falcon 1x. Между ними склейка, это не доказательство переключения одного узла. STOP после команды: 5,04 с / 55,53 м и 3,79 с / 144 м. Холодный старт Falcon с falcon_ros, не число полного прогона. Снимок кривой на слайде — 18.10. Пауза и изменение скорости не отключают контроль свежести.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Источник шлюза: docs/evidence/f1a_completion_2026-10-20/gate-c-candidate.json, авторский прогон a77d884, 20.10, кэш 1 см; не новая независимая оценка J1. Поездка: 18 событий, 24 эпизода STOP, 102 кадра / 11271; пять пустых: 7 событий, 11 эпизодов, 37 кадров / 2287. Событие и эпизод — разные единицы. Falcon: P4 p4_review_final_bundle_2026-10-20 на f56ad5e и F1a completion (4443 строки без изменений). 4 ложных кадра на конструкции около 115 м. H′ убрал 8 кадров потолка, не пола. Первый STOP человека 124,8 м — полный прогон с автопоиском ориентации; профиль falcon_ros и холодный старт окна могут дать другое начало. Эти числа не подменяют замер короткого демо-бэга. Оси falcon_ros +X/+Y/+Z; человек виден в сырых точках с ~249 м; 300 м не достигнуты. Источник: docs/evidence/rejudge_2026-10-16/prebuild/summary_1.1.0.json. Измерено 16.10 на 1.1.0; это исторические числа, НЕ итоговая 1.2.0. Идеальные лучевые возвраты бокса на собственной оси детектора, реальные фоны. Прямая: человек 218,38 м, куб 1 м 151,1 м, куб 0,3 м 44,86 м; платформа 105,82; кривая с гермозатвором 82,77; кривая в двухпутный участок 51,8 м. Финальный J1 ожидается; не заявлять реальное обнаружение человека на 218 м. Дрожание бокса 0,04 м — p90 видимого края до 120 м, замер 18.10; это не точность оси. Скорость p95 111 мс — v1.0.0, узел, 4 vCPU, 13.10; финальный S5 ожидается.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Источник: docs/evidence/rejudge_2026-10-16/prebuild/summary_1.1.0.json. Измерено 16.10 на 1.1.0; это исторические числа, НЕ итоговая 1.2.0. Идеальные лучевые возвраты бокса на собственной оси детектора, реальные фоны. Прямая: человек 218,38 м, куб 1 м 151,1 м, куб 0,3 м 44,86 м; платформа 105,82; кривая с гермозатвором 82,77; кривая в двухпутный участок 51,8 м. Финальный J1 ожидается; не заявлять реальное обнаружение человека на 218 м.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Источник шлюза: docs/evidence/f1a_completion_2026-10-20/gate-c-candidate.json, авторский прогон a77d884, 20.10, кэш 1 см; не новая независимая оценка J1. Поездка: 18 событий, 24 эпизода STOP, 102 кадра / 11271; пять пустых: 7 событий, 11 эпизодов, 37 кадров / 2287. Событие и эпизод — разные единицы. Набор O: восемь объектов внутри дали STOP; это не покадровая полнота 100%. Тонкий висящий: 18/42 видимых кадров, первый STOP 35,1 м. Куб снаружи имеет отдельные ложные кадры — не говорить, что ложных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Falcon: P4 p4_review_final_bundle_2026-10-20 на f56ad5e и F1a completion (4443 строки без изменений). 4 ложных кадра на конструкции около 115 м. H′ убрал 8 кадров потолка, не пола. Первый STOP человека 124,8 м — полный прогон с автопоиском ориентации; профиль falcon_ros и холодный старт окна могут дать другое начало. Эти числа не подменяют замер короткого демо-бэга. Оси falcon_ros +X/+Y/+Z; человек виден в сырых точках с ~249 м; 300 м не достигнуты. Наклон −2,39° против −2,37° независимой подгонки — замер 19.10. Числа полного прогона не смешивать с коротким окном. Редакторская проверка источников не заменяет новое измерение.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Источник шлюза: docs/evidence/f1a_completion_2026-10-20/gate-c-candidate.json, авторский прогон a77d884, 20.10, кэш 1 см; не новая независимая оценка J1. Поездка: 18 событий, 24 эпизода STOP, 102 кадра / 11271; пять пустых: 7 событий, 11 эпизодов, 37 кадров / 2287. Событие и эпизод — разные единицы. H1: 82 →114/177, 63 пропуска остаются; wrong-pair случаи не приняты. K1/K2 выключены. Пыль организаторов: 13 кадров, 30 коробок, пылевых обнаружений нет; это редкие частицы, не плотная пыль. CAUTION на препятствии внутри габарита считается пропуском по ответу организаторов 19.10.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Редакция P2 21.10 для утверждения P1. 1.2.0 — кандидат; окончательный выбор образа, J1 и репетиции не закрыты. Исходник локальной подготовки 31154690. Все записи — данные разработки. Тесты: 2387/2387 в CI-подобной среде P4 на f56ad5e; 8 внешних-data тестов не запускались, 17 подтестов. Это результат конкретного источника, не новый прогон текущего checkout. Релиз/финальный J1/репетиции ожидаются. Торможение не подключено. Публичный веб по уточнению пользователя: https://resense.arbuz.lol/.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6.jpg"/><Relationship Id="rId4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7.jpg"/><Relationship Id="rId5" Type="http://schemas.openxmlformats.org/officeDocument/2006/relationships/image" Target="../media/image828.jpg"/><Relationship Id="rId6" Type="http://schemas.openxmlformats.org/officeDocument/2006/relationships/image" Target="../media/image829.jpg"/><Relationship Id="rId7" Type="http://schemas.openxmlformats.org/officeDocument/2006/relationships/image" Target="../media/image83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832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4" Type="http://schemas.openxmlformats.org/officeDocument/2006/relationships/image" Target="../media/image834.jpg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Молоток</a:t>
            </a:r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305186" y="535493"/>
            <a:ext cx="2455420" cy="671205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0" marL="268288"/>
            <a:r>
              <a:rPr lang="ru-RU" sz="1500"/>
              <a:t>Кейс 05 · решение ReSense</a:t>
            </a:r>
          </a:p>
          <a:p>
            <a:pPr indent="0" marL="268288"/>
            <a:r>
              <a:rPr lang="ru-RU" sz="1500"/>
              <a:t>Обнаружение посторонних объектов в тоннеле метро по данным 3D-лидара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19" name="Picture 18" descr="team.jpg"/>
          <p:cNvPicPr>
            <a:picLocks noChangeAspect="1"/>
          </p:cNvPicPr>
          <p:nvPr/>
        </p:nvPicPr>
        <p:blipFill>
          <a:blip r:embed="rId3"/>
          <a:srcRect t="29" b="29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50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>
                <a:solidFill>
                  <a:schemeClr val="tx1"/>
                </a:solidFill>
              </a:rPr>
              <a:t>Модель среды без карты и классов объектов. Возможны пропуски и ложные тревоги.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</a:t>
            </a:r>
            <a:r>
              <a:rPr lang="ru-RU">
                <a:solidFill>
                  <a:schemeClr val="tx1"/>
                </a:solidFill>
              </a:rPr>
              <a:t xml:space="preserve"> Кузнецов Пётр, системный аналитик, ROS 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Кол-во участников:</a:t>
            </a:r>
            <a:r>
              <a:rPr lang="ru-RU">
                <a:solidFill>
                  <a:schemeClr val="tx1"/>
                </a:solidFill>
              </a:rPr>
              <a:t xml:space="preserve"> 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Краткое описание:</a:t>
            </a:r>
          </a:p>
          <a:p>
            <a:pPr rtl="0" marL="289376" indent="-1446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ru-RU">
                <a:solidFill>
                  <a:schemeClr val="tx1"/>
                </a:solidFill>
              </a:rPr>
              <a:t>P1 — узел ROS 2, Docker и питч; P2 — интерфейс</a:t>
            </a:r>
          </a:p>
          <a:p>
            <a:pPr rtl="0" marL="289376" indent="-1446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ru-RU">
                <a:solidFill>
                  <a:schemeClr val="tx1"/>
                </a:solidFill>
              </a:rPr>
              <a:t>P3 — алгоритм, P4 — данные, метрики и тесты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/>
            <a:r>
              <a:rPr lang="ru-RU" sz="2400">
                <a:solidFill>
                  <a:schemeClr val="accent5"/>
                </a:solidFill>
                <a:latin typeface="+mn-lt"/>
              </a:rPr>
              <a:t>КОМАНДА «Молоток»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780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>
                <a:solidFill>
                  <a:schemeClr val="tx1"/>
                </a:solidFill>
              </a:rPr>
              <a:t>LiDAR → модель тоннеля → препятствие в габарите 2,1 × 3,0 м → решение и расстояние. ROS 2, Docker, CPU.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84698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019268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Разработчик ПО (Python / JS)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RViz, Foxglove, веб-дашборд, разметка, слайды, ролик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019267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P2 · фронтенд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15230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6324586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Инженер компьютерного зрения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модель пути, габарит, кластеры, трекинг, дальность, скорость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6324585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P3 · зрение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45762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8629905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Специалист по данным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датасет, синтетические препятствия, разметка, метрики, тесты, CI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8629904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P4 · данные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154166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6" name="Picture 65" descr="member-66.jpg"/>
          <p:cNvPicPr>
            <a:picLocks noChangeAspect="1"/>
          </p:cNvPicPr>
          <p:nvPr/>
        </p:nvPicPr>
        <p:blipFill>
          <a:blip r:embed="rId4"/>
          <a:srcRect t="138" b="138"/>
          <a:stretch>
            <a:fillRect/>
          </a:stretch>
        </p:blipFill>
        <p:spPr>
          <a:xfrm>
            <a:off x="1776987" y="1816054"/>
            <a:ext cx="1722566" cy="1552901"/>
          </a:xfrm>
          <a:prstGeom prst="rect">
            <a:avLst/>
          </a:prstGeom>
        </p:spPr>
      </p:pic>
      <p:pic>
        <p:nvPicPr>
          <p:cNvPr id="68" name="Picture 67" descr="member-68.jpg"/>
          <p:cNvPicPr>
            <a:picLocks noChangeAspect="1"/>
          </p:cNvPicPr>
          <p:nvPr/>
        </p:nvPicPr>
        <p:blipFill>
          <a:blip r:embed="rId5"/>
          <a:srcRect t="475" b="475"/>
          <a:stretch>
            <a:fillRect/>
          </a:stretch>
        </p:blipFill>
        <p:spPr>
          <a:xfrm>
            <a:off x="4082057" y="1826554"/>
            <a:ext cx="1722566" cy="1542401"/>
          </a:xfrm>
          <a:prstGeom prst="rect">
            <a:avLst/>
          </a:prstGeom>
        </p:spPr>
      </p:pic>
      <p:pic>
        <p:nvPicPr>
          <p:cNvPr id="70" name="Picture 69" descr="member-70.jpg"/>
          <p:cNvPicPr>
            <a:picLocks noChangeAspect="1"/>
          </p:cNvPicPr>
          <p:nvPr/>
        </p:nvPicPr>
        <p:blipFill>
          <a:blip r:embed="rId6"/>
          <a:srcRect l="81" r="81"/>
          <a:stretch>
            <a:fillRect/>
          </a:stretch>
        </p:blipFill>
        <p:spPr>
          <a:xfrm>
            <a:off x="6387374" y="1809238"/>
            <a:ext cx="1722567" cy="1559717"/>
          </a:xfrm>
          <a:prstGeom prst="rect">
            <a:avLst/>
          </a:prstGeom>
        </p:spPr>
      </p:pic>
      <p:pic>
        <p:nvPicPr>
          <p:cNvPr id="72" name="Picture 71" descr="member-72.jpg"/>
          <p:cNvPicPr>
            <a:picLocks noChangeAspect="1"/>
          </p:cNvPicPr>
          <p:nvPr/>
        </p:nvPicPr>
        <p:blipFill>
          <a:blip r:embed="rId7"/>
          <a:srcRect l="81" r="81"/>
          <a:stretch>
            <a:fillRect/>
          </a:stretch>
        </p:blipFill>
        <p:spPr>
          <a:xfrm>
            <a:off x="8715798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/>
            <a:r>
              <a:rPr lang="ru-RU">
                <a:latin typeface="+mn-lt"/>
              </a:rPr>
              <a:t>КОМАНДА «Молоток»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13950" y="457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Системный аналитик, ROS 2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требования, архитектура, узел ROS 2 и Docker, питч, сдача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1713949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P1 · капитан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13949" y="3418955"/>
            <a:ext cx="1785604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Кузнецов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Пётр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9267" y="3418955"/>
            <a:ext cx="1785356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Максимов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Тимофей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4585" y="3418955"/>
            <a:ext cx="1785356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Лихатин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Андрей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29904" y="3418955"/>
            <a:ext cx="1808461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Голубев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Павел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/>
            <a:r>
              <a:rPr lang="ru-RU">
                <a:latin typeface="+mn-lt"/>
              </a:rPr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Четыре роли: ROS 2 и интеграция, визуализация, компьютерное зрение, данные и тесты.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Идеи других команд: 8 проверили, 5 отклонили, 3 включили. Одно правило выключили после своей проверки: оно скрывало кабель. Изменения — через шлюз.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Реальных препятствий мало. Ищем отклонения от геометрии тоннеля; синтетические объекты проверяем на реальных фонах.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ROS 2 Humble · Python + C++ · Docker · только CPU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PointCloud2 → модель пути → габарит 2,1 × 3,0 м → кластеры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GO / CAUTION / STOP / FAULT, расстояние, /resense/status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Лидары: Pandar128 и Falcon Prime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Показываем 1.2.0 (не выпущен); эксперты оценивали v1.0.0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Применение:</a:t>
            </a:r>
            <a:r>
              <a:rPr lang="ru-RU" sz="1500">
                <a:solidFill>
                  <a:schemeClr val="tx1"/>
                </a:solidFill>
              </a:rPr>
              <a:t xml:space="preserve"> контроль габарита поезда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В работе:</a:t>
            </a:r>
            <a:r>
              <a:rPr lang="ru-RU" sz="1500">
                <a:solidFill>
                  <a:schemeClr val="tx1"/>
                </a:solidFill>
              </a:rPr>
              <a:t xml:space="preserve"> габарит на поворотах, пыль, 300 м, меньше ложных STOP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Внедрение:</a:t>
            </a:r>
            <a:r>
              <a:rPr lang="ru-RU" sz="1500">
                <a:solidFill>
                  <a:schemeClr val="tx1"/>
                </a:solidFill>
              </a:rPr>
              <a:t xml:space="preserve"> адаптер торможения — отдельный этап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00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FF0053"/>
                </a:solidFill>
              </a:rPr>
              <a:t>Проблема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Беспилотному поезду нужно видеть препятствия заранее. Реальных размеченных объектов почти нет.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FF0053"/>
                </a:solidFill>
              </a:rPr>
              <a:t>Альтернативы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3D-детектору нужны примеры препятствий; карте — локализация и повторный проезд.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FF0053"/>
                </a:solidFill>
              </a:rPr>
              <a:t>Наше решение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Описать нормальный тоннель по рельсам и стенам. Искать постороннее внутри габарита без карты. Проверять дальность по геометриям пути.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ПРОБЛЕМА И ПОДХОД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ru-RU" sz="1500" b="1">
                <a:solidFill>
                  <a:schemeClr val="tx1"/>
                </a:solidFill>
              </a:rPr>
              <a:t>13 759 реальных кадров Pandar128:</a:t>
            </a:r>
            <a:r>
              <a:rPr lang="ru-RU" sz="1500">
                <a:solidFill>
                  <a:schemeClr val="tx1"/>
                </a:solidFill>
              </a:rPr>
              <a:t xml:space="preserve"> 6 записей и 20-минутная поездка</a:t>
            </a:r>
          </a:p>
          <a:p>
            <a:pPr>
              <a:spcBef>
                <a:spcPts val="800"/>
              </a:spcBef>
            </a:pPr>
            <a:r>
              <a:rPr lang="ru-RU" sz="1500" b="1">
                <a:solidFill>
                  <a:schemeClr val="tx1"/>
                </a:solidFill>
              </a:rPr>
              <a:t>~210 м:</a:t>
            </a:r>
            <a:r>
              <a:rPr lang="ru-RU" sz="1500">
                <a:solidFill>
                  <a:schemeClr val="tx1"/>
                </a:solidFill>
              </a:rPr>
              <a:t xml:space="preserve"> дальше отражений Pandar в этих записях нет</a:t>
            </a:r>
          </a:p>
          <a:p>
            <a:pPr>
              <a:spcBef>
                <a:spcPts val="800"/>
              </a:spcBef>
            </a:pPr>
            <a:r>
              <a:rPr lang="ru-RU" sz="1500" b="1">
                <a:solidFill>
                  <a:schemeClr val="tx1"/>
                </a:solidFill>
              </a:rPr>
              <a:t>Falcon Prime, 16.10:</a:t>
            </a:r>
            <a:r>
              <a:rPr lang="ru-RU" sz="1500">
                <a:solidFill>
                  <a:schemeClr val="tx1"/>
                </a:solidFill>
              </a:rPr>
              <a:t xml:space="preserve"> 4 443 реальных кадра — человек идёт к стоящему поезду</a:t>
            </a:r>
          </a:p>
          <a:p>
            <a:pPr>
              <a:spcBef>
                <a:spcPts val="800"/>
              </a:spcBef>
            </a:pPr>
            <a:r>
              <a:rPr lang="ru-RU" sz="1500" b="1">
                <a:solidFill>
                  <a:schemeClr val="tx1"/>
                </a:solidFill>
              </a:rPr>
              <a:t>Синтетика 16.10:</a:t>
            </a:r>
            <a:r>
              <a:rPr lang="ru-RU" sz="1500">
                <a:solidFill>
                  <a:schemeClr val="tx1"/>
                </a:solidFill>
              </a:rPr>
              <a:t xml:space="preserve"> 3 записи, 1 667 кадров, разметка наша</a:t>
            </a:r>
          </a:p>
          <a:p>
            <a:pPr>
              <a:spcBef>
                <a:spcPts val="800"/>
              </a:spcBef>
            </a:pPr>
            <a:r>
              <a:rPr lang="ru-RU" sz="1500">
                <a:solidFill>
                  <a:schemeClr val="tx1"/>
                </a:solidFill>
              </a:rPr>
              <a:t>Реальные препятствия: человек и предмет на рельсе (Pandar), человек (Falcon)</a:t>
            </a:r>
          </a:p>
          <a:p>
            <a:pPr>
              <a:spcBef>
                <a:spcPts val="800"/>
              </a:spcBef>
            </a:pPr>
            <a:r>
              <a:rPr lang="ru-RU" sz="1500">
                <a:solidFill>
                  <a:schemeClr val="tx1"/>
                </a:solidFill>
              </a:rPr>
              <a:t>Все записи — данные разработки, не скрытая проверка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pPr/>
            <a:r>
              <a:rPr lang="ru-RU" sz="2000">
                <a:solidFill>
                  <a:schemeClr val="accent5"/>
                </a:solidFill>
              </a:rPr>
              <a:t>ДАННЫЕ И СЕНСОР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Автокалибровка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ориентация и наклон по рельсам и полотну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Габарит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коридор 2,1 × 3,0 м вдоль оси; 3D-бокс в RViz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Решение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подтверждение 0,5 с → GO / CAUTION / STOP / FAULT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Модель пути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полотно, рельсы, ось; кривизна по стенам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Кластеры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адаптивный радиус; проверка инфраструктуры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АЛГОРИТМ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/>
            <a:r>
              <a:rPr lang="ru-RU" sz="3600">
                <a:solidFill>
                  <a:schemeClr val="bg1"/>
                </a:solidFill>
              </a:rPr>
              <a:t>ГЛАВНЫЙ КАДР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495170" y="1474256"/>
            <a:ext cx="8377070" cy="47121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72240" y="1474256"/>
            <a:ext cx="2624589" cy="471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lang="ru-RU" sz="1400" b="1">
                <a:solidFill>
                  <a:srgbClr val="520978"/>
                </a:solidFill>
              </a:rPr>
              <a:t>Реальная запись организаторов</a:t>
            </a:r>
          </a:p>
          <a:p>
            <a:pPr>
              <a:spcBef>
                <a:spcPts val="600"/>
              </a:spcBef>
            </a:pPr>
            <a:r>
              <a:rPr lang="ru-RU" sz="2600" b="1">
                <a:solidFill>
                  <a:srgbClr val="FF0053"/>
                </a:solidFill>
              </a:rPr>
              <a:t>Увидел за 56 м</a:t>
            </a:r>
          </a:p>
          <a:p>
            <a:pPr/>
            <a:r>
              <a:rPr lang="ru-RU" sz="1300">
                <a:solidFill>
                  <a:srgbClr val="1C1D22"/>
                </a:solidFill>
              </a:rPr>
              <a:t>человек переходит путь — STOP</a:t>
            </a:r>
          </a:p>
          <a:p>
            <a:pPr>
              <a:spcBef>
                <a:spcPts val="800"/>
              </a:spcBef>
            </a:pPr>
            <a:r>
              <a:rPr lang="ru-RU" sz="1200">
                <a:solidFill>
                  <a:srgbClr val="1C1D22"/>
                </a:solidFill>
              </a:rPr>
              <a:t xml:space="preserve">Найден в </a:t>
            </a:r>
            <a:r>
              <a:rPr lang="ru-RU" sz="1200" b="1">
                <a:solidFill>
                  <a:srgbClr val="1C1D22"/>
                </a:solidFill>
              </a:rPr>
              <a:t>61 из 61</a:t>
            </a:r>
            <a:r>
              <a:rPr lang="ru-RU" sz="1200">
                <a:solidFill>
                  <a:srgbClr val="1C1D22"/>
                </a:solidFill>
              </a:rPr>
              <a:t xml:space="preserve"> кадра внутри габарита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>Тревога с первого кадра в габарите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>Ошибка дальности ≤ 0,23 м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 xml:space="preserve">Вся запись: STOP на </a:t>
            </a:r>
            <a:r>
              <a:rPr lang="ru-RU" sz="1200" b="1">
                <a:solidFill>
                  <a:srgbClr val="1C1D22"/>
                </a:solidFill>
              </a:rPr>
              <a:t>193 из 201</a:t>
            </a:r>
            <a:r>
              <a:rPr lang="ru-RU" sz="1200">
                <a:solidFill>
                  <a:srgbClr val="1C1D22"/>
                </a:solidFill>
              </a:rPr>
              <a:t xml:space="preserve"> кадра — с кадра 8 до конца без пропусков; предмет на рельсе — 126 из 126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rviz2 · 1.2.0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docker run resense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RViz в контейнере: габарит — 3D-бокс по поддержанной геометрии; на кривой короче.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tx1"/>
                </a:solidFill>
              </a:rPr>
              <a:t>RViz в контейнере: 3D-габарит по поддержанной геометрии; на кривой короче.</a:t>
            </a:r>
          </a:p>
          <a:p>
            <a:pPr marL="0" indent="0">
              <a:buNone/>
            </a:pPr>
            <a:r>
              <a:rPr lang="ru-RU" sz="1200">
                <a:solidFill>
                  <a:schemeClr val="tx1"/>
                </a:solidFill>
              </a:rPr>
              <a:t>Резерв 21.10: ROS/RViz 1.2.0, Pandar + Falcon, 1:46. Исходник 31154690; выбор P1 ожидается.</a:t>
            </a:r>
          </a:p>
        </p:txBody>
      </p:sp>
      <p:pic>
        <p:nvPicPr>
          <p:cNvPr id="5" name="Рисунок 4" descr="dashboard-cab-real.png"/>
          <p:cNvPicPr>
            <a:picLocks noGrp="1" noChangeAspect="1"/>
          </p:cNvPicPr>
          <p:nvPr>
            <p:ph type="pic" sz="quarter" idx="14"/>
          </p:nvPr>
        </p:nvPicPr>
        <p:blipFill>
          <a:blip r:embed="rId6"/>
          <a:srcRect t="87" b="87"/>
          <a:stretch>
            <a:fillRect/>
          </a:stretch>
        </p:blipFill>
        <p:spPr/>
      </p:pic>
      <p:pic>
        <p:nvPicPr>
          <p:cNvPr id="6" name="Рисунок 5" descr="docker_chain_rviz.jp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743" b="743"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ДЕМОНСТРАЦИЯ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0643" y="5640000"/>
            <a:ext cx="9770000" cy="6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600" b="1">
                <a:solidFill>
                  <a:srgbClr val="520978"/>
                </a:solidFill>
              </a:rPr>
              <a:t>run_demo.sh: Pandar → Falcon в одном узле · пауза · замедление</a:t>
            </a:r>
          </a:p>
          <a:p>
            <a:pPr algn="ctr">
              <a:spcBef>
                <a:spcPts val="400"/>
              </a:spcBef>
            </a:pPr>
            <a:r>
              <a:rPr lang="ru-RU" sz="1200">
                <a:solidFill>
                  <a:srgbClr val="520978"/>
                </a:solidFill>
              </a:rPr>
              <a:t>вручную: docker load → docker run → ros2 bag play → /resense/decision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lang="ru-RU" sz="3600" b="1">
                <a:solidFill>
                  <a:srgbClr val="FF0053"/>
                </a:solidFill>
              </a:rPr>
              <a:t>61 из 61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человек — STOP · Pandar, реальная запись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ru-RU" sz="3600" b="1">
                <a:solidFill>
                  <a:srgbClr val="FF0053"/>
                </a:solidFill>
              </a:rPr>
              <a:t>~125 м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человек — первый STOP · Falcon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ru-RU" sz="3600" b="1">
                <a:solidFill>
                  <a:srgbClr val="FF0053"/>
                </a:solidFill>
              </a:rPr>
              <a:t>≈ 0,04 м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дрожание рисуемого бокса · замер 18.10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200" b="1">
                <a:solidFill>
                  <a:schemeClr val="tx1"/>
                </a:solidFill>
              </a:rPr>
              <a:t>Дальность:</a:t>
            </a:r>
            <a:r>
              <a:rPr lang="ru-RU" sz="1200">
                <a:solidFill>
                  <a:schemeClr val="tx1"/>
                </a:solidFill>
              </a:rPr>
              <a:t xml:space="preserve"> 218 м прямая, 52–83 м кривые (синтетика, 1.1.0)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200" b="1">
                <a:solidFill>
                  <a:schemeClr val="tx1"/>
                </a:solidFill>
              </a:rPr>
              <a:t>Набор O:</a:t>
            </a:r>
            <a:r>
              <a:rPr lang="ru-RU" sz="1200">
                <a:solidFill>
                  <a:schemeClr val="tx1"/>
                </a:solidFill>
              </a:rPr>
              <a:t xml:space="preserve"> STOP у 8 из 8 объектов в габарите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200" b="1">
                <a:solidFill>
                  <a:schemeClr val="tx1"/>
                </a:solidFill>
              </a:rPr>
              <a:t>Поездка:</a:t>
            </a:r>
            <a:r>
              <a:rPr lang="ru-RU" sz="1200">
                <a:solidFill>
                  <a:schemeClr val="tx1"/>
                </a:solidFill>
              </a:rPr>
              <a:t xml:space="preserve"> 24 эпизода / 13 км; шлюз F1a, в выборке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200" b="1">
                <a:solidFill>
                  <a:schemeClr val="tx1"/>
                </a:solidFill>
              </a:rPr>
              <a:t>Скорость:</a:t>
            </a:r>
            <a:r>
              <a:rPr lang="ru-RU" sz="1200">
                <a:solidFill>
                  <a:schemeClr val="tx1"/>
                </a:solidFill>
              </a:rPr>
              <a:t xml:space="preserve"> 360° p95 111 мс, v1.0.0, 4 vCPU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200" b="1">
                <a:solidFill>
                  <a:schemeClr val="tx1"/>
                </a:solidFill>
              </a:rPr>
              <a:t>Запуск:</a:t>
            </a:r>
            <a:r>
              <a:rPr lang="ru-RU" sz="1200">
                <a:solidFill>
                  <a:schemeClr val="tx1"/>
                </a:solidFill>
              </a:rPr>
              <a:t xml:space="preserve"> пауза, скорость, смена бэгов в одном узле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523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accent5"/>
                </a:solidFill>
              </a:rPr>
              <a:t>Замер 16.10 · 1.1.0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лучевая синтетика, реальные фоны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600">
                <a:solidFill>
                  <a:schemeClr val="accent5"/>
                </a:solidFill>
              </a:rPr>
              <a:t>Кривые: 52–83 м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ось отстаёт от поворота — в работе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accent5"/>
                </a:solidFill>
              </a:rPr>
              <a:t>Три геометрии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прямая · кривая · двухпутный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accent5"/>
                </a:solidFill>
              </a:rPr>
              <a:t>Итоговый J1 ожидается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не замер финальной 1.2.0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ДАЛЬНОСТЬ ПО ФОРМЕ ПУТИ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75" y="5820000"/>
            <a:ext cx="58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ru-RU" sz="1000">
                <a:solidFill>
                  <a:srgbClr val="6B6B6B"/>
                </a:solidFill>
              </a:rPr>
              <a:t>Первый STOP, м; человек — бокс 1,75 м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482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 b="1">
                <a:solidFill>
                  <a:schemeClr val="tx1"/>
                </a:solidFill>
              </a:rPr>
              <a:t>Доска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доска — с 87 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 b="1">
                <a:solidFill>
                  <a:schemeClr val="tx1"/>
                </a:solidFill>
              </a:rPr>
              <a:t>Верх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56 из 124; непрерывно с 111 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 b="1">
                <a:solidFill>
                  <a:schemeClr val="tx1"/>
                </a:solidFill>
              </a:rPr>
              <a:t>Кубы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Кэш: 43–56 м; node-path: 48–56 м.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1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465516" cy="376138"/>
          </a:xfrm>
        </p:spPr>
        <p:txBody>
          <a:bodyPr/>
          <a:lstStyle/>
          <a:p>
            <a:pPr/>
            <a:r>
              <a:rPr lang="ru-RU"/>
              <a:t>ОБЪЕКТЫ ОРГАНИЗАТОРОВ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75" y="5566258"/>
            <a:ext cx="574992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000">
                <a:solidFill>
                  <a:srgbClr val="E6E1F5"/>
                </a:solidFill>
              </a:rPr>
              <a:t>Синтетика организаторов; шлюз F1a, 20.10. Сиреневый: неустойчиво.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62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Оси и калибровка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Профили falcon_ros / falcon_native; ориентация — с 1-го кадра; без неё CAUTION, не GO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Человек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Предупреждение со 139–156 м, STOP с ~125 м; от 100 до 20 м — STOP в каждом кадре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Ложные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4 кадра STOP за 444 с; CAUTION 69 % — конструкции у края габарита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300 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Человек виден с ~249 м (5–8 точек), полотно — до ~150 м; дальность — в работе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ВТОРОЙ ЛИДАР: FALCON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/>
            <a:r>
              <a:rPr lang="ru-RU" sz="2000">
                <a:solidFill>
                  <a:schemeClr val="accent5"/>
                </a:solidFill>
              </a:rPr>
              <a:t>СЛОЖНЫЕ СЛУЧАИ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chemeClr val="tx1"/>
                </a:solidFill>
              </a:rPr>
              <a:t>Столбы:</a:t>
            </a:r>
            <a:r>
              <a:rPr lang="ru-RU" sz="1300">
                <a:solidFill>
                  <a:schemeClr val="tx1"/>
                </a:solidFill>
              </a:rPr>
              <a:t xml:space="preserve"> H1 частично улучшен: 114/177; 63 пропуска на инъекции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chemeClr val="tx1"/>
                </a:solidFill>
              </a:rPr>
              <a:t>Кривые:</a:t>
            </a:r>
            <a:r>
              <a:rPr lang="ru-RU" sz="1300">
                <a:solidFill>
                  <a:schemeClr val="tx1"/>
                </a:solidFill>
              </a:rPr>
              <a:t xml:space="preserve"> K1/K2 выключены; синхронизация с поворотом не решена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chemeClr val="tx1"/>
                </a:solidFill>
              </a:rPr>
              <a:t>Ложные STOP:</a:t>
            </a:r>
            <a:r>
              <a:rPr lang="ru-RU" sz="1300">
                <a:solidFill>
                  <a:schemeClr val="tx1"/>
                </a:solidFill>
              </a:rPr>
              <a:t xml:space="preserve"> шлюз поездки 30 → 24 эпизода; итоговый J1 ожидается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chemeClr val="tx1"/>
                </a:solidFill>
              </a:rPr>
              <a:t>Пыль:</a:t>
            </a:r>
            <a:r>
              <a:rPr lang="ru-RU" sz="1300">
                <a:solidFill>
                  <a:schemeClr val="tx1"/>
                </a:solidFill>
              </a:rPr>
              <a:t xml:space="preserve"> редкие частицы организаторов проверены; плотная пыль не решена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chemeClr val="tx1"/>
                </a:solidFill>
              </a:rPr>
              <a:t>Мелкое:</a:t>
            </a:r>
            <a:r>
              <a:rPr lang="ru-RU" sz="1300">
                <a:solidFill>
                  <a:schemeClr val="tx1"/>
                </a:solidFill>
              </a:rPr>
              <a:t xml:space="preserve"> кубы 0,3 м — 43–56 м; висящий 5 см — 35 м (шлюз)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Что получилось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ROS 2 на CPU; два лидара; 3D-бокс; пауза и смена бэгов. P4: 2 387 тестов пройдено, 8 без данных не запускались (f56ad5e).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Что дальше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/>
            <a:r>
              <a:rPr lang="ru-RU" sz="1300">
                <a:solidFill>
                  <a:schemeClr val="tx1"/>
                </a:solidFill>
              </a:rPr>
              <a:t>В работе: габарит по повороту, пыль, дальность Falcon к 300 м, меньше ложных STOP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Внедрение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/>
            <a:r>
              <a:rPr lang="ru-RU" sz="1300">
                <a:solidFill>
                  <a:schemeClr val="tx1"/>
                </a:solidFill>
              </a:rPr>
              <a:t>docker load → run → run_demo.sh. Адаптер торможения требует разработки и проверки.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ИТОГИ И ПЛАНЫ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ReSense — ЛЦТ 2026, кейс 05: посторонние объекты в тоннеле метро по данным 3D-лидара</dc:title>
  <dc:creator>Команда «Молоток»</dc:creator>
  <cp:lastModifiedBy>Команда «Молоток»</cp:lastModifiedBy>
  <cp:revision>95</cp:revision>
  <dcterms:created xsi:type="dcterms:W3CDTF">2023-05-15T07:36:23Z</dcterms:created>
  <dcterms:modified xsi:type="dcterms:W3CDTF">2026-09-14T11:14:59Z</dcterms:modified>
  <dc:subject>Лидеры цифровой трансформации 2026</dc:subject>
  <cp:keywords>LiDAR, ROS 2, метро, габарит, обнаружение препятствий</cp:keywords>
</cp:coreProperties>
</file>